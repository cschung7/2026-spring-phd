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60" r:id="rId2"/>
  </p:sldMasterIdLst>
  <p:sldIdLst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A0704D-7D6C-DD6F-6344-96ACC23AA718}" v="900" dt="2023-02-19T12:43:43.1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8256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A3BD0AF-0B74-41CE-84D8-E8713AB4F043}"/>
              </a:ext>
            </a:extLst>
          </p:cNvPr>
          <p:cNvSpPr/>
          <p:nvPr userDrawn="1"/>
        </p:nvSpPr>
        <p:spPr>
          <a:xfrm>
            <a:off x="0" y="6516000"/>
            <a:ext cx="5221995" cy="324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76BD790-165E-45FB-91A1-CEACEF0556FF}"/>
              </a:ext>
            </a:extLst>
          </p:cNvPr>
          <p:cNvSpPr/>
          <p:nvPr/>
        </p:nvSpPr>
        <p:spPr>
          <a:xfrm>
            <a:off x="5198465" y="6516000"/>
            <a:ext cx="6993535" cy="324000"/>
          </a:xfrm>
          <a:prstGeom prst="rect">
            <a:avLst/>
          </a:prstGeom>
          <a:solidFill>
            <a:srgbClr val="9393FF"/>
          </a:solidFill>
          <a:ln>
            <a:solidFill>
              <a:srgbClr val="939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708A2D2-EAB4-4052-81B0-AE119D5EAC73}"/>
              </a:ext>
            </a:extLst>
          </p:cNvPr>
          <p:cNvSpPr/>
          <p:nvPr userDrawn="1"/>
        </p:nvSpPr>
        <p:spPr>
          <a:xfrm>
            <a:off x="0" y="15763"/>
            <a:ext cx="12192000" cy="772509"/>
          </a:xfrm>
          <a:prstGeom prst="rect">
            <a:avLst/>
          </a:prstGeom>
          <a:solidFill>
            <a:srgbClr val="475EC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E125F92-00A6-46F4-8663-73C0500B3142}"/>
              </a:ext>
            </a:extLst>
          </p:cNvPr>
          <p:cNvSpPr/>
          <p:nvPr/>
        </p:nvSpPr>
        <p:spPr>
          <a:xfrm>
            <a:off x="-4157" y="6516364"/>
            <a:ext cx="5220000" cy="3258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F3BD73-2524-4D7E-87A3-BE7B1017FB01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9272752" y="6499952"/>
            <a:ext cx="2743200" cy="335655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52A29AA6-0AC1-45C6-B853-8174BCEB2EF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1912C74-B4E7-4ADB-BB4F-CE1304040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93214"/>
          </a:xfrm>
        </p:spPr>
        <p:txBody>
          <a:bodyPr>
            <a:normAutofit/>
          </a:bodyPr>
          <a:lstStyle>
            <a:lvl1pPr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3F9565-23C3-48F5-9368-AB5E878DFE45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0" y="6533362"/>
            <a:ext cx="5210978" cy="324638"/>
          </a:xfrm>
        </p:spPr>
        <p:txBody>
          <a:bodyPr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altLang="ko-KR"/>
              <a:t>graph/network</a:t>
            </a:r>
          </a:p>
        </p:txBody>
      </p:sp>
    </p:spTree>
    <p:extLst>
      <p:ext uri="{BB962C8B-B14F-4D97-AF65-F5344CB8AC3E}">
        <p14:creationId xmlns:p14="http://schemas.microsoft.com/office/powerpoint/2010/main" val="3015545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C58E19-F8A0-4C0A-81F6-248625D7F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834C30-98B5-4452-A82B-0B2FF58C7C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603EF7-5440-4F2A-8D7F-3E4E08043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99089-B0CE-4132-8CD6-02C9FC9DD7AB}" type="datetime1">
              <a:rPr lang="ko-KR" altLang="en-US" smtClean="0"/>
              <a:t>2023-02-19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0C8EBC-5E87-466B-9B8E-99389EA74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graph/network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AC50F0-7860-42FA-8260-8916C48F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6323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85E98B-7082-4229-A64D-D642FC965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DE8D94-741B-45EB-A6A6-63CF08B1A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479590-65C2-4FFA-8585-6ECBA5DD9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20193-28D1-4100-8E79-EFE4A56E10F2}" type="datetime1">
              <a:rPr lang="ko-KR" altLang="en-US" smtClean="0"/>
              <a:t>2023-02-19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5F459C-7091-4105-B699-97B4B292B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graph/network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02E2A0-54E2-440C-87C6-56F5D1487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0841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3F8DA-1C57-4734-ADD5-322CBF97E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1AAC2A-26B7-4A90-81B5-1CCF26D3AA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8624E8-8EE5-4891-9605-0B4AAAE28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C37927-A9FE-4E52-971B-2A54861A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DC4D4-4899-48A3-A0FE-8E3F412F212C}" type="datetime1">
              <a:rPr lang="ko-KR" altLang="en-US" smtClean="0"/>
              <a:t>2023-02-19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8C5184-6001-43FB-966C-C20EDD518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graph/network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FA4167-8846-4159-8529-32E17DCD7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96701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B1D29-8E18-4C54-97BC-20D04238F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CF51BB-6C07-49DF-8E0D-3F7331B78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46714FA-3287-44CD-BE8C-2C47FB4DE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4FA30D6-8958-4D9B-9DB7-9F1CCCEF92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82671D3-3456-4A6C-905E-7F209E6B32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9D4F9AA-8B7F-4F48-9446-99C12ABDC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41987-A027-47C3-B5CE-305ACDEFD57E}" type="datetime1">
              <a:rPr lang="ko-KR" altLang="en-US" smtClean="0"/>
              <a:t>2023-02-19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B6B63A9-68F2-46DD-9DD0-F2200521E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graph/network</a:t>
            </a: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0D183AB-3B1F-4B9E-B060-9C5C14730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97562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8BBA69-3217-486A-95D8-DA190304E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0E3E132-2830-42FF-B380-88B5B48ED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EDC86-0A07-473A-A04F-A65DE95A02DC}" type="datetime1">
              <a:rPr lang="ko-KR" altLang="en-US" smtClean="0"/>
              <a:t>2023-02-19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66113C8-B74D-4758-ADA4-4C07F1259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graph/network</a:t>
            </a: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2546E9C-D8E1-4FB7-8D95-C3FE67FE4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35622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55BAD66-EE84-48C7-8039-60EBD148B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1101C-FC62-48E6-A87B-73A39E968A13}" type="datetime1">
              <a:rPr lang="ko-KR" altLang="en-US" smtClean="0"/>
              <a:t>2023-02-19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88F383B-6677-4365-A3F1-7AF8E47A3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graph/network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D6300F-B285-4552-AAF9-08B6A6659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6279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460C0F4-0CBA-4951-A7D5-527CACD94E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13E3AA-3694-42D7-9DE9-2335DB6146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CD14FC-ECF2-47C6-BF6B-790720291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6CB27-435D-494B-8F64-D4782AD8FE0D}" type="datetime1">
              <a:rPr lang="ko-KR" altLang="en-US" smtClean="0"/>
              <a:t>2023-02-19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24E3CD-5174-447C-8EEB-8DAB9A725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graph/network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7636F5-9B59-42A3-BFE0-5B6A55FD3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240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D68D40D-7012-4126-923B-8A1F3790E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72E7C1-C59A-4B9E-BA27-411AD5099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4BE040-7460-42EC-B9EC-7805EE48E2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3CA108-1B6F-4B41-A4BD-3008A5B22419}" type="datetime1">
              <a:rPr lang="ko-KR" altLang="en-US" smtClean="0"/>
              <a:t>2023-02-19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62F8EF-1394-4481-B424-4CAA361A9C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RNN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E077B2-5904-4E86-BC01-C10DC553CE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29AA6-0AC1-45C6-B853-8174BCEB2E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5548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CED83C-987E-4D95-B248-B4956D5B2551}"/>
              </a:ext>
            </a:extLst>
          </p:cNvPr>
          <p:cNvSpPr txBox="1"/>
          <p:nvPr/>
        </p:nvSpPr>
        <p:spPr>
          <a:xfrm>
            <a:off x="1861457" y="1836604"/>
            <a:ext cx="8446130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altLang="ko-KR" sz="6000" dirty="0">
                <a:solidFill>
                  <a:schemeClr val="bg1">
                    <a:lumMod val="95000"/>
                  </a:schemeClr>
                </a:solidFill>
                <a:ea typeface="맑은 고딕"/>
              </a:rPr>
              <a:t>GCN embedding</a:t>
            </a:r>
            <a:endParaRPr lang="en-US" altLang="ko-KR" dirty="0">
              <a:solidFill>
                <a:schemeClr val="bg1">
                  <a:lumMod val="95000"/>
                </a:schemeClr>
              </a:solidFill>
              <a:ea typeface="맑은 고딕" panose="020B0503020000020004" pitchFamily="34" charset="-127"/>
            </a:endParaRPr>
          </a:p>
          <a:p>
            <a:pPr algn="ctr">
              <a:defRPr/>
            </a:pPr>
            <a:r>
              <a:rPr lang="en-US" altLang="ko-KR" sz="4800" dirty="0">
                <a:solidFill>
                  <a:schemeClr val="bg1">
                    <a:lumMod val="95000"/>
                  </a:schemeClr>
                </a:solidFill>
                <a:ea typeface="맑은 고딕"/>
              </a:rPr>
              <a:t>(</a:t>
            </a:r>
            <a:r>
              <a:rPr lang="en-US" altLang="ko-KR" sz="4800" err="1">
                <a:solidFill>
                  <a:schemeClr val="bg1">
                    <a:lumMod val="95000"/>
                  </a:schemeClr>
                </a:solidFill>
                <a:ea typeface="맑은 고딕"/>
              </a:rPr>
              <a:t>pyG</a:t>
            </a:r>
            <a:r>
              <a:rPr lang="en-US" altLang="ko-KR" sz="4800" dirty="0">
                <a:solidFill>
                  <a:schemeClr val="bg1">
                    <a:lumMod val="95000"/>
                  </a:schemeClr>
                </a:solidFill>
                <a:ea typeface="맑은 고딕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2FA003-3971-4A73-9903-535792A705D8}"/>
              </a:ext>
            </a:extLst>
          </p:cNvPr>
          <p:cNvSpPr txBox="1"/>
          <p:nvPr/>
        </p:nvSpPr>
        <p:spPr>
          <a:xfrm>
            <a:off x="1576771" y="3748160"/>
            <a:ext cx="83625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40000"/>
                    <a:lumOff val="60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정재식 </a:t>
            </a:r>
            <a:endParaRPr kumimoji="0" lang="en-US" altLang="ko-KR" sz="2800" b="0" i="0" u="none" strike="noStrike" kern="1200" cap="none" spc="0" normalizeH="0" baseline="0" noProof="0">
              <a:ln>
                <a:noFill/>
              </a:ln>
              <a:solidFill>
                <a:srgbClr val="5B9BD5">
                  <a:lumMod val="40000"/>
                  <a:lumOff val="60000"/>
                </a:srgb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40000"/>
                    <a:lumOff val="60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서강대학교 경제학부</a:t>
            </a:r>
            <a:endParaRPr kumimoji="0" lang="en-US" altLang="ko-KR" sz="2800" b="0" i="0" u="none" strike="noStrike" kern="1200" cap="none" spc="0" normalizeH="0" baseline="0" noProof="0">
              <a:ln>
                <a:noFill/>
              </a:ln>
              <a:solidFill>
                <a:srgbClr val="5B9BD5">
                  <a:lumMod val="40000"/>
                  <a:lumOff val="60000"/>
                </a:srgb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40000"/>
                  <a:lumOff val="60000"/>
                </a:srgbClr>
              </a:solidFill>
              <a:effectLst/>
              <a:uLnTx/>
              <a:uFillTx/>
              <a:latin typeface="Courier New" panose="02070309020205020404" pitchFamily="49" charset="0"/>
              <a:ea typeface="맑은 고딕" panose="020B0503020000020004" pitchFamily="50" charset="-127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7E4F31-9C32-469E-93AA-BBB841E82C0C}"/>
              </a:ext>
            </a:extLst>
          </p:cNvPr>
          <p:cNvSpPr txBox="1"/>
          <p:nvPr/>
        </p:nvSpPr>
        <p:spPr>
          <a:xfrm>
            <a:off x="7797800" y="584200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1" u="none" strike="noStrike" kern="1200" cap="none" spc="0" normalizeH="0" baseline="0" noProof="0">
                <a:ln>
                  <a:noFill/>
                </a:ln>
                <a:solidFill>
                  <a:srgbClr val="FFC000">
                    <a:lumMod val="40000"/>
                    <a:lumOff val="60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preliminary: no circulation please</a:t>
            </a:r>
            <a:endParaRPr kumimoji="0" lang="en-US" sz="1800" b="0" i="1" u="none" strike="noStrike" kern="1200" cap="none" spc="0" normalizeH="0" baseline="0" noProof="0">
              <a:ln>
                <a:noFill/>
              </a:ln>
              <a:solidFill>
                <a:srgbClr val="FFC000">
                  <a:lumMod val="40000"/>
                  <a:lumOff val="60000"/>
                </a:srgbClr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7248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291B383-765E-4822-BAC6-2E906EC77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ea typeface="맑은 고딕"/>
              </a:rPr>
              <a:t>GCN embedding Karate club data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C47AF0-09A0-4978-A207-88327C8305E9}"/>
              </a:ext>
            </a:extLst>
          </p:cNvPr>
          <p:cNvSpPr txBox="1"/>
          <p:nvPr/>
        </p:nvSpPr>
        <p:spPr>
          <a:xfrm>
            <a:off x="931517" y="1335709"/>
            <a:ext cx="9588500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Lato"/>
                <a:ea typeface="맑은 고딕"/>
              </a:rPr>
              <a:t>How to import the data? </a:t>
            </a:r>
            <a:endParaRPr lang="en-US" altLang="ko-KR" sz="2800" b="0" i="0" dirty="0">
              <a:effectLst/>
              <a:latin typeface="Lato"/>
              <a:ea typeface="맑은 고딕"/>
              <a:cs typeface="Lato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Lato"/>
                <a:ea typeface="맑은 고딕"/>
                <a:cs typeface="Lato"/>
              </a:rPr>
              <a:t>Export </a:t>
            </a:r>
            <a:r>
              <a:rPr lang="en-US" altLang="ko-KR" sz="2400" dirty="0" err="1">
                <a:latin typeface="Lato"/>
                <a:ea typeface="맑은 고딕"/>
                <a:cs typeface="Lato"/>
              </a:rPr>
              <a:t>pyG</a:t>
            </a:r>
            <a:r>
              <a:rPr lang="en-US" altLang="ko-KR" sz="2400" dirty="0">
                <a:latin typeface="Lato"/>
                <a:ea typeface="맑은 고딕"/>
                <a:cs typeface="Lato"/>
              </a:rPr>
              <a:t> data to </a:t>
            </a:r>
            <a:r>
              <a:rPr lang="en-US" altLang="ko-KR" sz="2400" dirty="0" err="1">
                <a:latin typeface="Lato"/>
                <a:ea typeface="맑은 고딕"/>
                <a:cs typeface="Lato"/>
              </a:rPr>
              <a:t>networkX</a:t>
            </a:r>
            <a:r>
              <a:rPr lang="en-US" altLang="ko-KR" sz="2400" dirty="0">
                <a:latin typeface="Lato"/>
                <a:ea typeface="맑은 고딕"/>
                <a:cs typeface="Lato"/>
              </a:rPr>
              <a:t>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Lato"/>
                <a:ea typeface="맑은 고딕"/>
                <a:cs typeface="Lato"/>
              </a:rPr>
              <a:t>How to train and embed?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0070C0"/>
                </a:solidFill>
                <a:latin typeface="Lato"/>
                <a:ea typeface="맑은 고딕"/>
                <a:cs typeface="Lato"/>
              </a:rPr>
              <a:t>See </a:t>
            </a:r>
            <a:r>
              <a:rPr lang="en-US" sz="2000" dirty="0" err="1">
                <a:solidFill>
                  <a:srgbClr val="0070C0"/>
                </a:solidFill>
                <a:ea typeface="+mn-lt"/>
                <a:cs typeface="+mn-lt"/>
              </a:rPr>
              <a:t>pyG_tutorial_gcn_embedding_karateclub.ipynb</a:t>
            </a:r>
            <a:endParaRPr lang="en-US" altLang="ko-KR" sz="2000" dirty="0">
              <a:solidFill>
                <a:srgbClr val="0070C0"/>
              </a:solidFill>
              <a:latin typeface="Lato"/>
              <a:ea typeface="맑은 고딕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916373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291B383-765E-4822-BAC6-2E906EC77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ea typeface="맑은 고딕"/>
              </a:rPr>
              <a:t>Import karate club data 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C47AF0-09A0-4978-A207-88327C8305E9}"/>
              </a:ext>
            </a:extLst>
          </p:cNvPr>
          <p:cNvSpPr txBox="1"/>
          <p:nvPr/>
        </p:nvSpPr>
        <p:spPr>
          <a:xfrm>
            <a:off x="1019865" y="1269448"/>
            <a:ext cx="9588500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1"/>
            <a:r>
              <a:rPr lang="en-US" altLang="ko-KR" sz="2000" dirty="0">
                <a:solidFill>
                  <a:schemeClr val="accent4">
                    <a:lumMod val="50000"/>
                  </a:schemeClr>
                </a:solidFill>
                <a:latin typeface="Lucida Sans Typewriter"/>
                <a:ea typeface="맑은 고딕"/>
                <a:cs typeface="Lato"/>
              </a:rPr>
              <a:t>from </a:t>
            </a:r>
            <a:r>
              <a:rPr lang="en-US" altLang="ko-KR" sz="2000" dirty="0" err="1">
                <a:solidFill>
                  <a:schemeClr val="accent4">
                    <a:lumMod val="50000"/>
                  </a:schemeClr>
                </a:solidFill>
                <a:latin typeface="Lucida Sans Typewriter"/>
                <a:ea typeface="맑은 고딕"/>
                <a:cs typeface="Lato"/>
              </a:rPr>
              <a:t>torch_geometric.datasets</a:t>
            </a:r>
            <a:r>
              <a:rPr lang="en-US" altLang="ko-KR" sz="2000" dirty="0">
                <a:solidFill>
                  <a:schemeClr val="accent4">
                    <a:lumMod val="50000"/>
                  </a:schemeClr>
                </a:solidFill>
                <a:latin typeface="Lucida Sans Typewriter"/>
                <a:ea typeface="맑은 고딕"/>
                <a:cs typeface="Lato"/>
              </a:rPr>
              <a:t> import </a:t>
            </a:r>
            <a:r>
              <a:rPr lang="en-US" altLang="ko-KR" sz="2000" dirty="0" err="1">
                <a:solidFill>
                  <a:schemeClr val="accent4">
                    <a:lumMod val="50000"/>
                  </a:schemeClr>
                </a:solidFill>
                <a:latin typeface="Lucida Sans Typewriter"/>
                <a:ea typeface="맑은 고딕"/>
                <a:cs typeface="Lato"/>
              </a:rPr>
              <a:t>KarateClub</a:t>
            </a:r>
            <a:endParaRPr lang="en-US" altLang="ko-KR" sz="2000" dirty="0">
              <a:solidFill>
                <a:schemeClr val="accent4">
                  <a:lumMod val="50000"/>
                </a:schemeClr>
              </a:solidFill>
              <a:latin typeface="Lucida Sans Typewriter"/>
              <a:ea typeface="맑은 고딕"/>
              <a:cs typeface="Lato"/>
            </a:endParaRPr>
          </a:p>
          <a:p>
            <a:pPr lvl="1"/>
            <a:r>
              <a:rPr lang="en-US" altLang="ko-KR" sz="2000" dirty="0">
                <a:solidFill>
                  <a:schemeClr val="accent4">
                    <a:lumMod val="50000"/>
                  </a:schemeClr>
                </a:solidFill>
                <a:latin typeface="Lucida Sans Typewriter"/>
                <a:ea typeface="맑은 고딕"/>
                <a:cs typeface="Lato"/>
              </a:rPr>
              <a:t>dataset = </a:t>
            </a:r>
            <a:r>
              <a:rPr lang="en-US" altLang="ko-KR" sz="2000" dirty="0" err="1">
                <a:solidFill>
                  <a:schemeClr val="accent4">
                    <a:lumMod val="50000"/>
                  </a:schemeClr>
                </a:solidFill>
                <a:latin typeface="Lucida Sans Typewriter"/>
                <a:ea typeface="맑은 고딕"/>
                <a:cs typeface="Lato"/>
              </a:rPr>
              <a:t>KarateClub</a:t>
            </a:r>
            <a:r>
              <a:rPr lang="en-US" altLang="ko-KR" sz="2000" dirty="0">
                <a:solidFill>
                  <a:schemeClr val="accent4">
                    <a:lumMod val="50000"/>
                  </a:schemeClr>
                </a:solidFill>
                <a:latin typeface="Lucida Sans Typewriter"/>
                <a:ea typeface="맑은 고딕"/>
                <a:cs typeface="Lato"/>
              </a:rPr>
              <a:t> </a:t>
            </a:r>
          </a:p>
          <a:p>
            <a:pPr lvl="1"/>
            <a:r>
              <a:rPr lang="en-US" altLang="ko-KR" sz="2000" dirty="0">
                <a:solidFill>
                  <a:schemeClr val="accent4">
                    <a:lumMod val="50000"/>
                  </a:schemeClr>
                </a:solidFill>
                <a:latin typeface="Lucida Sans Typewriter"/>
                <a:ea typeface="맑은 고딕"/>
                <a:cs typeface="Lato"/>
              </a:rPr>
              <a:t>data= dataset[0]</a:t>
            </a:r>
          </a:p>
          <a:p>
            <a:pPr lvl="1"/>
            <a:endParaRPr lang="en-US" altLang="ko-KR" sz="2000" dirty="0">
              <a:solidFill>
                <a:schemeClr val="accent4">
                  <a:lumMod val="50000"/>
                </a:schemeClr>
              </a:solidFill>
              <a:latin typeface="Lucida Sans Typewriter"/>
              <a:ea typeface="맑은 고딕"/>
              <a:cs typeface="La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4AF905-C41A-F68C-0E5A-4C630BDCCC82}"/>
              </a:ext>
            </a:extLst>
          </p:cNvPr>
          <p:cNvSpPr txBox="1"/>
          <p:nvPr/>
        </p:nvSpPr>
        <p:spPr>
          <a:xfrm>
            <a:off x="1356140" y="2847008"/>
            <a:ext cx="914841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  <a:latin typeface="Lucida Sans Typewriter"/>
                <a:ea typeface="맑은 고딕"/>
                <a:cs typeface="Lato"/>
              </a:rPr>
              <a:t>G = </a:t>
            </a:r>
            <a:r>
              <a:rPr lang="en-US" sz="2000" dirty="0" err="1">
                <a:solidFill>
                  <a:srgbClr val="002060"/>
                </a:solidFill>
                <a:latin typeface="Lucida Sans Typewriter"/>
                <a:ea typeface="맑은 고딕"/>
                <a:cs typeface="Lato"/>
              </a:rPr>
              <a:t>nx.karate_club_graph</a:t>
            </a:r>
            <a:r>
              <a:rPr lang="en-US" sz="2000" dirty="0">
                <a:solidFill>
                  <a:srgbClr val="002060"/>
                </a:solidFill>
                <a:latin typeface="Lucida Sans Typewriter"/>
                <a:ea typeface="맑은 고딕"/>
                <a:cs typeface="Lato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403723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E6B2EE-B5CA-21AE-21F8-D1DF92491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B6ADAC3-6E38-0D48-AACA-005DF8E38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맑은 고딕"/>
              </a:rPr>
              <a:t>PyG</a:t>
            </a:r>
            <a:r>
              <a:rPr lang="en-US" dirty="0">
                <a:ea typeface="맑은 고딕"/>
              </a:rPr>
              <a:t> data to </a:t>
            </a:r>
            <a:r>
              <a:rPr lang="en-US" dirty="0" err="1">
                <a:ea typeface="맑은 고딕"/>
              </a:rPr>
              <a:t>nx</a:t>
            </a:r>
            <a:r>
              <a:rPr lang="en-US" dirty="0">
                <a:ea typeface="맑은 고딕"/>
              </a:rPr>
              <a:t> plotting 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7042FF-B5EE-D286-89F6-296282FDA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graph/network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F9218F73-3D5F-EEBB-3F0E-B97A3B7BB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51" y="1152576"/>
            <a:ext cx="7458765" cy="1757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219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E6B2EE-B5CA-21AE-21F8-D1DF92491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B6ADAC3-6E38-0D48-AACA-005DF8E38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맑은 고딕"/>
              </a:rPr>
              <a:t>PyG</a:t>
            </a:r>
            <a:r>
              <a:rPr lang="en-US" dirty="0">
                <a:ea typeface="맑은 고딕"/>
              </a:rPr>
              <a:t> data to </a:t>
            </a:r>
            <a:r>
              <a:rPr lang="en-US" dirty="0" err="1">
                <a:ea typeface="맑은 고딕"/>
              </a:rPr>
              <a:t>nx</a:t>
            </a:r>
            <a:r>
              <a:rPr lang="en-US" dirty="0">
                <a:ea typeface="맑은 고딕"/>
              </a:rPr>
              <a:t> plotting 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7042FF-B5EE-D286-89F6-296282FDA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graph/network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F9218F73-3D5F-EEBB-3F0E-B97A3B7BB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51" y="1152576"/>
            <a:ext cx="5537200" cy="1304816"/>
          </a:xfrm>
          <a:prstGeom prst="rect">
            <a:avLst/>
          </a:prstGeom>
        </p:spPr>
      </p:pic>
      <p:pic>
        <p:nvPicPr>
          <p:cNvPr id="5" name="Picture 6" descr="Diagram&#10;&#10;Description automatically generated">
            <a:extLst>
              <a:ext uri="{FF2B5EF4-FFF2-40B4-BE49-F238E27FC236}">
                <a16:creationId xmlns:a16="http://schemas.microsoft.com/office/drawing/2014/main" id="{90BB465C-452B-7BC5-8D7D-EA73FEABC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226" y="1113940"/>
            <a:ext cx="5559286" cy="421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636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E6B2EE-B5CA-21AE-21F8-D1DF92491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B6ADAC3-6E38-0D48-AACA-005DF8E38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맑은 고딕"/>
              </a:rPr>
              <a:t>Embedding the data 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7042FF-B5EE-D286-89F6-296282FDA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graph/network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F0DBF2-DC4A-3518-456A-8B6CEDA88F6C}"/>
              </a:ext>
            </a:extLst>
          </p:cNvPr>
          <p:cNvSpPr txBox="1"/>
          <p:nvPr/>
        </p:nvSpPr>
        <p:spPr>
          <a:xfrm>
            <a:off x="931517" y="1335709"/>
            <a:ext cx="9588500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Lato"/>
                <a:ea typeface="맑은 고딕"/>
              </a:rPr>
              <a:t>Import library</a:t>
            </a:r>
            <a:endParaRPr lang="en-US" altLang="ko-KR" sz="2800" b="0" i="0" dirty="0">
              <a:effectLst/>
              <a:latin typeface="Lato"/>
              <a:ea typeface="맑은 고딕"/>
              <a:cs typeface="Lato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Lato"/>
                <a:ea typeface="맑은 고딕"/>
                <a:cs typeface="Lato"/>
              </a:rPr>
              <a:t>Create GCN library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Lato"/>
                <a:ea typeface="맑은 고딕"/>
                <a:cs typeface="Lato"/>
              </a:rPr>
              <a:t>Instantiation of GCN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Lato"/>
                <a:ea typeface="맑은 고딕"/>
                <a:cs typeface="Lato"/>
              </a:rPr>
              <a:t>Train </a:t>
            </a:r>
            <a:endParaRPr lang="en-US" altLang="ko-KR" sz="2000" dirty="0">
              <a:solidFill>
                <a:srgbClr val="0070C0"/>
              </a:solidFill>
              <a:latin typeface="Lato"/>
              <a:ea typeface="맑은 고딕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904957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E6B2EE-B5CA-21AE-21F8-D1DF92491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B6ADAC3-6E38-0D48-AACA-005DF8E38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맑은 고딕"/>
              </a:rPr>
              <a:t>Embedding the data: Library  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7042FF-B5EE-D286-89F6-296282FDA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graph/network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F0DBF2-DC4A-3518-456A-8B6CEDA88F6C}"/>
              </a:ext>
            </a:extLst>
          </p:cNvPr>
          <p:cNvSpPr txBox="1"/>
          <p:nvPr/>
        </p:nvSpPr>
        <p:spPr>
          <a:xfrm>
            <a:off x="136387" y="1214231"/>
            <a:ext cx="5071718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Lato"/>
                <a:ea typeface="맑은 고딕"/>
              </a:rPr>
              <a:t>Import library</a:t>
            </a:r>
            <a:endParaRPr lang="en-US" altLang="ko-KR" sz="2000" b="0" i="0" dirty="0">
              <a:effectLst/>
              <a:latin typeface="Lato"/>
              <a:ea typeface="맑은 고딕"/>
              <a:cs typeface="Lato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  <a:latin typeface="Lato"/>
                <a:ea typeface="맑은 고딕"/>
                <a:cs typeface="Lato"/>
              </a:rPr>
              <a:t>Create GCN Module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  <a:latin typeface="Lato"/>
                <a:ea typeface="맑은 고딕"/>
                <a:cs typeface="Lato"/>
              </a:rPr>
              <a:t>Instantiation of GCN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  <a:latin typeface="Lato"/>
                <a:ea typeface="맑은 고딕"/>
                <a:cs typeface="Lato"/>
              </a:rPr>
              <a:t>Train </a:t>
            </a:r>
            <a:endParaRPr lang="en-US" altLang="ko-KR" sz="2000">
              <a:solidFill>
                <a:schemeClr val="bg1">
                  <a:lumMod val="85000"/>
                </a:schemeClr>
              </a:solidFill>
              <a:latin typeface="Lato"/>
              <a:ea typeface="맑은 고딕"/>
              <a:cs typeface="Lato"/>
            </a:endParaRPr>
          </a:p>
        </p:txBody>
      </p:sp>
      <p:pic>
        <p:nvPicPr>
          <p:cNvPr id="5" name="Picture 5" descr="Text&#10;&#10;Description automatically generated">
            <a:extLst>
              <a:ext uri="{FF2B5EF4-FFF2-40B4-BE49-F238E27FC236}">
                <a16:creationId xmlns:a16="http://schemas.microsoft.com/office/drawing/2014/main" id="{12D84BF3-2EB7-CF48-AE99-9CBF9FD1D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551" y="2972081"/>
            <a:ext cx="8034067" cy="235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744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E6B2EE-B5CA-21AE-21F8-D1DF92491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B6ADAC3-6E38-0D48-AACA-005DF8E38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맑은 고딕"/>
              </a:rPr>
              <a:t>Embedding the data: GCN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7042FF-B5EE-D286-89F6-296282FDA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graph/network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F0DBF2-DC4A-3518-456A-8B6CEDA88F6C}"/>
              </a:ext>
            </a:extLst>
          </p:cNvPr>
          <p:cNvSpPr txBox="1"/>
          <p:nvPr/>
        </p:nvSpPr>
        <p:spPr>
          <a:xfrm>
            <a:off x="136387" y="1214231"/>
            <a:ext cx="5071718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  <a:latin typeface="Lato"/>
                <a:ea typeface="맑은 고딕"/>
              </a:rPr>
              <a:t>Import library</a:t>
            </a:r>
            <a:endParaRPr lang="en-US" altLang="ko-KR" sz="2000" b="0" i="0" dirty="0">
              <a:solidFill>
                <a:schemeClr val="bg1">
                  <a:lumMod val="85000"/>
                </a:schemeClr>
              </a:solidFill>
              <a:effectLst/>
              <a:latin typeface="Lato"/>
              <a:ea typeface="맑은 고딕"/>
              <a:cs typeface="Lato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Lato"/>
                <a:ea typeface="맑은 고딕"/>
                <a:cs typeface="Lato"/>
              </a:rPr>
              <a:t>Create GCN Module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  <a:latin typeface="Lato"/>
                <a:ea typeface="맑은 고딕"/>
                <a:cs typeface="Lato"/>
              </a:rPr>
              <a:t>Instantiation of GCN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  <a:latin typeface="Lato"/>
                <a:ea typeface="맑은 고딕"/>
                <a:cs typeface="Lato"/>
              </a:rPr>
              <a:t>Train </a:t>
            </a:r>
            <a:endParaRPr lang="en-US" altLang="ko-KR" sz="2000">
              <a:solidFill>
                <a:schemeClr val="bg1">
                  <a:lumMod val="85000"/>
                </a:schemeClr>
              </a:solidFill>
              <a:latin typeface="Lato"/>
              <a:ea typeface="맑은 고딕"/>
              <a:cs typeface="Lato"/>
            </a:endParaRPr>
          </a:p>
        </p:txBody>
      </p:sp>
      <p:pic>
        <p:nvPicPr>
          <p:cNvPr id="6" name="Picture 6" descr="Text&#10;&#10;Description automatically generated">
            <a:extLst>
              <a:ext uri="{FF2B5EF4-FFF2-40B4-BE49-F238E27FC236}">
                <a16:creationId xmlns:a16="http://schemas.microsoft.com/office/drawing/2014/main" id="{9753B087-9AB8-D3AA-95DC-4A271E2AF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004" y="1213220"/>
            <a:ext cx="7613373" cy="5039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842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E6B2EE-B5CA-21AE-21F8-D1DF92491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B6ADAC3-6E38-0D48-AACA-005DF8E38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맑은 고딕"/>
              </a:rPr>
              <a:t>Embedding the data: GCN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7042FF-B5EE-D286-89F6-296282FDA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graph/network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F0DBF2-DC4A-3518-456A-8B6CEDA88F6C}"/>
              </a:ext>
            </a:extLst>
          </p:cNvPr>
          <p:cNvSpPr txBox="1"/>
          <p:nvPr/>
        </p:nvSpPr>
        <p:spPr>
          <a:xfrm>
            <a:off x="136387" y="1214231"/>
            <a:ext cx="5071718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  <a:latin typeface="Lato"/>
                <a:ea typeface="맑은 고딕"/>
              </a:rPr>
              <a:t>Import library</a:t>
            </a:r>
            <a:endParaRPr lang="en-US" altLang="ko-KR" sz="2000" b="0" i="0" dirty="0">
              <a:solidFill>
                <a:schemeClr val="bg1">
                  <a:lumMod val="85000"/>
                </a:schemeClr>
              </a:solidFill>
              <a:effectLst/>
              <a:latin typeface="Lato"/>
              <a:ea typeface="맑은 고딕"/>
              <a:cs typeface="Lato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bg2"/>
                </a:solidFill>
                <a:latin typeface="Lato"/>
                <a:ea typeface="맑은 고딕"/>
                <a:cs typeface="Lato"/>
              </a:rPr>
              <a:t>Create GCN Module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Lato"/>
                <a:ea typeface="맑은 고딕"/>
                <a:cs typeface="Lato"/>
              </a:rPr>
              <a:t>Instantiation of GCN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  <a:latin typeface="Lato"/>
                <a:ea typeface="맑은 고딕"/>
                <a:cs typeface="Lato"/>
              </a:rPr>
              <a:t>Train </a:t>
            </a:r>
            <a:endParaRPr lang="en-US" altLang="ko-KR" sz="2000">
              <a:solidFill>
                <a:schemeClr val="bg1">
                  <a:lumMod val="85000"/>
                </a:schemeClr>
              </a:solidFill>
              <a:latin typeface="Lato"/>
              <a:ea typeface="맑은 고딕"/>
              <a:cs typeface="Lato"/>
            </a:endParaRPr>
          </a:p>
        </p:txBody>
      </p:sp>
      <p:pic>
        <p:nvPicPr>
          <p:cNvPr id="5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182E42A6-7501-772D-9DB7-49E138F69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4922" y="1369323"/>
            <a:ext cx="7867373" cy="352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340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E6B2EE-B5CA-21AE-21F8-D1DF92491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pPr/>
              <a:t>10</a:t>
            </a:fld>
            <a:endParaRPr lang="ko-KR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B6ADAC3-6E38-0D48-AACA-005DF8E38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맑은 고딕"/>
              </a:rPr>
              <a:t>Embedding the data: GCN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7042FF-B5EE-D286-89F6-296282FDA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graph/network</a:t>
            </a:r>
          </a:p>
        </p:txBody>
      </p:sp>
      <p:pic>
        <p:nvPicPr>
          <p:cNvPr id="6" name="Picture 6" descr="Chart, scatter chart&#10;&#10;Description automatically generated">
            <a:extLst>
              <a:ext uri="{FF2B5EF4-FFF2-40B4-BE49-F238E27FC236}">
                <a16:creationId xmlns:a16="http://schemas.microsoft.com/office/drawing/2014/main" id="{196D7445-2032-9414-97B8-2D98F6E87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313" y="1714292"/>
            <a:ext cx="5128590" cy="3694456"/>
          </a:xfrm>
          <a:prstGeom prst="rect">
            <a:avLst/>
          </a:prstGeom>
        </p:spPr>
      </p:pic>
      <p:pic>
        <p:nvPicPr>
          <p:cNvPr id="7" name="Picture 8" descr="Diagram&#10;&#10;Description automatically generated">
            <a:extLst>
              <a:ext uri="{FF2B5EF4-FFF2-40B4-BE49-F238E27FC236}">
                <a16:creationId xmlns:a16="http://schemas.microsoft.com/office/drawing/2014/main" id="{8FC4EDF7-DB0E-23BF-E279-7E79F7451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52" y="1710288"/>
            <a:ext cx="4708939" cy="35589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6EEDDD-E18D-A11E-D063-92D2F67FE96B}"/>
              </a:ext>
            </a:extLst>
          </p:cNvPr>
          <p:cNvSpPr txBox="1"/>
          <p:nvPr/>
        </p:nvSpPr>
        <p:spPr>
          <a:xfrm>
            <a:off x="2349500" y="5538305"/>
            <a:ext cx="2816086" cy="461665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accent4">
                    <a:lumMod val="50000"/>
                  </a:schemeClr>
                </a:solidFill>
                <a:ea typeface="맑은 고딕"/>
              </a:rPr>
              <a:t>Original graph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DE466C-50DA-C4A1-8C07-BA9BC88AE44E}"/>
              </a:ext>
            </a:extLst>
          </p:cNvPr>
          <p:cNvSpPr txBox="1"/>
          <p:nvPr/>
        </p:nvSpPr>
        <p:spPr>
          <a:xfrm>
            <a:off x="7506804" y="5538305"/>
            <a:ext cx="2816086" cy="461665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  <a:ea typeface="맑은 고딕"/>
              </a:rPr>
              <a:t>Graph embedding</a:t>
            </a:r>
          </a:p>
        </p:txBody>
      </p:sp>
    </p:spTree>
    <p:extLst>
      <p:ext uri="{BB962C8B-B14F-4D97-AF65-F5344CB8AC3E}">
        <p14:creationId xmlns:p14="http://schemas.microsoft.com/office/powerpoint/2010/main" val="964917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E6B2EE-B5CA-21AE-21F8-D1DF92491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pPr/>
              <a:t>11</a:t>
            </a:fld>
            <a:endParaRPr lang="ko-KR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B6ADAC3-6E38-0D48-AACA-005DF8E38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맑은 고딕"/>
              </a:rPr>
              <a:t>Embedding the data: GCN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7042FF-B5EE-D286-89F6-296282FDA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graph/network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6EEDDD-E18D-A11E-D063-92D2F67FE96B}"/>
              </a:ext>
            </a:extLst>
          </p:cNvPr>
          <p:cNvSpPr txBox="1"/>
          <p:nvPr/>
        </p:nvSpPr>
        <p:spPr>
          <a:xfrm>
            <a:off x="1933863" y="5043500"/>
            <a:ext cx="7991747" cy="830997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  <a:ea typeface="맑은 고딕"/>
              </a:rPr>
              <a:t>As epoch gets bigger, the graph gives linearly separable embedding </a:t>
            </a:r>
            <a:endParaRPr lang="en-US" dirty="0">
              <a:solidFill>
                <a:srgbClr val="00B0F0"/>
              </a:solidFill>
            </a:endParaRPr>
          </a:p>
        </p:txBody>
      </p:sp>
      <p:pic>
        <p:nvPicPr>
          <p:cNvPr id="8" name="Picture 9" descr="Chart, scatter chart&#10;&#10;Description automatically generated">
            <a:extLst>
              <a:ext uri="{FF2B5EF4-FFF2-40B4-BE49-F238E27FC236}">
                <a16:creationId xmlns:a16="http://schemas.microsoft.com/office/drawing/2014/main" id="{0E0D8BD1-5E04-4704-18B2-7C02F77B3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21" y="1129960"/>
            <a:ext cx="3445823" cy="3519403"/>
          </a:xfrm>
          <a:prstGeom prst="rect">
            <a:avLst/>
          </a:prstGeom>
        </p:spPr>
      </p:pic>
      <p:pic>
        <p:nvPicPr>
          <p:cNvPr id="10" name="Picture 11" descr="Chart, scatter chart&#10;&#10;Description automatically generated">
            <a:extLst>
              <a:ext uri="{FF2B5EF4-FFF2-40B4-BE49-F238E27FC236}">
                <a16:creationId xmlns:a16="http://schemas.microsoft.com/office/drawing/2014/main" id="{C95522AD-1BFA-6104-9823-58121B787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9179" y="1127832"/>
            <a:ext cx="3327070" cy="3375218"/>
          </a:xfrm>
          <a:prstGeom prst="rect">
            <a:avLst/>
          </a:prstGeom>
        </p:spPr>
      </p:pic>
      <p:pic>
        <p:nvPicPr>
          <p:cNvPr id="12" name="Picture 12" descr="Chart, scatter chart&#10;&#10;Description automatically generated">
            <a:extLst>
              <a:ext uri="{FF2B5EF4-FFF2-40B4-BE49-F238E27FC236}">
                <a16:creationId xmlns:a16="http://schemas.microsoft.com/office/drawing/2014/main" id="{D238EB9A-3B51-64EE-DF4A-F1751CD10A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3023" y="1131512"/>
            <a:ext cx="3277589" cy="336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089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office theme</vt:lpstr>
      <vt:lpstr>1_Office 테마</vt:lpstr>
      <vt:lpstr>PowerPoint Presentation</vt:lpstr>
      <vt:lpstr>GCN embedding Karate club data</vt:lpstr>
      <vt:lpstr>Import karate club data </vt:lpstr>
      <vt:lpstr>PyG data to nx plotting </vt:lpstr>
      <vt:lpstr>PyG data to nx plotting </vt:lpstr>
      <vt:lpstr>Embedding the data </vt:lpstr>
      <vt:lpstr>Embedding the data: Library  </vt:lpstr>
      <vt:lpstr>Embedding the data: GCN</vt:lpstr>
      <vt:lpstr>Embedding the data: GCN</vt:lpstr>
      <vt:lpstr>Embedding the data: GCN</vt:lpstr>
      <vt:lpstr>Embedding the data: GCN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145</cp:revision>
  <dcterms:created xsi:type="dcterms:W3CDTF">2023-02-19T12:06:46Z</dcterms:created>
  <dcterms:modified xsi:type="dcterms:W3CDTF">2023-02-19T12:44:54Z</dcterms:modified>
</cp:coreProperties>
</file>