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  <p:sldMasterId id="2147483661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</p:sldIdLst>
  <p:sldSz cy="6858000" cx="12192000"/>
  <p:notesSz cx="7559675" cy="10691800"/>
  <p:embeddedFontLst>
    <p:embeddedFont>
      <p:font typeface="Roboto Slab"/>
      <p:regular r:id="rId119"/>
      <p:bold r:id="rId120"/>
    </p:embeddedFont>
    <p:embeddedFont>
      <p:font typeface="Arial Narrow"/>
      <p:regular r:id="rId121"/>
      <p:bold r:id="rId122"/>
      <p:italic r:id="rId123"/>
      <p:boldItalic r:id="rId124"/>
    </p:embeddedFont>
    <p:embeddedFont>
      <p:font typeface="Cambria Math"/>
      <p:regular r:id="rId125"/>
    </p:embeddedFont>
    <p:embeddedFont>
      <p:font typeface="Open Sans"/>
      <p:regular r:id="rId126"/>
      <p:bold r:id="rId127"/>
      <p:italic r:id="rId128"/>
      <p:boldItalic r:id="rId1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0" roundtripDataSignature="AMtx7mhX4q7JUCiz1T5iDlUMsOTzE96x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29" Type="http://schemas.openxmlformats.org/officeDocument/2006/relationships/font" Target="fonts/OpenSans-boldItalic.fntdata"/><Relationship Id="rId128" Type="http://schemas.openxmlformats.org/officeDocument/2006/relationships/font" Target="fonts/OpenSans-italic.fntdata"/><Relationship Id="rId127" Type="http://schemas.openxmlformats.org/officeDocument/2006/relationships/font" Target="fonts/OpenSans-bold.fntdata"/><Relationship Id="rId126" Type="http://schemas.openxmlformats.org/officeDocument/2006/relationships/font" Target="fonts/OpenSans-regular.fntdata"/><Relationship Id="rId26" Type="http://schemas.openxmlformats.org/officeDocument/2006/relationships/slide" Target="slides/slide20.xml"/><Relationship Id="rId121" Type="http://schemas.openxmlformats.org/officeDocument/2006/relationships/font" Target="fonts/ArialNarrow-regular.fntdata"/><Relationship Id="rId25" Type="http://schemas.openxmlformats.org/officeDocument/2006/relationships/slide" Target="slides/slide19.xml"/><Relationship Id="rId120" Type="http://schemas.openxmlformats.org/officeDocument/2006/relationships/font" Target="fonts/RobotoSlab-bold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CambriaMath-regular.fntdata"/><Relationship Id="rId29" Type="http://schemas.openxmlformats.org/officeDocument/2006/relationships/slide" Target="slides/slide23.xml"/><Relationship Id="rId124" Type="http://schemas.openxmlformats.org/officeDocument/2006/relationships/font" Target="fonts/ArialNarrow-boldItalic.fntdata"/><Relationship Id="rId123" Type="http://schemas.openxmlformats.org/officeDocument/2006/relationships/font" Target="fonts/ArialNarrow-italic.fntdata"/><Relationship Id="rId122" Type="http://schemas.openxmlformats.org/officeDocument/2006/relationships/font" Target="fonts/ArialNarrow-bold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font" Target="fonts/RobotoSlab-regular.fntdata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3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130" Type="http://customschemas.google.com/relationships/presentationmetadata" Target="metadata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1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2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2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2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2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2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2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2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2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2" name="Google Shape;432;p3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3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3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3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3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3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4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p4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1" name="Google Shape;571;p4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4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3" name="Google Shape;603;p4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4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4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4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4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2" name="Google Shape;632;p4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8" name="Shape 6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Google Shape;639;p4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4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p5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5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5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5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5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5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3" name="Google Shape;743;p5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3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5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5" name="Google Shape;865;p5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p5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4" name="Google Shape;904;p5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2" name="Google Shape;912;p5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9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5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1" name="Google Shape;921;p5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5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5" name="Google Shape;935;p5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6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3" name="Google Shape;943;p6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9" name="Shape 9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Google Shape;960;p6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1" name="Google Shape;961;p6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6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0" name="Google Shape;970;p6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2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p6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4" name="Google Shape;984;p6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9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6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1" name="Google Shape;991;p6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2" name="Shape 10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" name="Google Shape;1003;p6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4" name="Google Shape;1004;p6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6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2" name="Google Shape;1012;p6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6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0" name="Google Shape;1020;p6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6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3" name="Google Shape;1033;p6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p6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6" name="Google Shape;1046;p6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7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4" name="Google Shape;1054;p7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p7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9" name="Google Shape;1059;p7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7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7" name="Google Shape;1067;p7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7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6" name="Google Shape;1076;p7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7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4" name="Google Shape;1084;p7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p7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2" name="Google Shape;1092;p7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p7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0" name="Google Shape;1100;p7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p7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8" name="Google Shape;1108;p7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4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7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6" name="Google Shape;1116;p7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4" name="Google Shape;1124;p7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0" name="Shape 1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" name="Google Shape;1131;p8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2" name="Google Shape;1132;p8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8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3" name="Google Shape;1143;p8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2" name="Google Shape;1152;p8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8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0" name="Google Shape;1160;p8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8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p8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0" name="Google Shape;1170;p8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8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p8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0" name="Google Shape;1180;p8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7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8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9" name="Google Shape;1189;p8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6" name="Shape 1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7" name="Google Shape;1197;p8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8" name="Google Shape;1198;p8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7" name="Google Shape;1207;p8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4" name="Shape 1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Google Shape;1215;p8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6" name="Google Shape;1216;p8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9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2" name="Google Shape;1232;p9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9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0" name="Google Shape;1240;p9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7" name="Shape 1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8" name="Google Shape;1258;p9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9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p9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9" name="Google Shape;1279;p9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9" name="Shape 1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" name="Google Shape;1300;p9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1" name="Google Shape;1301;p9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9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6" name="Google Shape;1316;p9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9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9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1" name="Google Shape;1331;p9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9" name="Shape 1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0" name="Google Shape;1340;p9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1" name="Google Shape;1341;p9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0" name="Google Shape;1350;p9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9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9" name="Google Shape;1359;p9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0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8" name="Google Shape;1368;p10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5" name="Shape 1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6" name="Google Shape;1376;p10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7" name="Google Shape;1377;p10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p10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6" name="Google Shape;1386;p10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03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1" name="Google Shape;1401;p103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8" name="Shape 1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9" name="Google Shape;1409;p104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0" name="Google Shape;1410;p104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05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9" name="Google Shape;1419;p105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7" name="Shape 1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8" name="Google Shape;1428;p106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9" name="Google Shape;1429;p106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6" name="Shape 1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7" name="Google Shape;1447;p107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8" name="Google Shape;1448;p107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108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1" name="Google Shape;1461;p108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09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9" name="Google Shape;1469;p109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p110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7" name="Google Shape;1477;p110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3" name="Shape 1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" name="Google Shape;1484;p111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5" name="Google Shape;1485;p111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1" name="Shape 1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2" name="Google Shape;1492;p112:notes"/>
          <p:cNvSpPr txBox="1"/>
          <p:nvPr>
            <p:ph idx="1" type="body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112:notes"/>
          <p:cNvSpPr/>
          <p:nvPr>
            <p:ph idx="2" type="sldImg"/>
          </p:nvPr>
        </p:nvSpPr>
        <p:spPr>
          <a:xfrm>
            <a:off x="1260175" y="801875"/>
            <a:ext cx="5040025" cy="40094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" name="Google Shape;11;p119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2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20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2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21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21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2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23"/>
          <p:cNvSpPr txBox="1"/>
          <p:nvPr>
            <p:ph idx="1" type="subTitle"/>
          </p:nvPr>
        </p:nvSpPr>
        <p:spPr>
          <a:xfrm>
            <a:off x="0" y="0"/>
            <a:ext cx="12191760" cy="36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24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24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24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24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25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25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25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25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6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2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26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2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27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27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28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2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28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28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29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29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29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9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9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9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0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31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3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32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32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3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4"/>
          <p:cNvSpPr txBox="1"/>
          <p:nvPr>
            <p:ph idx="1" type="subTitle"/>
          </p:nvPr>
        </p:nvSpPr>
        <p:spPr>
          <a:xfrm>
            <a:off x="0" y="0"/>
            <a:ext cx="12191760" cy="36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5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5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5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35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6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6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36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6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7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13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37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8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38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138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9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9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9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139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4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40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40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0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140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0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0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4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141"/>
          <p:cNvSpPr txBox="1"/>
          <p:nvPr>
            <p:ph idx="1"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2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42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3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43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9" name="Google Shape;129;p143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44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5"/>
          <p:cNvSpPr txBox="1"/>
          <p:nvPr>
            <p:ph idx="1" type="subTitle"/>
          </p:nvPr>
        </p:nvSpPr>
        <p:spPr>
          <a:xfrm>
            <a:off x="0" y="0"/>
            <a:ext cx="12191760" cy="3675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6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46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146"/>
          <p:cNvSpPr txBox="1"/>
          <p:nvPr>
            <p:ph idx="2"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46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147"/>
          <p:cNvSpPr txBox="1"/>
          <p:nvPr>
            <p:ph idx="1"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47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47"/>
          <p:cNvSpPr txBox="1"/>
          <p:nvPr>
            <p:ph idx="3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48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148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48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48"/>
          <p:cNvSpPr txBox="1"/>
          <p:nvPr>
            <p:ph idx="3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49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49"/>
          <p:cNvSpPr txBox="1"/>
          <p:nvPr>
            <p:ph idx="1"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49"/>
          <p:cNvSpPr txBox="1"/>
          <p:nvPr>
            <p:ph idx="2"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50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150"/>
          <p:cNvSpPr txBox="1"/>
          <p:nvPr>
            <p:ph idx="1"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6" name="Google Shape;156;p150"/>
          <p:cNvSpPr txBox="1"/>
          <p:nvPr>
            <p:ph idx="2"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150"/>
          <p:cNvSpPr txBox="1"/>
          <p:nvPr>
            <p:ph idx="3"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150"/>
          <p:cNvSpPr txBox="1"/>
          <p:nvPr>
            <p:ph idx="4"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1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1" name="Google Shape;161;p151"/>
          <p:cNvSpPr txBox="1"/>
          <p:nvPr>
            <p:ph idx="1"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151"/>
          <p:cNvSpPr txBox="1"/>
          <p:nvPr>
            <p:ph idx="2"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3" name="Google Shape;163;p151"/>
          <p:cNvSpPr txBox="1"/>
          <p:nvPr>
            <p:ph idx="3"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151"/>
          <p:cNvSpPr txBox="1"/>
          <p:nvPr>
            <p:ph idx="4"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151"/>
          <p:cNvSpPr txBox="1"/>
          <p:nvPr>
            <p:ph idx="5"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151"/>
          <p:cNvSpPr txBox="1"/>
          <p:nvPr>
            <p:ph idx="6"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3" Type="http://schemas.openxmlformats.org/officeDocument/2006/relationships/theme" Target="../theme/theme4.xml"/><Relationship Id="rId1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9.xml"/><Relationship Id="rId8" Type="http://schemas.openxmlformats.org/officeDocument/2006/relationships/slideLayout" Target="../slideLayouts/slideLayout20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3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p113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5"/>
          <p:cNvSpPr txBox="1"/>
          <p:nvPr>
            <p:ph idx="10"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8" name="Google Shape;58;p115"/>
          <p:cNvSpPr txBox="1"/>
          <p:nvPr>
            <p:ph idx="11"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9" name="Google Shape;59;p115"/>
          <p:cNvSpPr txBox="1"/>
          <p:nvPr>
            <p:ph idx="12"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0" name="Google Shape;60;p115"/>
          <p:cNvSpPr txBox="1"/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1" name="Google Shape;61;p115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17"/>
          <p:cNvSpPr/>
          <p:nvPr/>
        </p:nvSpPr>
        <p:spPr>
          <a:xfrm>
            <a:off x="0" y="6516000"/>
            <a:ext cx="5221800" cy="323640"/>
          </a:xfrm>
          <a:prstGeom prst="rect">
            <a:avLst/>
          </a:prstGeom>
          <a:solidFill>
            <a:srgbClr val="323F4F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17"/>
          <p:cNvSpPr/>
          <p:nvPr/>
        </p:nvSpPr>
        <p:spPr>
          <a:xfrm>
            <a:off x="5198400" y="6516000"/>
            <a:ext cx="6993000" cy="323640"/>
          </a:xfrm>
          <a:prstGeom prst="rect">
            <a:avLst/>
          </a:prstGeom>
          <a:solidFill>
            <a:srgbClr val="9393FF"/>
          </a:solidFill>
          <a:ln cap="flat" cmpd="sng" w="25400">
            <a:solidFill>
              <a:srgbClr val="9393F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117"/>
          <p:cNvSpPr/>
          <p:nvPr/>
        </p:nvSpPr>
        <p:spPr>
          <a:xfrm>
            <a:off x="0" y="15840"/>
            <a:ext cx="12191760" cy="772200"/>
          </a:xfrm>
          <a:prstGeom prst="rect">
            <a:avLst/>
          </a:prstGeom>
          <a:solidFill>
            <a:srgbClr val="475EC1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117"/>
          <p:cNvSpPr/>
          <p:nvPr/>
        </p:nvSpPr>
        <p:spPr>
          <a:xfrm>
            <a:off x="-4320" y="6516360"/>
            <a:ext cx="5219640" cy="325440"/>
          </a:xfrm>
          <a:prstGeom prst="rect">
            <a:avLst/>
          </a:prstGeom>
          <a:noFill/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17"/>
          <p:cNvSpPr txBox="1"/>
          <p:nvPr>
            <p:ph idx="12" type="sldNum"/>
          </p:nvPr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>
              <a:solidFill>
                <a:srgbClr val="000000"/>
              </a:solidFill>
            </a:endParaRPr>
          </a:p>
        </p:txBody>
      </p:sp>
      <p:sp>
        <p:nvSpPr>
          <p:cNvPr id="116" name="Google Shape;116;p117"/>
          <p:cNvSpPr txBox="1"/>
          <p:nvPr>
            <p:ph type="title"/>
          </p:nvPr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7" name="Google Shape;117;p117"/>
          <p:cNvSpPr txBox="1"/>
          <p:nvPr>
            <p:ph idx="11" type="ftr"/>
          </p:nvPr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18" name="Google Shape;118;p117"/>
          <p:cNvSpPr txBox="1"/>
          <p:nvPr>
            <p:ph idx="1"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7.png"/><Relationship Id="rId4" Type="http://schemas.openxmlformats.org/officeDocument/2006/relationships/image" Target="../media/image1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png"/><Relationship Id="rId4" Type="http://schemas.openxmlformats.org/officeDocument/2006/relationships/image" Target="../media/image2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5.png"/><Relationship Id="rId4" Type="http://schemas.openxmlformats.org/officeDocument/2006/relationships/image" Target="../media/image55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0.png"/><Relationship Id="rId4" Type="http://schemas.openxmlformats.org/officeDocument/2006/relationships/image" Target="../media/image3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9.png"/><Relationship Id="rId4" Type="http://schemas.openxmlformats.org/officeDocument/2006/relationships/image" Target="../media/image49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37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32.png"/><Relationship Id="rId4" Type="http://schemas.openxmlformats.org/officeDocument/2006/relationships/image" Target="../media/image4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8.png"/><Relationship Id="rId4" Type="http://schemas.openxmlformats.org/officeDocument/2006/relationships/image" Target="../media/image6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1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4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1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46.png"/><Relationship Id="rId4" Type="http://schemas.openxmlformats.org/officeDocument/2006/relationships/hyperlink" Target="https://arxiv.org/pdf/1407.5107.pdf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56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5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74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58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59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67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69.png"/><Relationship Id="rId4" Type="http://schemas.openxmlformats.org/officeDocument/2006/relationships/image" Target="../media/image57.png"/><Relationship Id="rId5" Type="http://schemas.openxmlformats.org/officeDocument/2006/relationships/image" Target="../media/image66.png"/><Relationship Id="rId6" Type="http://schemas.openxmlformats.org/officeDocument/2006/relationships/image" Target="../media/image7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69.png"/><Relationship Id="rId4" Type="http://schemas.openxmlformats.org/officeDocument/2006/relationships/image" Target="../media/image72.png"/><Relationship Id="rId5" Type="http://schemas.openxmlformats.org/officeDocument/2006/relationships/image" Target="../media/image6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62.png"/><Relationship Id="rId4" Type="http://schemas.openxmlformats.org/officeDocument/2006/relationships/image" Target="../media/image70.png"/><Relationship Id="rId5" Type="http://schemas.openxmlformats.org/officeDocument/2006/relationships/image" Target="../media/image64.png"/><Relationship Id="rId6" Type="http://schemas.openxmlformats.org/officeDocument/2006/relationships/image" Target="../media/image87.png"/><Relationship Id="rId7" Type="http://schemas.openxmlformats.org/officeDocument/2006/relationships/image" Target="../media/image76.png"/><Relationship Id="rId8" Type="http://schemas.openxmlformats.org/officeDocument/2006/relationships/image" Target="../media/image93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2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75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3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73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80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85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82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84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89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79.png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81.png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77.png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90.png"/><Relationship Id="rId4" Type="http://schemas.openxmlformats.org/officeDocument/2006/relationships/image" Target="../media/image88.png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91.png"/><Relationship Id="rId4" Type="http://schemas.openxmlformats.org/officeDocument/2006/relationships/hyperlink" Target="https://arxiv.org/pdf/1111.4503.pdf" TargetMode="Externa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3.xml"/><Relationship Id="rId3" Type="http://schemas.openxmlformats.org/officeDocument/2006/relationships/hyperlink" Target="https://dl.acm.org/doi/pdf/10.1145/1401890.1401898" TargetMode="External"/><Relationship Id="rId4" Type="http://schemas.openxmlformats.org/officeDocument/2006/relationships/hyperlink" Target="https://dl.acm.org/doi/pdf/10.1145/1401890.1401898" TargetMode="External"/><Relationship Id="rId5" Type="http://schemas.openxmlformats.org/officeDocument/2006/relationships/image" Target="../media/image117.pn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4.xml"/><Relationship Id="rId3" Type="http://schemas.openxmlformats.org/officeDocument/2006/relationships/hyperlink" Target="https://dl.acm.org/doi/pdf/10.1145/1401890.1401898" TargetMode="External"/><Relationship Id="rId4" Type="http://schemas.openxmlformats.org/officeDocument/2006/relationships/hyperlink" Target="https://dl.acm.org/doi/pdf/10.1145/1401890.1401898" TargetMode="External"/><Relationship Id="rId5" Type="http://schemas.openxmlformats.org/officeDocument/2006/relationships/image" Target="../media/image117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5.xml"/><Relationship Id="rId3" Type="http://schemas.openxmlformats.org/officeDocument/2006/relationships/hyperlink" Target="https://www.pnas.org/content/99/9/5825" TargetMode="External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05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92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03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94.pn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94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94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94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94.png"/><Relationship Id="rId4" Type="http://schemas.openxmlformats.org/officeDocument/2006/relationships/image" Target="../media/image109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99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7.xml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8.xml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0.xml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115.png"/><Relationship Id="rId4" Type="http://schemas.openxmlformats.org/officeDocument/2006/relationships/image" Target="../media/image104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106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102.png"/><Relationship Id="rId4" Type="http://schemas.openxmlformats.org/officeDocument/2006/relationships/image" Target="../media/image110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107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116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108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114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0.xml"/><Relationship Id="rId3" Type="http://schemas.openxmlformats.org/officeDocument/2006/relationships/image" Target="../media/image113.png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1.xml"/><Relationship Id="rId3" Type="http://schemas.openxmlformats.org/officeDocument/2006/relationships/image" Target="../media/image113.png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1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F5597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"/>
          <p:cNvSpPr/>
          <p:nvPr/>
        </p:nvSpPr>
        <p:spPr>
          <a:xfrm>
            <a:off x="2512800" y="2577600"/>
            <a:ext cx="8362080" cy="283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Graph: 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networkx and graph stats.</a:t>
            </a:r>
            <a:endParaRPr b="0" i="0" sz="6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2"/>
          <p:cNvSpPr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"/>
          <p:cNvSpPr/>
          <p:nvPr/>
        </p:nvSpPr>
        <p:spPr>
          <a:xfrm>
            <a:off x="660240" y="141156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"/>
          <p:cNvSpPr/>
          <p:nvPr/>
        </p:nvSpPr>
        <p:spPr>
          <a:xfrm>
            <a:off x="4047120" y="0"/>
            <a:ext cx="8584920" cy="68576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"/>
          <p:cNvSpPr/>
          <p:nvPr/>
        </p:nvSpPr>
        <p:spPr>
          <a:xfrm>
            <a:off x="4758120" y="2182680"/>
            <a:ext cx="6942240" cy="22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 generator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add/remove/naming nodes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add/remove/naming edges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E699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nodes labeling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"/>
          <p:cNvSpPr/>
          <p:nvPr/>
        </p:nvSpPr>
        <p:spPr>
          <a:xfrm>
            <a:off x="812880" y="156384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"/>
          <p:cNvSpPr/>
          <p:nvPr/>
        </p:nvSpPr>
        <p:spPr>
          <a:xfrm>
            <a:off x="965160" y="171612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0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"/>
          <p:cNvSpPr/>
          <p:nvPr/>
        </p:nvSpPr>
        <p:spPr>
          <a:xfrm>
            <a:off x="698400" y="1759320"/>
            <a:ext cx="3271680" cy="130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Networkx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Basics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"/>
          <p:cNvSpPr/>
          <p:nvPr/>
        </p:nvSpPr>
        <p:spPr>
          <a:xfrm>
            <a:off x="1441800" y="2391480"/>
            <a:ext cx="9908640" cy="145044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NetworkX basics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6" name="Google Shape;196;p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Installation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" name="Google Shape;198;p4"/>
          <p:cNvSpPr/>
          <p:nvPr/>
        </p:nvSpPr>
        <p:spPr>
          <a:xfrm>
            <a:off x="1461960" y="1574280"/>
            <a:ext cx="8306640" cy="22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conda install –c anaconda networkx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pip install networkx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import networkx as nx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networkx can do?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05" name="Google Shape;205;p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5"/>
          <p:cNvSpPr/>
          <p:nvPr/>
        </p:nvSpPr>
        <p:spPr>
          <a:xfrm>
            <a:off x="888480" y="1403640"/>
            <a:ext cx="11044800" cy="3929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 to do instantiate graph?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2.</a:t>
            </a:r>
            <a:r>
              <a:rPr b="0" i="0" lang="en-US" sz="2800" u="none" cap="none" strike="noStrike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how to add node(s)?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how to add edge(s)?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how to generate path graph? 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how to apply different colors and width for each node add edge?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 how to add features to node? 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E06C75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analysis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Instantiation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888480" y="1403640"/>
            <a:ext cx="10908000" cy="2649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 = nx.Graph()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print(G.nodes())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print(G.edges())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print(type(G.nodes())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Add a node or nodes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1" name="Google Shape;221;p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888480" y="1403640"/>
            <a:ext cx="10908000" cy="137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G.add_node(‘a’)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G.add_nodes_from([‘b’, ‘c’, ‘d’])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Add a edge or edges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8"/>
          <p:cNvSpPr/>
          <p:nvPr/>
        </p:nvSpPr>
        <p:spPr>
          <a:xfrm>
            <a:off x="888480" y="1403640"/>
            <a:ext cx="10908000" cy="137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G.add_edge(‘a’, ‘b’)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G.add_edges_from([(‘b’, ‘c’), (‘a’, ‘c’)])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removing node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8" name="Google Shape;23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9920" y="1726920"/>
            <a:ext cx="4403520" cy="1139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" name="Google Shape;244;p1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plotting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45" name="Google Shape;245;p1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888480" y="2054880"/>
            <a:ext cx="4674960" cy="137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plt.figure(figsize=(5,5))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pos = nx.spring_layout(G)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C0C0C0"/>
                </a:highlight>
                <a:latin typeface="Arial Narrow"/>
                <a:ea typeface="Arial Narrow"/>
                <a:cs typeface="Arial Narrow"/>
                <a:sym typeface="Arial Narrow"/>
              </a:rPr>
              <a:t>nx.draw(G, pos=pos)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7" name="Google Shape;24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3720" y="1222200"/>
            <a:ext cx="5781240" cy="3638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plotting (labeling, color, font size)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54" name="Google Shape;254;p1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5" name="Google Shape;25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9560" y="1624680"/>
            <a:ext cx="7717680" cy="4496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8480" y="1248120"/>
            <a:ext cx="5141520" cy="21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2" name="Google Shape;262;p1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relabeling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3" name="Google Shape;263;p1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64" name="Google Shape;26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86800" y="1611720"/>
            <a:ext cx="8217720" cy="4893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9440" y="1229760"/>
            <a:ext cx="6163200" cy="115668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12"/>
          <p:cNvSpPr/>
          <p:nvPr/>
        </p:nvSpPr>
        <p:spPr>
          <a:xfrm>
            <a:off x="7111080" y="2745000"/>
            <a:ext cx="1017000" cy="1055880"/>
          </a:xfrm>
          <a:prstGeom prst="ellipse">
            <a:avLst/>
          </a:prstGeom>
          <a:noFill/>
          <a:ln cap="flat" cmpd="sng" w="38150">
            <a:solidFill>
              <a:srgbClr val="C0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1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re-coloring/ re-sizing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73" name="Google Shape;273;p1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74" name="Google Shape;27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81680" y="1953000"/>
            <a:ext cx="5914800" cy="36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960" y="889200"/>
            <a:ext cx="6914160" cy="3744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1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44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color:size:type: nx.draw_networkx_(nodes, labels, edges)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2" name="Google Shape;282;p1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3" name="Google Shape;28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31240" y="1114560"/>
            <a:ext cx="4871520" cy="415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560" y="821160"/>
            <a:ext cx="6336000" cy="56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5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0" name="Google Shape;290;p15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1" name="Google Shape;291;p15"/>
          <p:cNvSpPr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5"/>
          <p:cNvSpPr/>
          <p:nvPr/>
        </p:nvSpPr>
        <p:spPr>
          <a:xfrm>
            <a:off x="660240" y="141156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4047120" y="0"/>
            <a:ext cx="8584920" cy="68576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4758120" y="1473120"/>
            <a:ext cx="6942240" cy="3589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Complete graph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bipartitie graph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Erdos-Renyi graph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GNR (growing network with redirection)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Barabashi-Albert graph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Petersen graph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Karate club (Zachary)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5"/>
          <p:cNvSpPr/>
          <p:nvPr/>
        </p:nvSpPr>
        <p:spPr>
          <a:xfrm>
            <a:off x="812880" y="156384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5"/>
          <p:cNvSpPr/>
          <p:nvPr/>
        </p:nvSpPr>
        <p:spPr>
          <a:xfrm>
            <a:off x="965160" y="171612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7" name="Google Shape;29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0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15"/>
          <p:cNvSpPr/>
          <p:nvPr/>
        </p:nvSpPr>
        <p:spPr>
          <a:xfrm>
            <a:off x="524880" y="1506960"/>
            <a:ext cx="327168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Useful graph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4" name="Google Shape;304;p1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Complet graph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6" name="Google Shape;30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4160" y="1376280"/>
            <a:ext cx="5866920" cy="373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80" y="1451880"/>
            <a:ext cx="4971240" cy="184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p1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Complet Bipartitie graph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4" name="Google Shape;314;p1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15" name="Google Shape;3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4160" y="1376280"/>
            <a:ext cx="5866920" cy="373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480" y="1451880"/>
            <a:ext cx="4971240" cy="184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2" name="Google Shape;322;p1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Complet Bipartitie graph(2)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3" name="Google Shape;323;p1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24" name="Google Shape;32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60" y="1527480"/>
            <a:ext cx="5733720" cy="3771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9560" y="1369800"/>
            <a:ext cx="5686200" cy="222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1" name="Google Shape;331;p1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Erdos-Renyi Graph (a random graph)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32" name="Google Shape;332;p1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33" name="Google Shape;33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17960" y="3456360"/>
            <a:ext cx="6894360" cy="2818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8000" y="1023840"/>
            <a:ext cx="5514480" cy="252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0" name="Google Shape;340;p2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Growning network with redirection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1" name="Google Shape;341;p2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42" name="Google Shape;342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65640" y="3261600"/>
            <a:ext cx="4676400" cy="3123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60840"/>
            <a:ext cx="7024680" cy="23241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2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9" name="Google Shape;349;p2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GNR: 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0" name="Google Shape;350;p2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720720" y="1440720"/>
            <a:ext cx="11471040" cy="22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45684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simulated a </a:t>
            </a:r>
            <a:r>
              <a:rPr b="0" i="1" lang="en-US" sz="2800" u="none" cap="none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preferential attachment process</a:t>
            </a: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; distribute among 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a number of individuals o objects according to they already have.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it generates a long-tail distribution 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1" marL="9144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example: the number of citations, 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        the wealth of extremely wealthy individuals,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7" name="Google Shape;357;p2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Barabasi-Albert model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8" name="Google Shape;358;p2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635400" y="1596240"/>
            <a:ext cx="10972440" cy="25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 or scale-free model says that network develops following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two steps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1. </a:t>
            </a:r>
            <a:r>
              <a:rPr b="0" i="0" lang="en-US" sz="2500" u="none" cap="none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growth</a:t>
            </a:r>
            <a:r>
              <a:rPr b="0" i="0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add a new node with </a:t>
            </a:r>
            <a:r>
              <a:rPr b="0" i="1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</a:t>
            </a:r>
            <a:r>
              <a:rPr b="0" i="0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links 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2. </a:t>
            </a:r>
            <a:r>
              <a:rPr b="0" i="0" lang="en-US" sz="2500" u="none" cap="none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preferential attachement</a:t>
            </a:r>
            <a:r>
              <a:rPr b="0" i="0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new node to node </a:t>
            </a:r>
            <a:r>
              <a:rPr b="0" i="1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</a:t>
            </a:r>
            <a:r>
              <a:rPr b="0" i="0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depends on it’s 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    degree </a:t>
            </a:r>
            <a:endParaRPr b="0" i="0" sz="25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5" name="Google Shape;365;p2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Barabasi-Albert model 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p2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67" name="Google Shape;36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14440" y="1287360"/>
            <a:ext cx="4943160" cy="4562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4520" y="937800"/>
            <a:ext cx="6517800" cy="2161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74" name="Google Shape;374;p2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Petersen Graph (math)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75" name="Google Shape;375;p2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76" name="Google Shape;376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90840" y="2736000"/>
            <a:ext cx="4943160" cy="315252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280" y="1290600"/>
            <a:ext cx="10855080" cy="125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Karate Club graph: </a:t>
            </a:r>
            <a:r>
              <a:rPr b="0" i="0" lang="en-US" sz="3200" u="none" cap="none" strike="noStrike">
                <a:solidFill>
                  <a:srgbClr val="AFABAB"/>
                </a:solidFill>
                <a:latin typeface="Malgun Gothic"/>
                <a:ea typeface="Malgun Gothic"/>
                <a:cs typeface="Malgun Gothic"/>
                <a:sym typeface="Malgun Gothic"/>
              </a:rPr>
              <a:t>an example of community structure</a:t>
            </a:r>
            <a:endParaRPr b="0" i="0" sz="3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85" name="Google Shape;385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73920" y="2795760"/>
            <a:ext cx="4914720" cy="3095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9440" y="1240560"/>
            <a:ext cx="8991000" cy="1006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2" name="Google Shape;392;p2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Karate club (</a:t>
            </a:r>
            <a:r>
              <a:rPr b="0" i="1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from wiki</a:t>
            </a: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3" name="Google Shape;393;p2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4" name="Google Shape;39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960" y="1224360"/>
            <a:ext cx="10171080" cy="33346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26"/>
          <p:cNvCxnSpPr/>
          <p:nvPr/>
        </p:nvCxnSpPr>
        <p:spPr>
          <a:xfrm>
            <a:off x="4210920" y="4068360"/>
            <a:ext cx="6249960" cy="0"/>
          </a:xfrm>
          <a:prstGeom prst="straightConnector1">
            <a:avLst/>
          </a:prstGeom>
          <a:noFill/>
          <a:ln cap="flat" cmpd="sng" w="28425">
            <a:solidFill>
              <a:srgbClr val="C00000"/>
            </a:solidFill>
            <a:prstDash val="dot"/>
            <a:miter lim="8000"/>
            <a:headEnd len="sm" w="sm" type="none"/>
            <a:tailEnd len="sm" w="sm" type="none"/>
          </a:ln>
        </p:spPr>
      </p:cxnSp>
      <p:cxnSp>
        <p:nvCxnSpPr>
          <p:cNvPr id="396" name="Google Shape;396;p26"/>
          <p:cNvCxnSpPr/>
          <p:nvPr/>
        </p:nvCxnSpPr>
        <p:spPr>
          <a:xfrm>
            <a:off x="898920" y="4439160"/>
            <a:ext cx="6575400" cy="0"/>
          </a:xfrm>
          <a:prstGeom prst="straightConnector1">
            <a:avLst/>
          </a:prstGeom>
          <a:noFill/>
          <a:ln cap="flat" cmpd="sng" w="28425">
            <a:solidFill>
              <a:srgbClr val="C00000"/>
            </a:solidFill>
            <a:prstDash val="dot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7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2" name="Google Shape;402;p27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3" name="Google Shape;403;p27"/>
          <p:cNvSpPr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27"/>
          <p:cNvSpPr/>
          <p:nvPr/>
        </p:nvSpPr>
        <p:spPr>
          <a:xfrm>
            <a:off x="660240" y="141156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27"/>
          <p:cNvSpPr/>
          <p:nvPr/>
        </p:nvSpPr>
        <p:spPr>
          <a:xfrm>
            <a:off x="4047120" y="0"/>
            <a:ext cx="8584920" cy="68576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27"/>
          <p:cNvSpPr/>
          <p:nvPr/>
        </p:nvSpPr>
        <p:spPr>
          <a:xfrm>
            <a:off x="5688360" y="2419200"/>
            <a:ext cx="6942240" cy="179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1. shortest-path 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2. clustering coefficient 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3. degree distribution</a:t>
            </a:r>
            <a:br>
              <a:rPr b="0" i="0" lang="en-US" sz="1800" u="none" cap="none" strike="noStrike"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800" u="none" cap="none" strike="noStrike">
                <a:solidFill>
                  <a:srgbClr val="FFE699"/>
                </a:solidFill>
                <a:latin typeface="Malgun Gothic"/>
                <a:ea typeface="Malgun Gothic"/>
                <a:cs typeface="Malgun Gothic"/>
                <a:sym typeface="Malgun Gothic"/>
              </a:rPr>
              <a:t>4. subgraph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27"/>
          <p:cNvSpPr/>
          <p:nvPr/>
        </p:nvSpPr>
        <p:spPr>
          <a:xfrm>
            <a:off x="812880" y="156384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27"/>
          <p:cNvSpPr/>
          <p:nvPr/>
        </p:nvSpPr>
        <p:spPr>
          <a:xfrm>
            <a:off x="965160" y="171612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" name="Google Shape;40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0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27"/>
          <p:cNvSpPr/>
          <p:nvPr/>
        </p:nvSpPr>
        <p:spPr>
          <a:xfrm>
            <a:off x="509040" y="1696320"/>
            <a:ext cx="3271680" cy="130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Node related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statistics-like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2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6" name="Google Shape;416;p2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shortest-path: </a:t>
            </a:r>
            <a:r>
              <a:rPr b="0" i="0" lang="en-US" sz="3200" u="none" cap="none" strike="noStrike">
                <a:solidFill>
                  <a:srgbClr val="ADB9CA"/>
                </a:solidFill>
                <a:latin typeface="Malgun Gothic"/>
                <a:ea typeface="Malgun Gothic"/>
                <a:cs typeface="Malgun Gothic"/>
                <a:sym typeface="Malgun Gothic"/>
              </a:rPr>
              <a:t>nx.shortest_path(Graph, source, target) </a:t>
            </a:r>
            <a:endParaRPr b="0" i="0" sz="32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7" name="Google Shape;417;p2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18" name="Google Shape;4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9800" y="941040"/>
            <a:ext cx="7521120" cy="49168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9" name="Google Shape;41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80120" y="1040400"/>
            <a:ext cx="3906720" cy="449604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28"/>
          <p:cNvSpPr/>
          <p:nvPr/>
        </p:nvSpPr>
        <p:spPr>
          <a:xfrm>
            <a:off x="6971760" y="3085920"/>
            <a:ext cx="622080" cy="633240"/>
          </a:xfrm>
          <a:prstGeom prst="ellipse">
            <a:avLst/>
          </a:prstGeom>
          <a:noFill/>
          <a:ln cap="flat" cmpd="sng" w="38150">
            <a:solidFill>
              <a:srgbClr val="C00000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2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6" name="Google Shape;426;p2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shortest-path: </a:t>
            </a:r>
            <a:r>
              <a:rPr b="0" i="0" lang="en-US" sz="3600" u="none" cap="none" strike="noStrike">
                <a:solidFill>
                  <a:srgbClr val="ADB9CA"/>
                </a:solidFill>
                <a:latin typeface="Malgun Gothic"/>
                <a:ea typeface="Malgun Gothic"/>
                <a:cs typeface="Malgun Gothic"/>
                <a:sym typeface="Malgun Gothic"/>
              </a:rPr>
              <a:t>nx.shortest_path_length(Graph)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7" name="Google Shape;427;p2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28" name="Google Shape;428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0720" y="1029960"/>
            <a:ext cx="7288200" cy="4053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87600" y="2707920"/>
            <a:ext cx="5533560" cy="3704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5" name="Google Shape;435;p3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shortest path drawing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6" name="Google Shape;436;p3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37" name="Google Shape;43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65520" y="1427400"/>
            <a:ext cx="4925880" cy="396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8" name="Google Shape;43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32280" y="1464120"/>
            <a:ext cx="6750000" cy="416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4" name="Google Shape;444;p3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clustering coefficient, degree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5" name="Google Shape;445;p3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46" name="Google Shape;44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5360" y="1056600"/>
            <a:ext cx="5123880" cy="4644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1400" y="1226880"/>
            <a:ext cx="6266880" cy="30967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3" name="Google Shape;453;p3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degree distribution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5" name="Google Shape;45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1640" y="903240"/>
            <a:ext cx="6996240" cy="5712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3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subgraph 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3" name="Google Shape;463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440" y="834480"/>
            <a:ext cx="6939720" cy="565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79320" y="1286280"/>
            <a:ext cx="3141360" cy="2169720"/>
          </a:xfrm>
          <a:prstGeom prst="rect">
            <a:avLst/>
          </a:prstGeom>
          <a:noFill/>
          <a:ln>
            <a:noFill/>
          </a:ln>
        </p:spPr>
      </p:pic>
      <p:sp>
        <p:nvSpPr>
          <p:cNvPr id="465" name="Google Shape;465;p33"/>
          <p:cNvSpPr/>
          <p:nvPr/>
        </p:nvSpPr>
        <p:spPr>
          <a:xfrm rot="3633600">
            <a:off x="7927560" y="2818440"/>
            <a:ext cx="419040" cy="1123920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4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1" name="Google Shape;471;p34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2" name="Google Shape;472;p34"/>
          <p:cNvSpPr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34"/>
          <p:cNvSpPr/>
          <p:nvPr/>
        </p:nvSpPr>
        <p:spPr>
          <a:xfrm>
            <a:off x="660240" y="141156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34"/>
          <p:cNvSpPr/>
          <p:nvPr/>
        </p:nvSpPr>
        <p:spPr>
          <a:xfrm>
            <a:off x="4047120" y="0"/>
            <a:ext cx="8584920" cy="68576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5" name="Google Shape;475;p34"/>
          <p:cNvSpPr/>
          <p:nvPr/>
        </p:nvSpPr>
        <p:spPr>
          <a:xfrm>
            <a:off x="4758120" y="1473120"/>
            <a:ext cx="6942240" cy="179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Degree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Betweenness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Closeness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PageRank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34"/>
          <p:cNvSpPr/>
          <p:nvPr/>
        </p:nvSpPr>
        <p:spPr>
          <a:xfrm>
            <a:off x="812880" y="156384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4"/>
          <p:cNvSpPr/>
          <p:nvPr/>
        </p:nvSpPr>
        <p:spPr>
          <a:xfrm>
            <a:off x="965160" y="171612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78" name="Google Shape;478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0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34"/>
          <p:cNvSpPr/>
          <p:nvPr/>
        </p:nvSpPr>
        <p:spPr>
          <a:xfrm>
            <a:off x="524880" y="1506960"/>
            <a:ext cx="294588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Centrality</a:t>
            </a:r>
            <a:endParaRPr b="0" i="0" sz="4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5" name="Google Shape;485;p3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Various centrality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6" name="Google Shape;486;p3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487" name="Google Shape;487;p35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488" name="Google Shape;488;p35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5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5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5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92" name="Google Shape;49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3360" y="1105200"/>
            <a:ext cx="8560800" cy="5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35"/>
          <p:cNvSpPr/>
          <p:nvPr/>
        </p:nvSpPr>
        <p:spPr>
          <a:xfrm>
            <a:off x="3245400" y="2100240"/>
            <a:ext cx="502560" cy="492120"/>
          </a:xfrm>
          <a:prstGeom prst="ellipse">
            <a:avLst/>
          </a:prstGeom>
          <a:noFill/>
          <a:ln cap="flat" cmpd="sng" w="38150">
            <a:solidFill>
              <a:schemeClr val="dk1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35"/>
          <p:cNvSpPr/>
          <p:nvPr/>
        </p:nvSpPr>
        <p:spPr>
          <a:xfrm>
            <a:off x="1619280" y="1810440"/>
            <a:ext cx="14464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Degree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35"/>
          <p:cNvSpPr/>
          <p:nvPr/>
        </p:nvSpPr>
        <p:spPr>
          <a:xfrm>
            <a:off x="3618720" y="3860280"/>
            <a:ext cx="502560" cy="492120"/>
          </a:xfrm>
          <a:prstGeom prst="ellipse">
            <a:avLst/>
          </a:prstGeom>
          <a:noFill/>
          <a:ln cap="flat" cmpd="sng" w="38150">
            <a:solidFill>
              <a:srgbClr val="7F6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35"/>
          <p:cNvSpPr/>
          <p:nvPr/>
        </p:nvSpPr>
        <p:spPr>
          <a:xfrm>
            <a:off x="1939320" y="3891960"/>
            <a:ext cx="2143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6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Betweenness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5"/>
          <p:cNvSpPr/>
          <p:nvPr/>
        </p:nvSpPr>
        <p:spPr>
          <a:xfrm>
            <a:off x="6552720" y="1860480"/>
            <a:ext cx="502560" cy="492120"/>
          </a:xfrm>
          <a:prstGeom prst="ellipse">
            <a:avLst/>
          </a:prstGeom>
          <a:noFill/>
          <a:ln cap="flat" cmpd="sng" w="38150">
            <a:solidFill>
              <a:srgbClr val="385623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8" name="Google Shape;498;p35"/>
          <p:cNvSpPr/>
          <p:nvPr/>
        </p:nvSpPr>
        <p:spPr>
          <a:xfrm>
            <a:off x="7567920" y="2101680"/>
            <a:ext cx="1474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closeness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5"/>
          <p:cNvSpPr/>
          <p:nvPr/>
        </p:nvSpPr>
        <p:spPr>
          <a:xfrm>
            <a:off x="4780080" y="4073760"/>
            <a:ext cx="588240" cy="614520"/>
          </a:xfrm>
          <a:prstGeom prst="ellipse">
            <a:avLst/>
          </a:prstGeom>
          <a:noFill/>
          <a:ln cap="flat" cmpd="sng" w="284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35"/>
          <p:cNvSpPr/>
          <p:nvPr/>
        </p:nvSpPr>
        <p:spPr>
          <a:xfrm>
            <a:off x="5891760" y="3898800"/>
            <a:ext cx="144648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PageRank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6" name="Google Shape;506;p3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Various centrality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7" name="Google Shape;507;p3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08" name="Google Shape;508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29760" y="993240"/>
            <a:ext cx="8882280" cy="5375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4" name="Google Shape;514;p3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Various centrality: degree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5" name="Google Shape;515;p3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16" name="Google Shape;516;p37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517" name="Google Shape;517;p37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7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7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7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21" name="Google Shape;52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6880" y="904320"/>
            <a:ext cx="8560800" cy="5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22" name="Google Shape;522;p37"/>
          <p:cNvSpPr/>
          <p:nvPr/>
        </p:nvSpPr>
        <p:spPr>
          <a:xfrm>
            <a:off x="4019400" y="1959480"/>
            <a:ext cx="401400" cy="381600"/>
          </a:xfrm>
          <a:prstGeom prst="ellipse">
            <a:avLst/>
          </a:prstGeom>
          <a:noFill/>
          <a:ln cap="flat" cmpd="sng" w="284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3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8" name="Google Shape;528;p3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Various centrality: betweenness (bridge)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29" name="Google Shape;529;p3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30" name="Google Shape;530;p38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531" name="Google Shape;531;p38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8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8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8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35" name="Google Shape;53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07320" y="1065240"/>
            <a:ext cx="8560800" cy="5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8"/>
          <p:cNvSpPr/>
          <p:nvPr/>
        </p:nvSpPr>
        <p:spPr>
          <a:xfrm>
            <a:off x="4491720" y="3858480"/>
            <a:ext cx="401400" cy="381600"/>
          </a:xfrm>
          <a:prstGeom prst="ellipse">
            <a:avLst/>
          </a:prstGeom>
          <a:noFill/>
          <a:ln cap="flat" cmpd="sng" w="284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3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3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betweenness centrality 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3" name="Google Shape;543;p3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44" name="Google Shape;54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5320" y="1179360"/>
            <a:ext cx="7105320" cy="2219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5" name="Google Shape;54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31200" y="3429720"/>
            <a:ext cx="7067160" cy="2190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1" name="Google Shape;551;p4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Various centrality: closeness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52" name="Google Shape;552;p4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53" name="Google Shape;553;p40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554" name="Google Shape;554;p40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40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40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40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58" name="Google Shape;55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3040" y="1105200"/>
            <a:ext cx="8560800" cy="5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40"/>
          <p:cNvSpPr/>
          <p:nvPr/>
        </p:nvSpPr>
        <p:spPr>
          <a:xfrm>
            <a:off x="5868360" y="1075320"/>
            <a:ext cx="2471400" cy="1979280"/>
          </a:xfrm>
          <a:prstGeom prst="rect">
            <a:avLst/>
          </a:prstGeom>
          <a:noFill/>
          <a:ln cap="flat" cmpd="sng" w="28425">
            <a:solidFill>
              <a:srgbClr val="31538F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0" name="Google Shape;560;p40"/>
          <p:cNvSpPr/>
          <p:nvPr/>
        </p:nvSpPr>
        <p:spPr>
          <a:xfrm>
            <a:off x="6531480" y="1919160"/>
            <a:ext cx="401400" cy="381600"/>
          </a:xfrm>
          <a:prstGeom prst="ellipse">
            <a:avLst/>
          </a:prstGeom>
          <a:noFill/>
          <a:ln cap="flat" cmpd="sng" w="284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4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6" name="Google Shape;566;p4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closeness centrality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67" name="Google Shape;567;p4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9560" y="1110600"/>
            <a:ext cx="10247400" cy="48013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4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4" name="Google Shape;574;p4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Various centrality: PageRank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5" name="Google Shape;575;p4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76" name="Google Shape;576;p42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577" name="Google Shape;577;p42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42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42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42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81" name="Google Shape;58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560" y="954720"/>
            <a:ext cx="8560800" cy="50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2" name="Google Shape;582;p42"/>
          <p:cNvSpPr/>
          <p:nvPr/>
        </p:nvSpPr>
        <p:spPr>
          <a:xfrm>
            <a:off x="7154280" y="3115080"/>
            <a:ext cx="4762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based on number and weighting in-links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3" name="Google Shape;583;p42"/>
          <p:cNvSpPr/>
          <p:nvPr/>
        </p:nvSpPr>
        <p:spPr>
          <a:xfrm>
            <a:off x="4418280" y="3902760"/>
            <a:ext cx="588240" cy="614520"/>
          </a:xfrm>
          <a:prstGeom prst="ellipse">
            <a:avLst/>
          </a:prstGeom>
          <a:noFill/>
          <a:ln cap="flat" cmpd="sng" w="284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400" u="none" cap="none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4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Various centrality: PageRank: </a:t>
            </a:r>
            <a:r>
              <a:rPr b="0" i="0" lang="en-US" sz="360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r>
            <a:r>
              <a:rPr b="0" baseline="30000" i="0" lang="en-US" sz="360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nd</a:t>
            </a:r>
            <a:r>
              <a:rPr b="0" i="0" lang="en-US" sz="3600" u="none" cap="none" strike="noStrike">
                <a:solidFill>
                  <a:srgbClr val="A6A6A6"/>
                </a:solidFill>
                <a:latin typeface="Malgun Gothic"/>
                <a:ea typeface="Malgun Gothic"/>
                <a:cs typeface="Malgun Gothic"/>
                <a:sym typeface="Malgun Gothic"/>
              </a:rPr>
              <a:t> important?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90" name="Google Shape;590;p4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591" name="Google Shape;591;p43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592" name="Google Shape;592;p43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43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43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43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596" name="Google Shape;59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8520" y="1162800"/>
            <a:ext cx="9677160" cy="524808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43"/>
          <p:cNvSpPr/>
          <p:nvPr/>
        </p:nvSpPr>
        <p:spPr>
          <a:xfrm>
            <a:off x="4850640" y="4264560"/>
            <a:ext cx="588240" cy="614520"/>
          </a:xfrm>
          <a:prstGeom prst="ellipse">
            <a:avLst/>
          </a:prstGeom>
          <a:noFill/>
          <a:ln cap="flat" cmpd="sng" w="284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8" name="Google Shape;598;p43"/>
          <p:cNvSpPr/>
          <p:nvPr/>
        </p:nvSpPr>
        <p:spPr>
          <a:xfrm>
            <a:off x="5767560" y="3808440"/>
            <a:ext cx="421920" cy="479520"/>
          </a:xfrm>
          <a:prstGeom prst="ellipse">
            <a:avLst/>
          </a:prstGeom>
          <a:noFill/>
          <a:ln cap="flat" cmpd="sng" w="28425">
            <a:solidFill>
              <a:srgbClr val="7F7F7F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9" name="Google Shape;599;p43"/>
          <p:cNvSpPr/>
          <p:nvPr/>
        </p:nvSpPr>
        <p:spPr>
          <a:xfrm>
            <a:off x="7264800" y="3346200"/>
            <a:ext cx="4762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based on number and weighting in-links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p43"/>
          <p:cNvSpPr/>
          <p:nvPr/>
        </p:nvSpPr>
        <p:spPr>
          <a:xfrm>
            <a:off x="7256520" y="3830040"/>
            <a:ext cx="4762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influence on the 1</a:t>
            </a:r>
            <a:r>
              <a:rPr b="1" baseline="30000" i="0" lang="en-US" sz="18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st</a:t>
            </a:r>
            <a:r>
              <a:rPr b="1" i="0" lang="en-US" sz="1800" u="none" cap="none" strike="noStrike">
                <a:solidFill>
                  <a:srgbClr val="808080"/>
                </a:solidFill>
                <a:latin typeface="Malgun Gothic"/>
                <a:ea typeface="Malgun Gothic"/>
                <a:cs typeface="Malgun Gothic"/>
                <a:sym typeface="Malgun Gothic"/>
              </a:rPr>
              <a:t> PageRank node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4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PageRank example</a:t>
            </a:r>
            <a:endParaRPr b="0" i="0" sz="3600" u="none" cap="none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06" name="Google Shape;606;p4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07" name="Google Shape;60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24240" y="1143000"/>
            <a:ext cx="7343280" cy="4571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2" name="Google Shape;61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1360" y="978120"/>
            <a:ext cx="9429480" cy="4962240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45"/>
          <p:cNvSpPr txBox="1"/>
          <p:nvPr/>
        </p:nvSpPr>
        <p:spPr>
          <a:xfrm rot="-3600">
            <a:off x="6400440" y="6509520"/>
            <a:ext cx="4115160" cy="34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PageRank Beyond the Web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4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9" name="Google Shape;619;p4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degree centrality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0" name="Google Shape;620;p4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1" name="Google Shape;62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364840" y="977400"/>
            <a:ext cx="7646040" cy="5312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4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betweenness centrality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28" name="Google Shape;628;p4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29" name="Google Shape;629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20480" y="1073520"/>
            <a:ext cx="6950880" cy="5105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4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5" name="Google Shape;635;p4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closeness centrality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36" name="Google Shape;636;p4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37" name="Google Shape;637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02600" y="1102560"/>
            <a:ext cx="7210080" cy="5389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43" name="Google Shape;643;p4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Wasserman and Faust closeness centrality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44" name="Google Shape;644;p4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45" name="Google Shape;645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75360" y="914400"/>
            <a:ext cx="7593480" cy="53992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5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1" name="Google Shape;651;p5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Harmonic closeness centrality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52" name="Google Shape;652;p5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53" name="Google Shape;653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9480" y="857880"/>
            <a:ext cx="7255080" cy="5473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5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9" name="Google Shape;659;p5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PageRank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60" name="Google Shape;660;p5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61" name="Google Shape;661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9960" y="859680"/>
            <a:ext cx="7162560" cy="530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5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7" name="Google Shape;667;p5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8" name="Google Shape;668;p52"/>
          <p:cNvSpPr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9" name="Google Shape;669;p52"/>
          <p:cNvSpPr/>
          <p:nvPr/>
        </p:nvSpPr>
        <p:spPr>
          <a:xfrm>
            <a:off x="660240" y="141156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52"/>
          <p:cNvSpPr/>
          <p:nvPr/>
        </p:nvSpPr>
        <p:spPr>
          <a:xfrm>
            <a:off x="4047120" y="0"/>
            <a:ext cx="8584920" cy="68576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2"/>
          <p:cNvSpPr/>
          <p:nvPr/>
        </p:nvSpPr>
        <p:spPr>
          <a:xfrm>
            <a:off x="4758120" y="1473120"/>
            <a:ext cx="6942240" cy="137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Bag of Nodes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Weisfeiler-Lehman Subtree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Bag of colors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52"/>
          <p:cNvSpPr/>
          <p:nvPr/>
        </p:nvSpPr>
        <p:spPr>
          <a:xfrm>
            <a:off x="812880" y="156384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3" name="Google Shape;673;p52"/>
          <p:cNvSpPr/>
          <p:nvPr/>
        </p:nvSpPr>
        <p:spPr>
          <a:xfrm>
            <a:off x="965160" y="171612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74" name="Google Shape;674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0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2"/>
          <p:cNvSpPr/>
          <p:nvPr/>
        </p:nvSpPr>
        <p:spPr>
          <a:xfrm>
            <a:off x="524880" y="1506960"/>
            <a:ext cx="333720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 Kernel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p5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Graph kernel: bag of nodes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682" name="Google Shape;682;p5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3" name="Google Shape;683;p53"/>
          <p:cNvSpPr/>
          <p:nvPr/>
        </p:nvSpPr>
        <p:spPr>
          <a:xfrm>
            <a:off x="1339200" y="2354400"/>
            <a:ext cx="1382760" cy="67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    )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4" name="Google Shape;684;p53"/>
          <p:cNvGrpSpPr/>
          <p:nvPr/>
        </p:nvGrpSpPr>
        <p:grpSpPr>
          <a:xfrm>
            <a:off x="1955160" y="2375280"/>
            <a:ext cx="739800" cy="691920"/>
            <a:chOff x="1955160" y="2375280"/>
            <a:chExt cx="739800" cy="691920"/>
          </a:xfrm>
        </p:grpSpPr>
        <p:sp>
          <p:nvSpPr>
            <p:cNvPr id="685" name="Google Shape;685;p53"/>
            <p:cNvSpPr/>
            <p:nvPr/>
          </p:nvSpPr>
          <p:spPr>
            <a:xfrm>
              <a:off x="1955160" y="237528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53"/>
            <p:cNvSpPr/>
            <p:nvPr/>
          </p:nvSpPr>
          <p:spPr>
            <a:xfrm>
              <a:off x="1955160" y="293940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53"/>
            <p:cNvSpPr/>
            <p:nvPr/>
          </p:nvSpPr>
          <p:spPr>
            <a:xfrm>
              <a:off x="2566080" y="237528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53"/>
            <p:cNvSpPr/>
            <p:nvPr/>
          </p:nvSpPr>
          <p:spPr>
            <a:xfrm>
              <a:off x="2566080" y="293940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89" name="Google Shape;689;p53"/>
            <p:cNvCxnSpPr/>
            <p:nvPr/>
          </p:nvCxnSpPr>
          <p:spPr>
            <a:xfrm>
              <a:off x="2019600" y="2503080"/>
              <a:ext cx="0" cy="43632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0" name="Google Shape;690;p53"/>
            <p:cNvCxnSpPr/>
            <p:nvPr/>
          </p:nvCxnSpPr>
          <p:spPr>
            <a:xfrm>
              <a:off x="2617560" y="2504160"/>
              <a:ext cx="0" cy="43632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1" name="Google Shape;691;p53"/>
            <p:cNvCxnSpPr/>
            <p:nvPr/>
          </p:nvCxnSpPr>
          <p:spPr>
            <a:xfrm>
              <a:off x="2086200" y="2996280"/>
              <a:ext cx="479880" cy="720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2" name="Google Shape;692;p53"/>
            <p:cNvCxnSpPr/>
            <p:nvPr/>
          </p:nvCxnSpPr>
          <p:spPr>
            <a:xfrm>
              <a:off x="2071440" y="2476440"/>
              <a:ext cx="513360" cy="48168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693" name="Google Shape;693;p53"/>
          <p:cNvSpPr/>
          <p:nvPr/>
        </p:nvSpPr>
        <p:spPr>
          <a:xfrm>
            <a:off x="3077280" y="2303280"/>
            <a:ext cx="73656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53"/>
          <p:cNvSpPr/>
          <p:nvPr/>
        </p:nvSpPr>
        <p:spPr>
          <a:xfrm>
            <a:off x="3828240" y="2275920"/>
            <a:ext cx="248364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count(    )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95" name="Google Shape;695;p53"/>
          <p:cNvGrpSpPr/>
          <p:nvPr/>
        </p:nvGrpSpPr>
        <p:grpSpPr>
          <a:xfrm>
            <a:off x="5369400" y="2323080"/>
            <a:ext cx="739800" cy="691920"/>
            <a:chOff x="5369400" y="2323080"/>
            <a:chExt cx="739800" cy="691920"/>
          </a:xfrm>
        </p:grpSpPr>
        <p:sp>
          <p:nvSpPr>
            <p:cNvPr id="696" name="Google Shape;696;p53"/>
            <p:cNvSpPr/>
            <p:nvPr/>
          </p:nvSpPr>
          <p:spPr>
            <a:xfrm>
              <a:off x="5369400" y="2887200"/>
              <a:ext cx="128880" cy="127800"/>
            </a:xfrm>
            <a:prstGeom prst="ellipse">
              <a:avLst/>
            </a:prstGeom>
            <a:solidFill>
              <a:srgbClr val="7030A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53"/>
            <p:cNvSpPr/>
            <p:nvPr/>
          </p:nvSpPr>
          <p:spPr>
            <a:xfrm>
              <a:off x="5980320" y="2887200"/>
              <a:ext cx="128880" cy="127800"/>
            </a:xfrm>
            <a:prstGeom prst="ellipse">
              <a:avLst/>
            </a:prstGeom>
            <a:solidFill>
              <a:srgbClr val="7030A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98" name="Google Shape;698;p53"/>
            <p:cNvGrpSpPr/>
            <p:nvPr/>
          </p:nvGrpSpPr>
          <p:grpSpPr>
            <a:xfrm>
              <a:off x="5369400" y="2323080"/>
              <a:ext cx="739800" cy="627840"/>
              <a:chOff x="5369400" y="2323080"/>
              <a:chExt cx="739800" cy="627840"/>
            </a:xfrm>
          </p:grpSpPr>
          <p:sp>
            <p:nvSpPr>
              <p:cNvPr id="699" name="Google Shape;699;p53"/>
              <p:cNvSpPr/>
              <p:nvPr/>
            </p:nvSpPr>
            <p:spPr>
              <a:xfrm>
                <a:off x="5369400" y="2323080"/>
                <a:ext cx="128880" cy="127800"/>
              </a:xfrm>
              <a:prstGeom prst="ellipse">
                <a:avLst/>
              </a:prstGeom>
              <a:solidFill>
                <a:srgbClr val="7030A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53"/>
              <p:cNvSpPr/>
              <p:nvPr/>
            </p:nvSpPr>
            <p:spPr>
              <a:xfrm>
                <a:off x="5980320" y="2323080"/>
                <a:ext cx="128880" cy="127800"/>
              </a:xfrm>
              <a:prstGeom prst="ellipse">
                <a:avLst/>
              </a:prstGeom>
              <a:solidFill>
                <a:srgbClr val="00B05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01" name="Google Shape;701;p53"/>
              <p:cNvCxnSpPr/>
              <p:nvPr/>
            </p:nvCxnSpPr>
            <p:spPr>
              <a:xfrm>
                <a:off x="5433840" y="2450880"/>
                <a:ext cx="0" cy="43596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02" name="Google Shape;702;p53"/>
              <p:cNvCxnSpPr/>
              <p:nvPr/>
            </p:nvCxnSpPr>
            <p:spPr>
              <a:xfrm>
                <a:off x="6031800" y="2451960"/>
                <a:ext cx="0" cy="43596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03" name="Google Shape;703;p53"/>
              <p:cNvCxnSpPr/>
              <p:nvPr/>
            </p:nvCxnSpPr>
            <p:spPr>
              <a:xfrm>
                <a:off x="5500440" y="2944080"/>
                <a:ext cx="479880" cy="684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04" name="Google Shape;704;p53"/>
              <p:cNvCxnSpPr/>
              <p:nvPr/>
            </p:nvCxnSpPr>
            <p:spPr>
              <a:xfrm>
                <a:off x="5485680" y="2424240"/>
                <a:ext cx="513360" cy="48132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705" name="Google Shape;705;p53"/>
          <p:cNvSpPr/>
          <p:nvPr/>
        </p:nvSpPr>
        <p:spPr>
          <a:xfrm>
            <a:off x="6393960" y="2358000"/>
            <a:ext cx="248364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=  [1 , 3 , 0]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53"/>
          <p:cNvSpPr/>
          <p:nvPr/>
        </p:nvSpPr>
        <p:spPr>
          <a:xfrm>
            <a:off x="7251840" y="2161440"/>
            <a:ext cx="128880" cy="127800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7" name="Google Shape;707;p53"/>
          <p:cNvSpPr/>
          <p:nvPr/>
        </p:nvSpPr>
        <p:spPr>
          <a:xfrm>
            <a:off x="7854840" y="2163600"/>
            <a:ext cx="128880" cy="127800"/>
          </a:xfrm>
          <a:prstGeom prst="ellipse">
            <a:avLst/>
          </a:prstGeom>
          <a:solidFill>
            <a:srgbClr val="7030A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3"/>
          <p:cNvSpPr/>
          <p:nvPr/>
        </p:nvSpPr>
        <p:spPr>
          <a:xfrm>
            <a:off x="8414280" y="2150280"/>
            <a:ext cx="128880" cy="127800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3"/>
          <p:cNvSpPr/>
          <p:nvPr/>
        </p:nvSpPr>
        <p:spPr>
          <a:xfrm>
            <a:off x="1355400" y="3885480"/>
            <a:ext cx="1382760" cy="670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    )</a:t>
            </a:r>
            <a:endParaRPr b="0" sz="4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10" name="Google Shape;710;p53"/>
          <p:cNvGrpSpPr/>
          <p:nvPr/>
        </p:nvGrpSpPr>
        <p:grpSpPr>
          <a:xfrm>
            <a:off x="1971000" y="3906000"/>
            <a:ext cx="740160" cy="691920"/>
            <a:chOff x="1971000" y="3906000"/>
            <a:chExt cx="740160" cy="691920"/>
          </a:xfrm>
        </p:grpSpPr>
        <p:sp>
          <p:nvSpPr>
            <p:cNvPr id="711" name="Google Shape;711;p53"/>
            <p:cNvSpPr/>
            <p:nvPr/>
          </p:nvSpPr>
          <p:spPr>
            <a:xfrm>
              <a:off x="1971000" y="390600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53"/>
            <p:cNvSpPr/>
            <p:nvPr/>
          </p:nvSpPr>
          <p:spPr>
            <a:xfrm>
              <a:off x="1971000" y="447012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53"/>
            <p:cNvSpPr/>
            <p:nvPr/>
          </p:nvSpPr>
          <p:spPr>
            <a:xfrm>
              <a:off x="2582280" y="390600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53"/>
            <p:cNvSpPr/>
            <p:nvPr/>
          </p:nvSpPr>
          <p:spPr>
            <a:xfrm>
              <a:off x="2582280" y="4470120"/>
              <a:ext cx="128880" cy="127800"/>
            </a:xfrm>
            <a:prstGeom prst="ellipse">
              <a:avLst/>
            </a:prstGeom>
            <a:solidFill>
              <a:srgbClr val="FF00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15" name="Google Shape;715;p53"/>
            <p:cNvCxnSpPr/>
            <p:nvPr/>
          </p:nvCxnSpPr>
          <p:spPr>
            <a:xfrm>
              <a:off x="2035440" y="4034160"/>
              <a:ext cx="0" cy="43596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6" name="Google Shape;716;p53"/>
            <p:cNvCxnSpPr/>
            <p:nvPr/>
          </p:nvCxnSpPr>
          <p:spPr>
            <a:xfrm>
              <a:off x="2633400" y="4034880"/>
              <a:ext cx="0" cy="43632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7" name="Google Shape;717;p53"/>
            <p:cNvCxnSpPr/>
            <p:nvPr/>
          </p:nvCxnSpPr>
          <p:spPr>
            <a:xfrm>
              <a:off x="2102400" y="4527000"/>
              <a:ext cx="479520" cy="720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8" name="Google Shape;718;p53"/>
            <p:cNvCxnSpPr/>
            <p:nvPr/>
          </p:nvCxnSpPr>
          <p:spPr>
            <a:xfrm>
              <a:off x="2087280" y="4007520"/>
              <a:ext cx="513720" cy="48132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19" name="Google Shape;719;p53"/>
          <p:cNvSpPr/>
          <p:nvPr/>
        </p:nvSpPr>
        <p:spPr>
          <a:xfrm>
            <a:off x="3093480" y="3834000"/>
            <a:ext cx="73656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=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0" name="Google Shape;720;p53"/>
          <p:cNvSpPr/>
          <p:nvPr/>
        </p:nvSpPr>
        <p:spPr>
          <a:xfrm>
            <a:off x="3844080" y="3806640"/>
            <a:ext cx="2483640" cy="699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count(    )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21" name="Google Shape;721;p53"/>
          <p:cNvGrpSpPr/>
          <p:nvPr/>
        </p:nvGrpSpPr>
        <p:grpSpPr>
          <a:xfrm>
            <a:off x="5385240" y="3853800"/>
            <a:ext cx="740160" cy="691920"/>
            <a:chOff x="5385240" y="3853800"/>
            <a:chExt cx="740160" cy="691920"/>
          </a:xfrm>
        </p:grpSpPr>
        <p:sp>
          <p:nvSpPr>
            <p:cNvPr id="722" name="Google Shape;722;p53"/>
            <p:cNvSpPr/>
            <p:nvPr/>
          </p:nvSpPr>
          <p:spPr>
            <a:xfrm>
              <a:off x="5385240" y="4417920"/>
              <a:ext cx="128880" cy="127800"/>
            </a:xfrm>
            <a:prstGeom prst="ellipse">
              <a:avLst/>
            </a:prstGeom>
            <a:solidFill>
              <a:srgbClr val="7030A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53"/>
            <p:cNvSpPr/>
            <p:nvPr/>
          </p:nvSpPr>
          <p:spPr>
            <a:xfrm>
              <a:off x="5996520" y="4417920"/>
              <a:ext cx="128880" cy="127800"/>
            </a:xfrm>
            <a:prstGeom prst="ellipse">
              <a:avLst/>
            </a:prstGeom>
            <a:solidFill>
              <a:srgbClr val="FFFF00"/>
            </a:solidFill>
            <a:ln cap="flat" cmpd="sng" w="25400">
              <a:solidFill>
                <a:srgbClr val="31538F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4" name="Google Shape;724;p53"/>
            <p:cNvGrpSpPr/>
            <p:nvPr/>
          </p:nvGrpSpPr>
          <p:grpSpPr>
            <a:xfrm>
              <a:off x="5385240" y="3853800"/>
              <a:ext cx="740160" cy="627840"/>
              <a:chOff x="5385240" y="3853800"/>
              <a:chExt cx="740160" cy="627840"/>
            </a:xfrm>
          </p:grpSpPr>
          <p:sp>
            <p:nvSpPr>
              <p:cNvPr id="725" name="Google Shape;725;p53"/>
              <p:cNvSpPr/>
              <p:nvPr/>
            </p:nvSpPr>
            <p:spPr>
              <a:xfrm>
                <a:off x="5385240" y="3853800"/>
                <a:ext cx="128880" cy="127800"/>
              </a:xfrm>
              <a:prstGeom prst="ellipse">
                <a:avLst/>
              </a:prstGeom>
              <a:solidFill>
                <a:srgbClr val="FFFF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53"/>
              <p:cNvSpPr/>
              <p:nvPr/>
            </p:nvSpPr>
            <p:spPr>
              <a:xfrm>
                <a:off x="5996520" y="3853800"/>
                <a:ext cx="128880" cy="127800"/>
              </a:xfrm>
              <a:prstGeom prst="ellipse">
                <a:avLst/>
              </a:prstGeom>
              <a:solidFill>
                <a:srgbClr val="7030A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27" name="Google Shape;727;p53"/>
              <p:cNvCxnSpPr/>
              <p:nvPr/>
            </p:nvCxnSpPr>
            <p:spPr>
              <a:xfrm>
                <a:off x="5449680" y="3981600"/>
                <a:ext cx="0" cy="43632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28" name="Google Shape;728;p53"/>
              <p:cNvCxnSpPr/>
              <p:nvPr/>
            </p:nvCxnSpPr>
            <p:spPr>
              <a:xfrm>
                <a:off x="6047640" y="3982680"/>
                <a:ext cx="0" cy="43632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29" name="Google Shape;729;p53"/>
              <p:cNvCxnSpPr/>
              <p:nvPr/>
            </p:nvCxnSpPr>
            <p:spPr>
              <a:xfrm>
                <a:off x="5516280" y="4474800"/>
                <a:ext cx="479880" cy="684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30" name="Google Shape;730;p53"/>
              <p:cNvCxnSpPr/>
              <p:nvPr/>
            </p:nvCxnSpPr>
            <p:spPr>
              <a:xfrm>
                <a:off x="5501520" y="3954960"/>
                <a:ext cx="513720" cy="481680"/>
              </a:xfrm>
              <a:prstGeom prst="straightConnector1">
                <a:avLst/>
              </a:prstGeom>
              <a:noFill/>
              <a:ln cap="flat" cmpd="sng" w="28425">
                <a:solidFill>
                  <a:srgbClr val="00206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</p:grpSp>
      <p:sp>
        <p:nvSpPr>
          <p:cNvPr id="731" name="Google Shape;731;p53"/>
          <p:cNvSpPr/>
          <p:nvPr/>
        </p:nvSpPr>
        <p:spPr>
          <a:xfrm>
            <a:off x="6409800" y="3888720"/>
            <a:ext cx="2483640" cy="5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2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=  [1 , 3 , 0]</a:t>
            </a:r>
            <a:endParaRPr b="0" sz="3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2" name="Google Shape;732;p53"/>
          <p:cNvSpPr/>
          <p:nvPr/>
        </p:nvSpPr>
        <p:spPr>
          <a:xfrm>
            <a:off x="7268040" y="3692160"/>
            <a:ext cx="128880" cy="127800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3"/>
          <p:cNvSpPr/>
          <p:nvPr/>
        </p:nvSpPr>
        <p:spPr>
          <a:xfrm>
            <a:off x="7870680" y="3694680"/>
            <a:ext cx="128880" cy="127800"/>
          </a:xfrm>
          <a:prstGeom prst="ellipse">
            <a:avLst/>
          </a:prstGeom>
          <a:solidFill>
            <a:srgbClr val="7030A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4" name="Google Shape;734;p53"/>
          <p:cNvSpPr/>
          <p:nvPr/>
        </p:nvSpPr>
        <p:spPr>
          <a:xfrm>
            <a:off x="8430120" y="3681000"/>
            <a:ext cx="128880" cy="127800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5" name="Google Shape;735;p53"/>
          <p:cNvCxnSpPr/>
          <p:nvPr/>
        </p:nvCxnSpPr>
        <p:spPr>
          <a:xfrm>
            <a:off x="2090880" y="3969720"/>
            <a:ext cx="479880" cy="7200"/>
          </a:xfrm>
          <a:prstGeom prst="straightConnector1">
            <a:avLst/>
          </a:prstGeom>
          <a:noFill/>
          <a:ln cap="flat" cmpd="sng" w="28425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736" name="Google Shape;736;p53"/>
          <p:cNvCxnSpPr/>
          <p:nvPr/>
        </p:nvCxnSpPr>
        <p:spPr>
          <a:xfrm>
            <a:off x="5529960" y="3915360"/>
            <a:ext cx="479880" cy="6840"/>
          </a:xfrm>
          <a:prstGeom prst="straightConnector1">
            <a:avLst/>
          </a:prstGeom>
          <a:noFill/>
          <a:ln cap="flat" cmpd="sng" w="28425">
            <a:solidFill>
              <a:srgbClr val="00206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737" name="Google Shape;737;p53"/>
          <p:cNvSpPr/>
          <p:nvPr/>
        </p:nvSpPr>
        <p:spPr>
          <a:xfrm>
            <a:off x="1344240" y="1416240"/>
            <a:ext cx="428508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Deg1:      Deg2:       Deg3: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8" name="Google Shape;738;p53"/>
          <p:cNvSpPr/>
          <p:nvPr/>
        </p:nvSpPr>
        <p:spPr>
          <a:xfrm>
            <a:off x="2436480" y="1563120"/>
            <a:ext cx="128880" cy="127800"/>
          </a:xfrm>
          <a:prstGeom prst="ellipse">
            <a:avLst/>
          </a:prstGeom>
          <a:solidFill>
            <a:srgbClr val="00B05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9" name="Google Shape;739;p53"/>
          <p:cNvSpPr/>
          <p:nvPr/>
        </p:nvSpPr>
        <p:spPr>
          <a:xfrm>
            <a:off x="3885480" y="1565640"/>
            <a:ext cx="128880" cy="127800"/>
          </a:xfrm>
          <a:prstGeom prst="ellipse">
            <a:avLst/>
          </a:prstGeom>
          <a:solidFill>
            <a:srgbClr val="7030A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3"/>
          <p:cNvSpPr/>
          <p:nvPr/>
        </p:nvSpPr>
        <p:spPr>
          <a:xfrm>
            <a:off x="5414040" y="1565640"/>
            <a:ext cx="128880" cy="127800"/>
          </a:xfrm>
          <a:prstGeom prst="ellipse">
            <a:avLst/>
          </a:prstGeom>
          <a:solidFill>
            <a:srgbClr val="FFFF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6" name="Google Shape;746;p5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graph kernel: graphlet features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747" name="Google Shape;747;p5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8" name="Google Shape;748;p54"/>
          <p:cNvSpPr/>
          <p:nvPr/>
        </p:nvSpPr>
        <p:spPr>
          <a:xfrm>
            <a:off x="1177920" y="1214640"/>
            <a:ext cx="528120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US" sz="2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For k = 3, there are 4 graphlets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49" name="Google Shape;749;p54"/>
          <p:cNvGrpSpPr/>
          <p:nvPr/>
        </p:nvGrpSpPr>
        <p:grpSpPr>
          <a:xfrm>
            <a:off x="1751400" y="1766880"/>
            <a:ext cx="5268960" cy="1052280"/>
            <a:chOff x="1751400" y="1766880"/>
            <a:chExt cx="5268960" cy="1052280"/>
          </a:xfrm>
        </p:grpSpPr>
        <p:grpSp>
          <p:nvGrpSpPr>
            <p:cNvPr id="750" name="Google Shape;750;p54"/>
            <p:cNvGrpSpPr/>
            <p:nvPr/>
          </p:nvGrpSpPr>
          <p:grpSpPr>
            <a:xfrm>
              <a:off x="1751400" y="1766880"/>
              <a:ext cx="1023480" cy="1052280"/>
              <a:chOff x="1751400" y="1766880"/>
              <a:chExt cx="1023480" cy="1052280"/>
            </a:xfrm>
          </p:grpSpPr>
          <p:sp>
            <p:nvSpPr>
              <p:cNvPr id="751" name="Google Shape;751;p54"/>
              <p:cNvSpPr/>
              <p:nvPr/>
            </p:nvSpPr>
            <p:spPr>
              <a:xfrm>
                <a:off x="1751400" y="1891080"/>
                <a:ext cx="1023480" cy="928080"/>
              </a:xfrm>
              <a:prstGeom prst="triangle">
                <a:avLst>
                  <a:gd fmla="val 50000" name="adj"/>
                </a:avLst>
              </a:prstGeom>
              <a:noFill/>
              <a:ln cap="flat" cmpd="sng" w="284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54"/>
              <p:cNvSpPr/>
              <p:nvPr/>
            </p:nvSpPr>
            <p:spPr>
              <a:xfrm>
                <a:off x="2165760" y="1766880"/>
                <a:ext cx="174240" cy="16164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53" name="Google Shape;753;p54"/>
            <p:cNvGrpSpPr/>
            <p:nvPr/>
          </p:nvGrpSpPr>
          <p:grpSpPr>
            <a:xfrm>
              <a:off x="3122640" y="1785240"/>
              <a:ext cx="982080" cy="954360"/>
              <a:chOff x="3122640" y="1785240"/>
              <a:chExt cx="982080" cy="954360"/>
            </a:xfrm>
          </p:grpSpPr>
          <p:grpSp>
            <p:nvGrpSpPr>
              <p:cNvPr id="754" name="Google Shape;754;p54"/>
              <p:cNvGrpSpPr/>
              <p:nvPr/>
            </p:nvGrpSpPr>
            <p:grpSpPr>
              <a:xfrm>
                <a:off x="3122640" y="1870200"/>
                <a:ext cx="982080" cy="869400"/>
                <a:chOff x="3122640" y="1870200"/>
                <a:chExt cx="982080" cy="869400"/>
              </a:xfrm>
            </p:grpSpPr>
            <p:cxnSp>
              <p:nvCxnSpPr>
                <p:cNvPr id="755" name="Google Shape;755;p54"/>
                <p:cNvCxnSpPr/>
                <p:nvPr/>
              </p:nvCxnSpPr>
              <p:spPr>
                <a:xfrm>
                  <a:off x="3592440" y="1870200"/>
                  <a:ext cx="512280" cy="866520"/>
                </a:xfrm>
                <a:prstGeom prst="straightConnector1">
                  <a:avLst/>
                </a:prstGeom>
                <a:noFill/>
                <a:ln cap="flat" cmpd="sng" w="28425">
                  <a:solidFill>
                    <a:srgbClr val="00206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756" name="Google Shape;756;p54"/>
                <p:cNvCxnSpPr/>
                <p:nvPr/>
              </p:nvCxnSpPr>
              <p:spPr>
                <a:xfrm flipH="1">
                  <a:off x="3122640" y="1872360"/>
                  <a:ext cx="483120" cy="867240"/>
                </a:xfrm>
                <a:prstGeom prst="straightConnector1">
                  <a:avLst/>
                </a:prstGeom>
                <a:noFill/>
                <a:ln cap="flat" cmpd="sng" w="28425">
                  <a:solidFill>
                    <a:srgbClr val="00206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757" name="Google Shape;757;p54"/>
              <p:cNvSpPr/>
              <p:nvPr/>
            </p:nvSpPr>
            <p:spPr>
              <a:xfrm>
                <a:off x="3523680" y="1785240"/>
                <a:ext cx="158760" cy="14724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758" name="Google Shape;758;p54"/>
            <p:cNvCxnSpPr/>
            <p:nvPr/>
          </p:nvCxnSpPr>
          <p:spPr>
            <a:xfrm flipH="1">
              <a:off x="4485240" y="1872360"/>
              <a:ext cx="483120" cy="86724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759" name="Google Shape;759;p54"/>
            <p:cNvGrpSpPr/>
            <p:nvPr/>
          </p:nvGrpSpPr>
          <p:grpSpPr>
            <a:xfrm>
              <a:off x="5929560" y="1828800"/>
              <a:ext cx="1090800" cy="963000"/>
              <a:chOff x="5929560" y="1828800"/>
              <a:chExt cx="1090800" cy="963000"/>
            </a:xfrm>
          </p:grpSpPr>
          <p:sp>
            <p:nvSpPr>
              <p:cNvPr id="760" name="Google Shape;760;p54"/>
              <p:cNvSpPr/>
              <p:nvPr/>
            </p:nvSpPr>
            <p:spPr>
              <a:xfrm>
                <a:off x="6418800" y="1828800"/>
                <a:ext cx="98280" cy="9144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1" name="Google Shape;761;p54"/>
              <p:cNvSpPr/>
              <p:nvPr/>
            </p:nvSpPr>
            <p:spPr>
              <a:xfrm>
                <a:off x="5929560" y="2700360"/>
                <a:ext cx="98280" cy="9144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2" name="Google Shape;762;p54"/>
              <p:cNvSpPr/>
              <p:nvPr/>
            </p:nvSpPr>
            <p:spPr>
              <a:xfrm>
                <a:off x="6922080" y="2680560"/>
                <a:ext cx="98280" cy="9144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3" name="Google Shape;763;p54"/>
          <p:cNvGrpSpPr/>
          <p:nvPr/>
        </p:nvGrpSpPr>
        <p:grpSpPr>
          <a:xfrm>
            <a:off x="1666080" y="3545280"/>
            <a:ext cx="7479360" cy="2445840"/>
            <a:chOff x="1666080" y="3545280"/>
            <a:chExt cx="7479360" cy="2445840"/>
          </a:xfrm>
        </p:grpSpPr>
        <p:grpSp>
          <p:nvGrpSpPr>
            <p:cNvPr id="764" name="Google Shape;764;p54"/>
            <p:cNvGrpSpPr/>
            <p:nvPr/>
          </p:nvGrpSpPr>
          <p:grpSpPr>
            <a:xfrm>
              <a:off x="1666080" y="3545280"/>
              <a:ext cx="1109880" cy="1175400"/>
              <a:chOff x="1666080" y="3545280"/>
              <a:chExt cx="1109880" cy="1175400"/>
            </a:xfrm>
          </p:grpSpPr>
          <p:sp>
            <p:nvSpPr>
              <p:cNvPr id="765" name="Google Shape;765;p54"/>
              <p:cNvSpPr/>
              <p:nvPr/>
            </p:nvSpPr>
            <p:spPr>
              <a:xfrm>
                <a:off x="166608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6" name="Google Shape;766;p54"/>
              <p:cNvSpPr/>
              <p:nvPr/>
            </p:nvSpPr>
            <p:spPr>
              <a:xfrm>
                <a:off x="166608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7" name="Google Shape;767;p54"/>
              <p:cNvSpPr/>
              <p:nvPr/>
            </p:nvSpPr>
            <p:spPr>
              <a:xfrm>
                <a:off x="258264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8" name="Google Shape;768;p54"/>
              <p:cNvSpPr/>
              <p:nvPr/>
            </p:nvSpPr>
            <p:spPr>
              <a:xfrm>
                <a:off x="258264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69" name="Google Shape;769;p54"/>
              <p:cNvCxnSpPr/>
              <p:nvPr/>
            </p:nvCxnSpPr>
            <p:spPr>
              <a:xfrm>
                <a:off x="1762560" y="37627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70" name="Google Shape;770;p54"/>
              <p:cNvCxnSpPr/>
              <p:nvPr/>
            </p:nvCxnSpPr>
            <p:spPr>
              <a:xfrm>
                <a:off x="2659680" y="37645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71" name="Google Shape;771;p54"/>
              <p:cNvCxnSpPr/>
              <p:nvPr/>
            </p:nvCxnSpPr>
            <p:spPr>
              <a:xfrm>
                <a:off x="1863000" y="4600080"/>
                <a:ext cx="719640" cy="1188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72" name="Google Shape;772;p54"/>
              <p:cNvCxnSpPr/>
              <p:nvPr/>
            </p:nvCxnSpPr>
            <p:spPr>
              <a:xfrm>
                <a:off x="1840320" y="3717720"/>
                <a:ext cx="770760" cy="81756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73" name="Google Shape;773;p54"/>
              <p:cNvCxnSpPr/>
              <p:nvPr/>
            </p:nvCxnSpPr>
            <p:spPr>
              <a:xfrm flipH="1" rot="10800000">
                <a:off x="1831320" y="3730680"/>
                <a:ext cx="779760" cy="80460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74" name="Google Shape;774;p54"/>
              <p:cNvCxnSpPr/>
              <p:nvPr/>
            </p:nvCxnSpPr>
            <p:spPr>
              <a:xfrm>
                <a:off x="1859400" y="365400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775" name="Google Shape;775;p54"/>
            <p:cNvGrpSpPr/>
            <p:nvPr/>
          </p:nvGrpSpPr>
          <p:grpSpPr>
            <a:xfrm>
              <a:off x="2939760" y="3545280"/>
              <a:ext cx="1110240" cy="1175400"/>
              <a:chOff x="2939760" y="3545280"/>
              <a:chExt cx="1110240" cy="1175400"/>
            </a:xfrm>
          </p:grpSpPr>
          <p:sp>
            <p:nvSpPr>
              <p:cNvPr id="776" name="Google Shape;776;p54"/>
              <p:cNvSpPr/>
              <p:nvPr/>
            </p:nvSpPr>
            <p:spPr>
              <a:xfrm>
                <a:off x="293976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7" name="Google Shape;777;p54"/>
              <p:cNvSpPr/>
              <p:nvPr/>
            </p:nvSpPr>
            <p:spPr>
              <a:xfrm>
                <a:off x="293976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8" name="Google Shape;778;p54"/>
              <p:cNvSpPr/>
              <p:nvPr/>
            </p:nvSpPr>
            <p:spPr>
              <a:xfrm>
                <a:off x="385668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79" name="Google Shape;779;p54"/>
              <p:cNvSpPr/>
              <p:nvPr/>
            </p:nvSpPr>
            <p:spPr>
              <a:xfrm>
                <a:off x="385668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80" name="Google Shape;780;p54"/>
              <p:cNvCxnSpPr/>
              <p:nvPr/>
            </p:nvCxnSpPr>
            <p:spPr>
              <a:xfrm>
                <a:off x="3036600" y="37627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81" name="Google Shape;781;p54"/>
              <p:cNvCxnSpPr/>
              <p:nvPr/>
            </p:nvCxnSpPr>
            <p:spPr>
              <a:xfrm>
                <a:off x="3933720" y="37645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82" name="Google Shape;782;p54"/>
              <p:cNvCxnSpPr/>
              <p:nvPr/>
            </p:nvCxnSpPr>
            <p:spPr>
              <a:xfrm>
                <a:off x="3114360" y="3717720"/>
                <a:ext cx="770400" cy="81756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83" name="Google Shape;783;p54"/>
              <p:cNvCxnSpPr/>
              <p:nvPr/>
            </p:nvCxnSpPr>
            <p:spPr>
              <a:xfrm flipH="1" rot="10800000">
                <a:off x="3105000" y="3730680"/>
                <a:ext cx="779760" cy="80460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84" name="Google Shape;784;p54"/>
              <p:cNvCxnSpPr/>
              <p:nvPr/>
            </p:nvCxnSpPr>
            <p:spPr>
              <a:xfrm>
                <a:off x="3133440" y="3654000"/>
                <a:ext cx="72288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785" name="Google Shape;785;p54"/>
            <p:cNvGrpSpPr/>
            <p:nvPr/>
          </p:nvGrpSpPr>
          <p:grpSpPr>
            <a:xfrm>
              <a:off x="4213800" y="3545280"/>
              <a:ext cx="1110240" cy="1175400"/>
              <a:chOff x="4213800" y="3545280"/>
              <a:chExt cx="1110240" cy="1175400"/>
            </a:xfrm>
          </p:grpSpPr>
          <p:sp>
            <p:nvSpPr>
              <p:cNvPr id="786" name="Google Shape;786;p54"/>
              <p:cNvSpPr/>
              <p:nvPr/>
            </p:nvSpPr>
            <p:spPr>
              <a:xfrm>
                <a:off x="421380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54"/>
              <p:cNvSpPr/>
              <p:nvPr/>
            </p:nvSpPr>
            <p:spPr>
              <a:xfrm>
                <a:off x="421380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54"/>
              <p:cNvSpPr/>
              <p:nvPr/>
            </p:nvSpPr>
            <p:spPr>
              <a:xfrm>
                <a:off x="513072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54"/>
              <p:cNvSpPr/>
              <p:nvPr/>
            </p:nvSpPr>
            <p:spPr>
              <a:xfrm>
                <a:off x="513072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90" name="Google Shape;790;p54"/>
              <p:cNvCxnSpPr/>
              <p:nvPr/>
            </p:nvCxnSpPr>
            <p:spPr>
              <a:xfrm>
                <a:off x="4310280" y="37627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54"/>
              <p:cNvCxnSpPr/>
              <p:nvPr/>
            </p:nvCxnSpPr>
            <p:spPr>
              <a:xfrm>
                <a:off x="4388040" y="3717720"/>
                <a:ext cx="770760" cy="81756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54"/>
              <p:cNvCxnSpPr/>
              <p:nvPr/>
            </p:nvCxnSpPr>
            <p:spPr>
              <a:xfrm flipH="1" rot="10800000">
                <a:off x="4379040" y="3730680"/>
                <a:ext cx="779760" cy="80460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54"/>
              <p:cNvCxnSpPr/>
              <p:nvPr/>
            </p:nvCxnSpPr>
            <p:spPr>
              <a:xfrm>
                <a:off x="4407120" y="365400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794" name="Google Shape;794;p54"/>
            <p:cNvGrpSpPr/>
            <p:nvPr/>
          </p:nvGrpSpPr>
          <p:grpSpPr>
            <a:xfrm>
              <a:off x="5487480" y="3545280"/>
              <a:ext cx="1110240" cy="1175400"/>
              <a:chOff x="5487480" y="3545280"/>
              <a:chExt cx="1110240" cy="1175400"/>
            </a:xfrm>
          </p:grpSpPr>
          <p:sp>
            <p:nvSpPr>
              <p:cNvPr id="795" name="Google Shape;795;p54"/>
              <p:cNvSpPr/>
              <p:nvPr/>
            </p:nvSpPr>
            <p:spPr>
              <a:xfrm>
                <a:off x="548748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54"/>
              <p:cNvSpPr/>
              <p:nvPr/>
            </p:nvSpPr>
            <p:spPr>
              <a:xfrm>
                <a:off x="548748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54"/>
              <p:cNvSpPr/>
              <p:nvPr/>
            </p:nvSpPr>
            <p:spPr>
              <a:xfrm>
                <a:off x="640440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54"/>
              <p:cNvSpPr/>
              <p:nvPr/>
            </p:nvSpPr>
            <p:spPr>
              <a:xfrm>
                <a:off x="640440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799" name="Google Shape;799;p54"/>
              <p:cNvCxnSpPr/>
              <p:nvPr/>
            </p:nvCxnSpPr>
            <p:spPr>
              <a:xfrm>
                <a:off x="5584320" y="37627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00" name="Google Shape;800;p54"/>
              <p:cNvCxnSpPr/>
              <p:nvPr/>
            </p:nvCxnSpPr>
            <p:spPr>
              <a:xfrm>
                <a:off x="5662080" y="3717720"/>
                <a:ext cx="770400" cy="81756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01" name="Google Shape;801;p54"/>
              <p:cNvCxnSpPr/>
              <p:nvPr/>
            </p:nvCxnSpPr>
            <p:spPr>
              <a:xfrm>
                <a:off x="5681160" y="365400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02" name="Google Shape;802;p54"/>
            <p:cNvGrpSpPr/>
            <p:nvPr/>
          </p:nvGrpSpPr>
          <p:grpSpPr>
            <a:xfrm>
              <a:off x="6761520" y="3545280"/>
              <a:ext cx="1110240" cy="1175400"/>
              <a:chOff x="6761520" y="3545280"/>
              <a:chExt cx="1110240" cy="1175400"/>
            </a:xfrm>
          </p:grpSpPr>
          <p:sp>
            <p:nvSpPr>
              <p:cNvPr id="803" name="Google Shape;803;p54"/>
              <p:cNvSpPr/>
              <p:nvPr/>
            </p:nvSpPr>
            <p:spPr>
              <a:xfrm>
                <a:off x="676152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54"/>
              <p:cNvSpPr/>
              <p:nvPr/>
            </p:nvSpPr>
            <p:spPr>
              <a:xfrm>
                <a:off x="676152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54"/>
              <p:cNvSpPr/>
              <p:nvPr/>
            </p:nvSpPr>
            <p:spPr>
              <a:xfrm>
                <a:off x="767844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54"/>
              <p:cNvSpPr/>
              <p:nvPr/>
            </p:nvSpPr>
            <p:spPr>
              <a:xfrm>
                <a:off x="767844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07" name="Google Shape;807;p54"/>
              <p:cNvCxnSpPr/>
              <p:nvPr/>
            </p:nvCxnSpPr>
            <p:spPr>
              <a:xfrm>
                <a:off x="6858000" y="37627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08" name="Google Shape;808;p54"/>
              <p:cNvCxnSpPr/>
              <p:nvPr/>
            </p:nvCxnSpPr>
            <p:spPr>
              <a:xfrm>
                <a:off x="7755120" y="37645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09" name="Google Shape;809;p54"/>
              <p:cNvCxnSpPr/>
              <p:nvPr/>
            </p:nvCxnSpPr>
            <p:spPr>
              <a:xfrm>
                <a:off x="6958440" y="4600080"/>
                <a:ext cx="719640" cy="1188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10" name="Google Shape;810;p54"/>
              <p:cNvCxnSpPr/>
              <p:nvPr/>
            </p:nvCxnSpPr>
            <p:spPr>
              <a:xfrm>
                <a:off x="6954840" y="365400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11" name="Google Shape;811;p54"/>
            <p:cNvGrpSpPr/>
            <p:nvPr/>
          </p:nvGrpSpPr>
          <p:grpSpPr>
            <a:xfrm>
              <a:off x="8035200" y="3545280"/>
              <a:ext cx="1110240" cy="1175400"/>
              <a:chOff x="8035200" y="3545280"/>
              <a:chExt cx="1110240" cy="1175400"/>
            </a:xfrm>
          </p:grpSpPr>
          <p:sp>
            <p:nvSpPr>
              <p:cNvPr id="812" name="Google Shape;812;p54"/>
              <p:cNvSpPr/>
              <p:nvPr/>
            </p:nvSpPr>
            <p:spPr>
              <a:xfrm>
                <a:off x="803520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54"/>
              <p:cNvSpPr/>
              <p:nvPr/>
            </p:nvSpPr>
            <p:spPr>
              <a:xfrm>
                <a:off x="803520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54"/>
              <p:cNvSpPr/>
              <p:nvPr/>
            </p:nvSpPr>
            <p:spPr>
              <a:xfrm>
                <a:off x="8952120" y="354528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54"/>
              <p:cNvSpPr/>
              <p:nvPr/>
            </p:nvSpPr>
            <p:spPr>
              <a:xfrm>
                <a:off x="8952120" y="450360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16" name="Google Shape;816;p54"/>
              <p:cNvCxnSpPr/>
              <p:nvPr/>
            </p:nvCxnSpPr>
            <p:spPr>
              <a:xfrm>
                <a:off x="8132040" y="37627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17" name="Google Shape;817;p54"/>
              <p:cNvCxnSpPr/>
              <p:nvPr/>
            </p:nvCxnSpPr>
            <p:spPr>
              <a:xfrm>
                <a:off x="9029160" y="376452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18" name="Google Shape;818;p54"/>
              <p:cNvCxnSpPr/>
              <p:nvPr/>
            </p:nvCxnSpPr>
            <p:spPr>
              <a:xfrm>
                <a:off x="8228880" y="365400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19" name="Google Shape;819;p54"/>
            <p:cNvGrpSpPr/>
            <p:nvPr/>
          </p:nvGrpSpPr>
          <p:grpSpPr>
            <a:xfrm>
              <a:off x="1669320" y="4815720"/>
              <a:ext cx="1110240" cy="1175400"/>
              <a:chOff x="1669320" y="4815720"/>
              <a:chExt cx="1110240" cy="1175400"/>
            </a:xfrm>
          </p:grpSpPr>
          <p:sp>
            <p:nvSpPr>
              <p:cNvPr id="820" name="Google Shape;820;p54"/>
              <p:cNvSpPr/>
              <p:nvPr/>
            </p:nvSpPr>
            <p:spPr>
              <a:xfrm>
                <a:off x="166932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54"/>
              <p:cNvSpPr/>
              <p:nvPr/>
            </p:nvSpPr>
            <p:spPr>
              <a:xfrm>
                <a:off x="166932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54"/>
              <p:cNvSpPr/>
              <p:nvPr/>
            </p:nvSpPr>
            <p:spPr>
              <a:xfrm>
                <a:off x="258624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54"/>
              <p:cNvSpPr/>
              <p:nvPr/>
            </p:nvSpPr>
            <p:spPr>
              <a:xfrm>
                <a:off x="258624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24" name="Google Shape;824;p54"/>
              <p:cNvCxnSpPr/>
              <p:nvPr/>
            </p:nvCxnSpPr>
            <p:spPr>
              <a:xfrm>
                <a:off x="1766160" y="503316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25" name="Google Shape;825;p54"/>
              <p:cNvCxnSpPr/>
              <p:nvPr/>
            </p:nvCxnSpPr>
            <p:spPr>
              <a:xfrm flipH="1" rot="10800000">
                <a:off x="1834560" y="5001480"/>
                <a:ext cx="779760" cy="80424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26" name="Google Shape;826;p54"/>
              <p:cNvCxnSpPr/>
              <p:nvPr/>
            </p:nvCxnSpPr>
            <p:spPr>
              <a:xfrm>
                <a:off x="1863000" y="492444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27" name="Google Shape;827;p54"/>
            <p:cNvGrpSpPr/>
            <p:nvPr/>
          </p:nvGrpSpPr>
          <p:grpSpPr>
            <a:xfrm>
              <a:off x="2944080" y="4815720"/>
              <a:ext cx="1110240" cy="1175400"/>
              <a:chOff x="2944080" y="4815720"/>
              <a:chExt cx="1110240" cy="1175400"/>
            </a:xfrm>
          </p:grpSpPr>
          <p:sp>
            <p:nvSpPr>
              <p:cNvPr id="828" name="Google Shape;828;p54"/>
              <p:cNvSpPr/>
              <p:nvPr/>
            </p:nvSpPr>
            <p:spPr>
              <a:xfrm>
                <a:off x="294408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54"/>
              <p:cNvSpPr/>
              <p:nvPr/>
            </p:nvSpPr>
            <p:spPr>
              <a:xfrm>
                <a:off x="294408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54"/>
              <p:cNvSpPr/>
              <p:nvPr/>
            </p:nvSpPr>
            <p:spPr>
              <a:xfrm>
                <a:off x="386100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54"/>
              <p:cNvSpPr/>
              <p:nvPr/>
            </p:nvSpPr>
            <p:spPr>
              <a:xfrm>
                <a:off x="386100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32" name="Google Shape;832;p54"/>
              <p:cNvCxnSpPr/>
              <p:nvPr/>
            </p:nvCxnSpPr>
            <p:spPr>
              <a:xfrm>
                <a:off x="3040920" y="5033160"/>
                <a:ext cx="0" cy="74052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33" name="Google Shape;833;p54"/>
              <p:cNvCxnSpPr/>
              <p:nvPr/>
            </p:nvCxnSpPr>
            <p:spPr>
              <a:xfrm>
                <a:off x="3137760" y="492444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34" name="Google Shape;834;p54"/>
            <p:cNvGrpSpPr/>
            <p:nvPr/>
          </p:nvGrpSpPr>
          <p:grpSpPr>
            <a:xfrm>
              <a:off x="4218840" y="4815720"/>
              <a:ext cx="1110240" cy="1175400"/>
              <a:chOff x="4218840" y="4815720"/>
              <a:chExt cx="1110240" cy="1175400"/>
            </a:xfrm>
          </p:grpSpPr>
          <p:sp>
            <p:nvSpPr>
              <p:cNvPr id="835" name="Google Shape;835;p54"/>
              <p:cNvSpPr/>
              <p:nvPr/>
            </p:nvSpPr>
            <p:spPr>
              <a:xfrm>
                <a:off x="421884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54"/>
              <p:cNvSpPr/>
              <p:nvPr/>
            </p:nvSpPr>
            <p:spPr>
              <a:xfrm>
                <a:off x="421884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54"/>
              <p:cNvSpPr/>
              <p:nvPr/>
            </p:nvSpPr>
            <p:spPr>
              <a:xfrm>
                <a:off x="513576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54"/>
              <p:cNvSpPr/>
              <p:nvPr/>
            </p:nvSpPr>
            <p:spPr>
              <a:xfrm>
                <a:off x="513576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39" name="Google Shape;839;p54"/>
              <p:cNvCxnSpPr/>
              <p:nvPr/>
            </p:nvCxnSpPr>
            <p:spPr>
              <a:xfrm>
                <a:off x="4415760" y="5870520"/>
                <a:ext cx="720000" cy="1188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  <p:cxnSp>
            <p:nvCxnSpPr>
              <p:cNvPr id="840" name="Google Shape;840;p54"/>
              <p:cNvCxnSpPr/>
              <p:nvPr/>
            </p:nvCxnSpPr>
            <p:spPr>
              <a:xfrm>
                <a:off x="4412520" y="492444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41" name="Google Shape;841;p54"/>
            <p:cNvGrpSpPr/>
            <p:nvPr/>
          </p:nvGrpSpPr>
          <p:grpSpPr>
            <a:xfrm>
              <a:off x="5493600" y="4815720"/>
              <a:ext cx="1110240" cy="1175400"/>
              <a:chOff x="5493600" y="4815720"/>
              <a:chExt cx="1110240" cy="1175400"/>
            </a:xfrm>
          </p:grpSpPr>
          <p:sp>
            <p:nvSpPr>
              <p:cNvPr id="842" name="Google Shape;842;p54"/>
              <p:cNvSpPr/>
              <p:nvPr/>
            </p:nvSpPr>
            <p:spPr>
              <a:xfrm>
                <a:off x="549360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54"/>
              <p:cNvSpPr/>
              <p:nvPr/>
            </p:nvSpPr>
            <p:spPr>
              <a:xfrm>
                <a:off x="549360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54"/>
              <p:cNvSpPr/>
              <p:nvPr/>
            </p:nvSpPr>
            <p:spPr>
              <a:xfrm>
                <a:off x="641052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5" name="Google Shape;845;p54"/>
              <p:cNvSpPr/>
              <p:nvPr/>
            </p:nvSpPr>
            <p:spPr>
              <a:xfrm>
                <a:off x="641052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cxnSp>
            <p:nvCxnSpPr>
              <p:cNvPr id="846" name="Google Shape;846;p54"/>
              <p:cNvCxnSpPr/>
              <p:nvPr/>
            </p:nvCxnSpPr>
            <p:spPr>
              <a:xfrm>
                <a:off x="5687280" y="4924440"/>
                <a:ext cx="723240" cy="0"/>
              </a:xfrm>
              <a:prstGeom prst="straightConnector1">
                <a:avLst/>
              </a:prstGeom>
              <a:noFill/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</p:cxnSp>
        </p:grpSp>
        <p:grpSp>
          <p:nvGrpSpPr>
            <p:cNvPr id="847" name="Google Shape;847;p54"/>
            <p:cNvGrpSpPr/>
            <p:nvPr/>
          </p:nvGrpSpPr>
          <p:grpSpPr>
            <a:xfrm>
              <a:off x="6768360" y="4815720"/>
              <a:ext cx="1110240" cy="1175400"/>
              <a:chOff x="6768360" y="4815720"/>
              <a:chExt cx="1110240" cy="1175400"/>
            </a:xfrm>
          </p:grpSpPr>
          <p:sp>
            <p:nvSpPr>
              <p:cNvPr id="848" name="Google Shape;848;p54"/>
              <p:cNvSpPr/>
              <p:nvPr/>
            </p:nvSpPr>
            <p:spPr>
              <a:xfrm>
                <a:off x="676836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9" name="Google Shape;849;p54"/>
              <p:cNvSpPr/>
              <p:nvPr/>
            </p:nvSpPr>
            <p:spPr>
              <a:xfrm>
                <a:off x="676836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0" name="Google Shape;850;p54"/>
              <p:cNvSpPr/>
              <p:nvPr/>
            </p:nvSpPr>
            <p:spPr>
              <a:xfrm>
                <a:off x="7685280" y="481572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1" name="Google Shape;851;p54"/>
              <p:cNvSpPr/>
              <p:nvPr/>
            </p:nvSpPr>
            <p:spPr>
              <a:xfrm>
                <a:off x="7685280" y="5774040"/>
                <a:ext cx="193320" cy="217080"/>
              </a:xfrm>
              <a:prstGeom prst="ellipse">
                <a:avLst/>
              </a:prstGeom>
              <a:solidFill>
                <a:schemeClr val="lt1"/>
              </a:solidFill>
              <a:ln cap="flat" cmpd="sng" w="38150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52" name="Google Shape;852;p54"/>
          <p:cNvSpPr/>
          <p:nvPr/>
        </p:nvSpPr>
        <p:spPr>
          <a:xfrm>
            <a:off x="1177920" y="2895480"/>
            <a:ext cx="5281200" cy="456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US" sz="2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For k = 4, there are 11 graphlets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54"/>
          <p:cNvSpPr/>
          <p:nvPr/>
        </p:nvSpPr>
        <p:spPr>
          <a:xfrm>
            <a:off x="1667160" y="270972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4" name="Google Shape;854;p54"/>
          <p:cNvSpPr/>
          <p:nvPr/>
        </p:nvSpPr>
        <p:spPr>
          <a:xfrm>
            <a:off x="2677320" y="269676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5" name="Google Shape;855;p54"/>
          <p:cNvSpPr/>
          <p:nvPr/>
        </p:nvSpPr>
        <p:spPr>
          <a:xfrm>
            <a:off x="3018240" y="269676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6" name="Google Shape;856;p54"/>
          <p:cNvSpPr/>
          <p:nvPr/>
        </p:nvSpPr>
        <p:spPr>
          <a:xfrm>
            <a:off x="4010040" y="268128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7" name="Google Shape;857;p54"/>
          <p:cNvSpPr/>
          <p:nvPr/>
        </p:nvSpPr>
        <p:spPr>
          <a:xfrm>
            <a:off x="4878000" y="176688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8" name="Google Shape;858;p54"/>
          <p:cNvSpPr/>
          <p:nvPr/>
        </p:nvSpPr>
        <p:spPr>
          <a:xfrm>
            <a:off x="4381920" y="268128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9" name="Google Shape;859;p54"/>
          <p:cNvSpPr/>
          <p:nvPr/>
        </p:nvSpPr>
        <p:spPr>
          <a:xfrm>
            <a:off x="5373720" y="265032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0" name="Google Shape;860;p54"/>
          <p:cNvSpPr/>
          <p:nvPr/>
        </p:nvSpPr>
        <p:spPr>
          <a:xfrm>
            <a:off x="6396840" y="178236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1" name="Google Shape;861;p54"/>
          <p:cNvSpPr/>
          <p:nvPr/>
        </p:nvSpPr>
        <p:spPr>
          <a:xfrm>
            <a:off x="5900760" y="265032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2" name="Google Shape;862;p54"/>
          <p:cNvSpPr/>
          <p:nvPr/>
        </p:nvSpPr>
        <p:spPr>
          <a:xfrm>
            <a:off x="6908040" y="2665800"/>
            <a:ext cx="174240" cy="16164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Google Shape;867;p5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8" name="Google Shape;868;p5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Graphlet features: examples (nodes=3)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69" name="Google Shape;869;p5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0" name="Google Shape;870;p55"/>
          <p:cNvSpPr/>
          <p:nvPr/>
        </p:nvSpPr>
        <p:spPr>
          <a:xfrm>
            <a:off x="2610720" y="2004840"/>
            <a:ext cx="193320" cy="217080"/>
          </a:xfrm>
          <a:prstGeom prst="ellipse">
            <a:avLst/>
          </a:prstGeom>
          <a:solidFill>
            <a:srgbClr val="FF0000"/>
          </a:solidFill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1" name="Google Shape;871;p55"/>
          <p:cNvSpPr/>
          <p:nvPr/>
        </p:nvSpPr>
        <p:spPr>
          <a:xfrm>
            <a:off x="2610720" y="2962800"/>
            <a:ext cx="193320" cy="217080"/>
          </a:xfrm>
          <a:prstGeom prst="ellipse">
            <a:avLst/>
          </a:prstGeom>
          <a:solidFill>
            <a:srgbClr val="FF0000"/>
          </a:solidFill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55"/>
          <p:cNvSpPr/>
          <p:nvPr/>
        </p:nvSpPr>
        <p:spPr>
          <a:xfrm>
            <a:off x="3527640" y="2004840"/>
            <a:ext cx="193320" cy="217080"/>
          </a:xfrm>
          <a:prstGeom prst="ellipse">
            <a:avLst/>
          </a:prstGeom>
          <a:solidFill>
            <a:srgbClr val="FF0000"/>
          </a:solidFill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55"/>
          <p:cNvSpPr/>
          <p:nvPr/>
        </p:nvSpPr>
        <p:spPr>
          <a:xfrm>
            <a:off x="3527640" y="2962800"/>
            <a:ext cx="193320" cy="217080"/>
          </a:xfrm>
          <a:prstGeom prst="ellipse">
            <a:avLst/>
          </a:prstGeom>
          <a:solidFill>
            <a:srgbClr val="FF0000"/>
          </a:solidFill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4" name="Google Shape;874;p55"/>
          <p:cNvCxnSpPr/>
          <p:nvPr/>
        </p:nvCxnSpPr>
        <p:spPr>
          <a:xfrm>
            <a:off x="3624120" y="2222280"/>
            <a:ext cx="0" cy="740520"/>
          </a:xfrm>
          <a:prstGeom prst="straightConnector1">
            <a:avLst/>
          </a:prstGeom>
          <a:noFill/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75" name="Google Shape;875;p55"/>
          <p:cNvCxnSpPr/>
          <p:nvPr/>
        </p:nvCxnSpPr>
        <p:spPr>
          <a:xfrm>
            <a:off x="2807640" y="3059640"/>
            <a:ext cx="719640" cy="11880"/>
          </a:xfrm>
          <a:prstGeom prst="straightConnector1">
            <a:avLst/>
          </a:prstGeom>
          <a:noFill/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76" name="Google Shape;876;p55"/>
          <p:cNvCxnSpPr/>
          <p:nvPr/>
        </p:nvCxnSpPr>
        <p:spPr>
          <a:xfrm>
            <a:off x="2804400" y="2113560"/>
            <a:ext cx="722880" cy="0"/>
          </a:xfrm>
          <a:prstGeom prst="straightConnector1">
            <a:avLst/>
          </a:prstGeom>
          <a:noFill/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77" name="Google Shape;877;p55"/>
          <p:cNvCxnSpPr/>
          <p:nvPr/>
        </p:nvCxnSpPr>
        <p:spPr>
          <a:xfrm>
            <a:off x="2698560" y="2224440"/>
            <a:ext cx="0" cy="740520"/>
          </a:xfrm>
          <a:prstGeom prst="straightConnector1">
            <a:avLst/>
          </a:prstGeom>
          <a:noFill/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878" name="Google Shape;878;p55"/>
          <p:cNvSpPr/>
          <p:nvPr/>
        </p:nvSpPr>
        <p:spPr>
          <a:xfrm>
            <a:off x="1657800" y="2405520"/>
            <a:ext cx="193320" cy="217080"/>
          </a:xfrm>
          <a:prstGeom prst="ellipse">
            <a:avLst/>
          </a:prstGeom>
          <a:solidFill>
            <a:srgbClr val="FF0000"/>
          </a:solidFill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9" name="Google Shape;879;p55"/>
          <p:cNvCxnSpPr/>
          <p:nvPr/>
        </p:nvCxnSpPr>
        <p:spPr>
          <a:xfrm flipH="1" rot="10800000">
            <a:off x="1823760" y="2190240"/>
            <a:ext cx="815040" cy="348480"/>
          </a:xfrm>
          <a:prstGeom prst="straightConnector1">
            <a:avLst/>
          </a:prstGeom>
          <a:noFill/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cxnSp>
        <p:nvCxnSpPr>
          <p:cNvPr id="880" name="Google Shape;880;p55"/>
          <p:cNvCxnSpPr/>
          <p:nvPr/>
        </p:nvCxnSpPr>
        <p:spPr>
          <a:xfrm>
            <a:off x="1791360" y="2595600"/>
            <a:ext cx="819000" cy="475920"/>
          </a:xfrm>
          <a:prstGeom prst="straightConnector1">
            <a:avLst/>
          </a:prstGeom>
          <a:noFill/>
          <a:ln cap="flat" cmpd="sng" w="3815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cxnSp>
      <p:grpSp>
        <p:nvGrpSpPr>
          <p:cNvPr id="881" name="Google Shape;881;p55"/>
          <p:cNvGrpSpPr/>
          <p:nvPr/>
        </p:nvGrpSpPr>
        <p:grpSpPr>
          <a:xfrm>
            <a:off x="4681080" y="2093400"/>
            <a:ext cx="4316400" cy="768600"/>
            <a:chOff x="4681080" y="2093400"/>
            <a:chExt cx="4316400" cy="768600"/>
          </a:xfrm>
        </p:grpSpPr>
        <p:grpSp>
          <p:nvGrpSpPr>
            <p:cNvPr id="882" name="Google Shape;882;p55"/>
            <p:cNvGrpSpPr/>
            <p:nvPr/>
          </p:nvGrpSpPr>
          <p:grpSpPr>
            <a:xfrm>
              <a:off x="4681080" y="2103480"/>
              <a:ext cx="870480" cy="758520"/>
              <a:chOff x="4681080" y="2103480"/>
              <a:chExt cx="870480" cy="758520"/>
            </a:xfrm>
          </p:grpSpPr>
          <p:sp>
            <p:nvSpPr>
              <p:cNvPr id="883" name="Google Shape;883;p55"/>
              <p:cNvSpPr/>
              <p:nvPr/>
            </p:nvSpPr>
            <p:spPr>
              <a:xfrm>
                <a:off x="4681080" y="2193120"/>
                <a:ext cx="870480" cy="668880"/>
              </a:xfrm>
              <a:prstGeom prst="triangle">
                <a:avLst>
                  <a:gd fmla="val 50000" name="adj"/>
                </a:avLst>
              </a:prstGeom>
              <a:noFill/>
              <a:ln cap="flat" cmpd="sng" w="28425">
                <a:solidFill>
                  <a:schemeClr val="dk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55"/>
              <p:cNvSpPr/>
              <p:nvPr/>
            </p:nvSpPr>
            <p:spPr>
              <a:xfrm>
                <a:off x="5033520" y="2103480"/>
                <a:ext cx="147960" cy="11628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885" name="Google Shape;885;p55"/>
            <p:cNvGrpSpPr/>
            <p:nvPr/>
          </p:nvGrpSpPr>
          <p:grpSpPr>
            <a:xfrm>
              <a:off x="5847480" y="2116800"/>
              <a:ext cx="835560" cy="687600"/>
              <a:chOff x="5847480" y="2116800"/>
              <a:chExt cx="835560" cy="687600"/>
            </a:xfrm>
          </p:grpSpPr>
          <p:grpSp>
            <p:nvGrpSpPr>
              <p:cNvPr id="886" name="Google Shape;886;p55"/>
              <p:cNvGrpSpPr/>
              <p:nvPr/>
            </p:nvGrpSpPr>
            <p:grpSpPr>
              <a:xfrm>
                <a:off x="5847480" y="2178000"/>
                <a:ext cx="835560" cy="626400"/>
                <a:chOff x="5847480" y="2178000"/>
                <a:chExt cx="835560" cy="626400"/>
              </a:xfrm>
            </p:grpSpPr>
            <p:cxnSp>
              <p:nvCxnSpPr>
                <p:cNvPr id="887" name="Google Shape;887;p55"/>
                <p:cNvCxnSpPr/>
                <p:nvPr/>
              </p:nvCxnSpPr>
              <p:spPr>
                <a:xfrm>
                  <a:off x="6247080" y="2178000"/>
                  <a:ext cx="435960" cy="624600"/>
                </a:xfrm>
                <a:prstGeom prst="straightConnector1">
                  <a:avLst/>
                </a:prstGeom>
                <a:noFill/>
                <a:ln cap="flat" cmpd="sng" w="28425">
                  <a:solidFill>
                    <a:srgbClr val="00206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  <p:cxnSp>
              <p:nvCxnSpPr>
                <p:cNvPr id="888" name="Google Shape;888;p55"/>
                <p:cNvCxnSpPr/>
                <p:nvPr/>
              </p:nvCxnSpPr>
              <p:spPr>
                <a:xfrm flipH="1">
                  <a:off x="5847480" y="2179440"/>
                  <a:ext cx="411120" cy="624960"/>
                </a:xfrm>
                <a:prstGeom prst="straightConnector1">
                  <a:avLst/>
                </a:prstGeom>
                <a:noFill/>
                <a:ln cap="flat" cmpd="sng" w="28425">
                  <a:solidFill>
                    <a:srgbClr val="002060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889" name="Google Shape;889;p55"/>
              <p:cNvSpPr/>
              <p:nvPr/>
            </p:nvSpPr>
            <p:spPr>
              <a:xfrm>
                <a:off x="6188760" y="2116800"/>
                <a:ext cx="135000" cy="10620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cxnSp>
          <p:nvCxnSpPr>
            <p:cNvPr id="890" name="Google Shape;890;p55"/>
            <p:cNvCxnSpPr/>
            <p:nvPr/>
          </p:nvCxnSpPr>
          <p:spPr>
            <a:xfrm flipH="1">
              <a:off x="7006680" y="2179440"/>
              <a:ext cx="410760" cy="624960"/>
            </a:xfrm>
            <a:prstGeom prst="straightConnector1">
              <a:avLst/>
            </a:prstGeom>
            <a:noFill/>
            <a:ln cap="flat" cmpd="sng" w="28425">
              <a:solidFill>
                <a:srgbClr val="00206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grpSp>
          <p:nvGrpSpPr>
            <p:cNvPr id="891" name="Google Shape;891;p55"/>
            <p:cNvGrpSpPr/>
            <p:nvPr/>
          </p:nvGrpSpPr>
          <p:grpSpPr>
            <a:xfrm>
              <a:off x="8019360" y="2093400"/>
              <a:ext cx="978120" cy="733320"/>
              <a:chOff x="8019360" y="2093400"/>
              <a:chExt cx="978120" cy="733320"/>
            </a:xfrm>
          </p:grpSpPr>
          <p:sp>
            <p:nvSpPr>
              <p:cNvPr id="892" name="Google Shape;892;p55"/>
              <p:cNvSpPr/>
              <p:nvPr/>
            </p:nvSpPr>
            <p:spPr>
              <a:xfrm flipH="1">
                <a:off x="8435520" y="2093400"/>
                <a:ext cx="133920" cy="10512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55"/>
              <p:cNvSpPr/>
              <p:nvPr/>
            </p:nvSpPr>
            <p:spPr>
              <a:xfrm flipH="1">
                <a:off x="8019360" y="2721600"/>
                <a:ext cx="133920" cy="10512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55"/>
              <p:cNvSpPr/>
              <p:nvPr/>
            </p:nvSpPr>
            <p:spPr>
              <a:xfrm flipH="1">
                <a:off x="8863560" y="2707560"/>
                <a:ext cx="133920" cy="105120"/>
              </a:xfrm>
              <a:prstGeom prst="ellipse">
                <a:avLst/>
              </a:prstGeom>
              <a:solidFill>
                <a:srgbClr val="FF0000"/>
              </a:solidFill>
              <a:ln cap="flat" cmpd="sng" w="25400">
                <a:solidFill>
                  <a:srgbClr val="31538F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95" name="Google Shape;895;p55"/>
          <p:cNvSpPr/>
          <p:nvPr/>
        </p:nvSpPr>
        <p:spPr>
          <a:xfrm>
            <a:off x="7364880" y="2091600"/>
            <a:ext cx="135000" cy="1062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6" name="Google Shape;896;p55"/>
          <p:cNvSpPr/>
          <p:nvPr/>
        </p:nvSpPr>
        <p:spPr>
          <a:xfrm>
            <a:off x="6914520" y="2787840"/>
            <a:ext cx="135000" cy="1062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7" name="Google Shape;897;p55"/>
          <p:cNvSpPr/>
          <p:nvPr/>
        </p:nvSpPr>
        <p:spPr>
          <a:xfrm>
            <a:off x="4605840" y="2799000"/>
            <a:ext cx="135000" cy="1062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8" name="Google Shape;898;p55"/>
          <p:cNvSpPr/>
          <p:nvPr/>
        </p:nvSpPr>
        <p:spPr>
          <a:xfrm>
            <a:off x="5506560" y="2812680"/>
            <a:ext cx="135000" cy="1062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9" name="Google Shape;899;p55"/>
          <p:cNvSpPr/>
          <p:nvPr/>
        </p:nvSpPr>
        <p:spPr>
          <a:xfrm>
            <a:off x="5752080" y="2771640"/>
            <a:ext cx="135000" cy="1062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55"/>
          <p:cNvSpPr/>
          <p:nvPr/>
        </p:nvSpPr>
        <p:spPr>
          <a:xfrm>
            <a:off x="6625440" y="2771640"/>
            <a:ext cx="135000" cy="106200"/>
          </a:xfrm>
          <a:prstGeom prst="ellipse">
            <a:avLst/>
          </a:prstGeom>
          <a:solidFill>
            <a:srgbClr val="FF0000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1" name="Google Shape;901;p55"/>
          <p:cNvSpPr/>
          <p:nvPr/>
        </p:nvSpPr>
        <p:spPr>
          <a:xfrm>
            <a:off x="4200120" y="3347640"/>
            <a:ext cx="5408640" cy="6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= ( 1,     3,      6,    0)  </a:t>
            </a:r>
            <a:endParaRPr b="0" sz="36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5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7" name="Google Shape;907;p5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WL subtree kernel: BAG of Colors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08" name="Google Shape;908;p5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9" name="Google Shape;909;p56"/>
          <p:cNvSpPr/>
          <p:nvPr/>
        </p:nvSpPr>
        <p:spPr>
          <a:xfrm>
            <a:off x="1069560" y="1410480"/>
            <a:ext cx="10755360" cy="22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 </a:t>
            </a:r>
            <a:r>
              <a:rPr b="0" i="1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G</a:t>
            </a: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with nodes </a:t>
            </a:r>
            <a:r>
              <a:rPr b="0" i="1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V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assign an inital color to each node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iteratively refine node colors by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	)=HASH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where HASH maps different inputs into different colors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5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5" name="Google Shape;915;p5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WL subtree kernel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16" name="Google Shape;916;p5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17" name="Google Shape;917;p57"/>
          <p:cNvSpPr/>
          <p:nvPr/>
        </p:nvSpPr>
        <p:spPr>
          <a:xfrm>
            <a:off x="5992560" y="6488640"/>
            <a:ext cx="6198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264653"/>
                </a:solidFill>
                <a:latin typeface="Roboto Slab"/>
                <a:ea typeface="Roboto Slab"/>
                <a:cs typeface="Roboto Slab"/>
                <a:sym typeface="Roboto Slab"/>
              </a:rPr>
              <a:t>Weisfeiler-Lehman Graph Kernels(2011)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8" name="Google Shape;918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68280" y="1473120"/>
            <a:ext cx="9552240" cy="359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p5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4" name="Google Shape;924;p5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WL subtree kernel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25" name="Google Shape;925;p5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6" name="Google Shape;926;p58"/>
          <p:cNvSpPr/>
          <p:nvPr/>
        </p:nvSpPr>
        <p:spPr>
          <a:xfrm>
            <a:off x="5992560" y="6488640"/>
            <a:ext cx="6198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264653"/>
                </a:solidFill>
                <a:latin typeface="Roboto Slab"/>
                <a:ea typeface="Roboto Slab"/>
                <a:cs typeface="Roboto Slab"/>
                <a:sym typeface="Roboto Slab"/>
              </a:rPr>
              <a:t>Weisfeiler-Lehman Graph Kernels(2011)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7" name="Google Shape;92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480" y="1096920"/>
            <a:ext cx="4563720" cy="279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30000" y="1119600"/>
            <a:ext cx="5871240" cy="28166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2160" y="3783960"/>
            <a:ext cx="4293000" cy="2610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0" name="Google Shape;930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219280" y="3830760"/>
            <a:ext cx="4653000" cy="2661120"/>
          </a:xfrm>
          <a:prstGeom prst="rect">
            <a:avLst/>
          </a:prstGeom>
          <a:noFill/>
          <a:ln>
            <a:noFill/>
          </a:ln>
        </p:spPr>
      </p:pic>
      <p:sp>
        <p:nvSpPr>
          <p:cNvPr id="931" name="Google Shape;931;p58"/>
          <p:cNvSpPr/>
          <p:nvPr/>
        </p:nvSpPr>
        <p:spPr>
          <a:xfrm>
            <a:off x="6664320" y="883440"/>
            <a:ext cx="5020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agg. neighbor nodes(colors)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8"/>
          <p:cNvSpPr/>
          <p:nvPr/>
        </p:nvSpPr>
        <p:spPr>
          <a:xfrm>
            <a:off x="1082160" y="5840280"/>
            <a:ext cx="502092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7030A0"/>
                </a:solidFill>
                <a:latin typeface="Malgun Gothic"/>
                <a:ea typeface="Malgun Gothic"/>
                <a:cs typeface="Malgun Gothic"/>
                <a:sym typeface="Malgun Gothic"/>
              </a:rPr>
              <a:t>HASH table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6" name="Shape 9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7" name="Google Shape;937;p59"/>
          <p:cNvSpPr/>
          <p:nvPr/>
        </p:nvSpPr>
        <p:spPr>
          <a:xfrm>
            <a:off x="5992560" y="6488640"/>
            <a:ext cx="6198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264653"/>
                </a:solidFill>
                <a:latin typeface="Roboto Slab"/>
                <a:ea typeface="Roboto Slab"/>
                <a:cs typeface="Roboto Slab"/>
                <a:sym typeface="Roboto Slab"/>
              </a:rPr>
              <a:t>Weisfeiler-Lehman Graph Kernels(2011)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38" name="Google Shape;938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9960" y="383760"/>
            <a:ext cx="4588200" cy="28087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9" name="Google Shape;939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320" y="3279240"/>
            <a:ext cx="4888440" cy="2795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0" name="Google Shape;940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933440" y="613440"/>
            <a:ext cx="7139520" cy="5182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4" name="Shape 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Google Shape;945;p6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6" name="Google Shape;946;p6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WL subtree kernel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47" name="Google Shape;947;p6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48" name="Google Shape;948;p60"/>
          <p:cNvSpPr/>
          <p:nvPr/>
        </p:nvSpPr>
        <p:spPr>
          <a:xfrm>
            <a:off x="5992560" y="6488640"/>
            <a:ext cx="6198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264653"/>
                </a:solidFill>
                <a:latin typeface="Roboto Slab"/>
                <a:ea typeface="Roboto Slab"/>
                <a:cs typeface="Roboto Slab"/>
                <a:sym typeface="Roboto Slab"/>
              </a:rPr>
              <a:t>Weisfeiler-Lehman Graph Kernels(2011)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9" name="Google Shape;94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15000" y="2059920"/>
            <a:ext cx="1390320" cy="1095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558600" y="2009880"/>
            <a:ext cx="1199880" cy="1133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1" name="Google Shape;951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31920" y="2113200"/>
            <a:ext cx="1708920" cy="86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2" name="Google Shape;95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430760" y="2084400"/>
            <a:ext cx="1709640" cy="76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3" name="Google Shape;953;p6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102360" y="3325680"/>
            <a:ext cx="4040640" cy="564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4" name="Google Shape;954;p6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075000" y="4031280"/>
            <a:ext cx="4208400" cy="49392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60"/>
          <p:cNvSpPr/>
          <p:nvPr/>
        </p:nvSpPr>
        <p:spPr>
          <a:xfrm>
            <a:off x="1030680" y="1820880"/>
            <a:ext cx="1107360" cy="13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(</a:t>
            </a:r>
            <a:endParaRPr b="0" sz="8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60"/>
          <p:cNvSpPr/>
          <p:nvPr/>
        </p:nvSpPr>
        <p:spPr>
          <a:xfrm>
            <a:off x="4789080" y="3162960"/>
            <a:ext cx="1425600" cy="130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=</a:t>
            </a:r>
            <a:endParaRPr b="0" sz="8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60"/>
          <p:cNvSpPr/>
          <p:nvPr/>
        </p:nvSpPr>
        <p:spPr>
          <a:xfrm>
            <a:off x="4802040" y="1967040"/>
            <a:ext cx="1425600" cy="130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)=</a:t>
            </a:r>
            <a:endParaRPr b="0" sz="8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60"/>
          <p:cNvSpPr/>
          <p:nvPr/>
        </p:nvSpPr>
        <p:spPr>
          <a:xfrm>
            <a:off x="4817520" y="4586400"/>
            <a:ext cx="3845880" cy="130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8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=  11 </a:t>
            </a:r>
            <a:endParaRPr b="0" sz="8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6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6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WL in DGCNN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65" name="Google Shape;965;p6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66" name="Google Shape;96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20" y="1467000"/>
            <a:ext cx="12067920" cy="3924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67" name="Google Shape;967;p61"/>
          <p:cNvCxnSpPr/>
          <p:nvPr/>
        </p:nvCxnSpPr>
        <p:spPr>
          <a:xfrm>
            <a:off x="5184360" y="4018320"/>
            <a:ext cx="1392480" cy="0"/>
          </a:xfrm>
          <a:prstGeom prst="straightConnector1">
            <a:avLst/>
          </a:prstGeom>
          <a:noFill/>
          <a:ln cap="flat" cmpd="sng" w="38150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1" name="Shape 9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62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3" name="Google Shape;973;p62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4" name="Google Shape;974;p62"/>
          <p:cNvSpPr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sz="12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5" name="Google Shape;975;p62"/>
          <p:cNvSpPr/>
          <p:nvPr/>
        </p:nvSpPr>
        <p:spPr>
          <a:xfrm>
            <a:off x="660240" y="141156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6" name="Google Shape;976;p62"/>
          <p:cNvSpPr/>
          <p:nvPr/>
        </p:nvSpPr>
        <p:spPr>
          <a:xfrm>
            <a:off x="4047120" y="0"/>
            <a:ext cx="8584920" cy="6857640"/>
          </a:xfrm>
          <a:prstGeom prst="rect">
            <a:avLst/>
          </a:prstGeom>
          <a:solidFill>
            <a:srgbClr val="2F54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2"/>
          <p:cNvSpPr/>
          <p:nvPr/>
        </p:nvSpPr>
        <p:spPr>
          <a:xfrm>
            <a:off x="4758120" y="1473120"/>
            <a:ext cx="6942240" cy="2223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Triangle count /clustering coefficient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Strongly connected components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directed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Label propagation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Louvain Modularity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8" name="Google Shape;978;p62"/>
          <p:cNvSpPr/>
          <p:nvPr/>
        </p:nvSpPr>
        <p:spPr>
          <a:xfrm>
            <a:off x="812880" y="156384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62"/>
          <p:cNvSpPr/>
          <p:nvPr/>
        </p:nvSpPr>
        <p:spPr>
          <a:xfrm>
            <a:off x="965160" y="1716120"/>
            <a:ext cx="3488040" cy="63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Contents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0" name="Google Shape;98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4163040" cy="6857640"/>
          </a:xfrm>
          <a:prstGeom prst="rect">
            <a:avLst/>
          </a:prstGeom>
          <a:noFill/>
          <a:ln>
            <a:noFill/>
          </a:ln>
        </p:spPr>
      </p:pic>
      <p:sp>
        <p:nvSpPr>
          <p:cNvPr id="981" name="Google Shape;981;p62"/>
          <p:cNvSpPr/>
          <p:nvPr/>
        </p:nvSpPr>
        <p:spPr>
          <a:xfrm>
            <a:off x="524880" y="1506960"/>
            <a:ext cx="2945880" cy="20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Community 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detection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5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63"/>
          <p:cNvSpPr txBox="1"/>
          <p:nvPr/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7" name="Google Shape;987;p63"/>
          <p:cNvSpPr txBox="1"/>
          <p:nvPr/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 strike="noStrike">
                <a:solidFill>
                  <a:srgbClr val="8B8B8B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sz="12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테이블이(가) 표시된 사진&#10;&#10;자동 생성된 설명" id="988" name="Google Shape;988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94520" y="59760"/>
            <a:ext cx="8935200" cy="6857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p6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4" name="Google Shape;994;p6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community detection: triangle count / cc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95" name="Google Shape;995;p6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996" name="Google Shape;996;p64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997" name="Google Shape;997;p64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4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4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4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01" name="Google Shape;1001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95600" y="963360"/>
            <a:ext cx="5714640" cy="5024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6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7" name="Google Shape;1007;p6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community detection: connected components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08" name="Google Shape;1008;p6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9" name="Google Shape;1009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2920" y="1024920"/>
            <a:ext cx="7472160" cy="5280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3" name="Shape 10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4" name="Google Shape;1014;p6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5" name="Google Shape;1015;p6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SCC example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6" name="Google Shape;1016;p6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17" name="Google Shape;1017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40" y="866880"/>
            <a:ext cx="10248480" cy="5124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3" name="Google Shape;1023;p6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community detection: Label propagation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24" name="Google Shape;1024;p6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25" name="Google Shape;1025;p67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1026" name="Google Shape;1026;p67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7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7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7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30" name="Google Shape;1030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474200"/>
            <a:ext cx="12191760" cy="3909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6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6" name="Google Shape;1036;p6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community detection: Louvain Modularity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37" name="Google Shape;1037;p6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38" name="Google Shape;1038;p68"/>
          <p:cNvGrpSpPr/>
          <p:nvPr/>
        </p:nvGrpSpPr>
        <p:grpSpPr>
          <a:xfrm>
            <a:off x="1530000" y="1389240"/>
            <a:ext cx="9222480" cy="3797640"/>
            <a:chOff x="1530000" y="1389240"/>
            <a:chExt cx="9222480" cy="3797640"/>
          </a:xfrm>
        </p:grpSpPr>
        <p:sp>
          <p:nvSpPr>
            <p:cNvPr id="1039" name="Google Shape;1039;p68"/>
            <p:cNvSpPr/>
            <p:nvPr/>
          </p:nvSpPr>
          <p:spPr>
            <a:xfrm>
              <a:off x="1530000" y="1389240"/>
              <a:ext cx="1643760" cy="11779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8"/>
            <p:cNvSpPr/>
            <p:nvPr/>
          </p:nvSpPr>
          <p:spPr>
            <a:xfrm>
              <a:off x="8610480" y="1629360"/>
              <a:ext cx="2142000" cy="12805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8"/>
            <p:cNvSpPr/>
            <p:nvPr/>
          </p:nvSpPr>
          <p:spPr>
            <a:xfrm>
              <a:off x="1787760" y="3590280"/>
              <a:ext cx="2485080" cy="139464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8"/>
            <p:cNvSpPr/>
            <p:nvPr/>
          </p:nvSpPr>
          <p:spPr>
            <a:xfrm>
              <a:off x="8021520" y="3748320"/>
              <a:ext cx="2335320" cy="143856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043" name="Google Shape;1043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3560" y="824760"/>
            <a:ext cx="11126520" cy="5604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9" name="Google Shape;1049;p6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Community detection algorithm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50" name="Google Shape;1050;p6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1" name="Google Shape;1051;p6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8440" y="1053000"/>
            <a:ext cx="5613120" cy="5081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70"/>
          <p:cNvSpPr/>
          <p:nvPr/>
        </p:nvSpPr>
        <p:spPr>
          <a:xfrm>
            <a:off x="1441800" y="2391480"/>
            <a:ext cx="9908640" cy="1450440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254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000" lIns="90000" spcFirstLastPara="1" rIns="90000" wrap="square" tIns="4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40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triangle and clustering coefficient</a:t>
            </a:r>
            <a:endParaRPr b="0" sz="40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2" name="Google Shape;1062;p7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Triangle count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63" name="Google Shape;1063;p7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4" name="Google Shape;1064;p71"/>
          <p:cNvSpPr/>
          <p:nvPr/>
        </p:nvSpPr>
        <p:spPr>
          <a:xfrm>
            <a:off x="1227960" y="1477080"/>
            <a:ext cx="8803800" cy="283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Tri-angle count is the number of triangles passing thru each node in the graph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 triangle is a set of three nodes, where each node has a relationship to all other nodes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triangle count can also be run globally for evaluating overall dataset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7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0" name="Google Shape;1070;p7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Triangle count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71" name="Google Shape;1071;p7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2" name="Google Shape;1072;p72"/>
          <p:cNvSpPr/>
          <p:nvPr/>
        </p:nvSpPr>
        <p:spPr>
          <a:xfrm>
            <a:off x="885240" y="1028520"/>
            <a:ext cx="8803800" cy="9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Triangle count is the number of triangle pass thru each node in the graph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3" name="Google Shape;1073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44360" y="1891080"/>
            <a:ext cx="3200040" cy="38667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7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p7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9" name="Google Shape;1079;p7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Clustering count (cc)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0" name="Google Shape;1080;p7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1" name="Google Shape;1081;p73"/>
          <p:cNvSpPr/>
          <p:nvPr/>
        </p:nvSpPr>
        <p:spPr>
          <a:xfrm>
            <a:off x="1227960" y="1477080"/>
            <a:ext cx="9521640" cy="393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CC  of a Node is the likelihood of its neighbors are connected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involve calculation of triangles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degree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number of triangle</a:t>
            </a:r>
            <a:endParaRPr b="0" i="0" sz="20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 measuring the degree of clustering compared to it could being achieved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5" name="Shape 10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6" name="Google Shape;1086;p7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7" name="Google Shape;1087;p7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Clustering count (cc)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88" name="Google Shape;1088;p7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89" name="Google Shape;1089;p74"/>
          <p:cNvSpPr/>
          <p:nvPr/>
        </p:nvSpPr>
        <p:spPr>
          <a:xfrm>
            <a:off x="970200" y="1453680"/>
            <a:ext cx="10658880" cy="2528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is measuring the degree of clustering compared to it could being achieved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If node </a:t>
            </a:r>
            <a:r>
              <a:rPr b="1" i="1" lang="en-US" sz="2800" strike="noStrike">
                <a:solidFill>
                  <a:srgbClr val="843C0B"/>
                </a:solidFill>
                <a:latin typeface="Cambria Math"/>
                <a:ea typeface="Cambria Math"/>
                <a:cs typeface="Cambria Math"/>
                <a:sym typeface="Cambria Math"/>
              </a:rPr>
              <a:t> </a:t>
            </a:r>
            <a:r>
              <a:rPr b="0" lang="en-US" sz="2800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, then there is 20% chance of ’s two neighbor nodes are connected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7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5" name="Google Shape;1095;p7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TC and CC?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96" name="Google Shape;1096;p7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97" name="Google Shape;1097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746720"/>
            <a:ext cx="10889280" cy="29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7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3" name="Google Shape;1103;p7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TC and CC?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04" name="Google Shape;1104;p7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05" name="Google Shape;1105;p7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3040" y="1461960"/>
            <a:ext cx="10705680" cy="3933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7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1" name="Google Shape;1111;p7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Triangles with karate club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12" name="Google Shape;1112;p7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빨간색이(가) 표시된 사진&#10;&#10;자동 생성된 설명" id="1113" name="Google Shape;1113;p7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23960" y="870840"/>
            <a:ext cx="7747920" cy="55645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7" name="Shape 1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Google Shape;1118;p7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9" name="Google Shape;1119;p7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clique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0" name="Google Shape;1120;p7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1" name="Google Shape;1121;p78"/>
          <p:cNvSpPr/>
          <p:nvPr/>
        </p:nvSpPr>
        <p:spPr>
          <a:xfrm>
            <a:off x="693720" y="1418760"/>
            <a:ext cx="10420560" cy="234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induced complete subgraph of a graph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a subset of edges of an undirected graph such that two distinct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   edges in the clique are adjacent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-342720" lvl="0" marL="343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lang="en-US" sz="2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clique with 3 nodes = triangle </a:t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7" name="Google Shape;1127;p7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clique(3) in karate club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28" name="Google Shape;1128;p7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9" name="Google Shape;1129;p7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07160" y="990720"/>
            <a:ext cx="7395480" cy="51789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3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p8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5" name="Google Shape;1135;p8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clique(5) in karate club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36" name="Google Shape;1136;p8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37" name="Google Shape;1137;p8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819000"/>
            <a:ext cx="7474320" cy="53704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하늘, 여러개이(가) 표시된 사진&#10;&#10;자동 생성된 설명" id="1138" name="Google Shape;1138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36040" y="1671120"/>
            <a:ext cx="2727000" cy="14857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9" name="Google Shape;1139;p80"/>
          <p:cNvSpPr/>
          <p:nvPr/>
        </p:nvSpPr>
        <p:spPr>
          <a:xfrm rot="-891000">
            <a:off x="6023160" y="2910960"/>
            <a:ext cx="2004480" cy="192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55A1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0" name="Google Shape;1140;p80"/>
          <p:cNvSpPr/>
          <p:nvPr/>
        </p:nvSpPr>
        <p:spPr>
          <a:xfrm>
            <a:off x="8338680" y="1317240"/>
            <a:ext cx="3288240" cy="2423880"/>
          </a:xfrm>
          <a:prstGeom prst="ellipse">
            <a:avLst/>
          </a:prstGeom>
          <a:noFill/>
          <a:ln cap="flat" cmpd="sng" w="25400">
            <a:solidFill>
              <a:srgbClr val="7F7F7F"/>
            </a:solidFill>
            <a:prstDash val="dash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4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p8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6" name="Google Shape;1146;p8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TC and CC’s application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7" name="Google Shape;1147;p8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48" name="Google Shape;1148;p8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6800" y="1119240"/>
            <a:ext cx="10658160" cy="4619160"/>
          </a:xfrm>
          <a:prstGeom prst="rect">
            <a:avLst/>
          </a:prstGeom>
          <a:noFill/>
          <a:ln>
            <a:noFill/>
          </a:ln>
        </p:spPr>
      </p:pic>
      <p:sp>
        <p:nvSpPr>
          <p:cNvPr id="1149" name="Google Shape;1149;p81"/>
          <p:cNvSpPr/>
          <p:nvPr/>
        </p:nvSpPr>
        <p:spPr>
          <a:xfrm>
            <a:off x="5541480" y="5971680"/>
            <a:ext cx="6195600" cy="4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sng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See The Anatomy of the Facebook Social Graph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3" name="Shape 1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Google Shape;1154;p8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5" name="Google Shape;1155;p8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TC and CC’s application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56" name="Google Shape;1156;p8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7" name="Google Shape;1157;p82"/>
          <p:cNvSpPr/>
          <p:nvPr/>
        </p:nvSpPr>
        <p:spPr>
          <a:xfrm>
            <a:off x="1582560" y="1348200"/>
            <a:ext cx="7783920" cy="516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Applied SNS to detect communities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8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3" name="Google Shape;1163;p8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sng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Efficient Semi-Streaming Algorithms for Local Triangle Counting in Massive Graphs</a:t>
            </a:r>
            <a:endParaRPr b="0" sz="24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64" name="Google Shape;1164;p8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5" name="Google Shape;1165;p83"/>
          <p:cNvSpPr/>
          <p:nvPr/>
        </p:nvSpPr>
        <p:spPr>
          <a:xfrm>
            <a:off x="5371920" y="6488640"/>
            <a:ext cx="5832000" cy="4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sng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https://dl.acm.org/doi/pdf/10.1145/1401890.1401898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6" name="Google Shape;1166;p83"/>
          <p:cNvSpPr/>
          <p:nvPr/>
        </p:nvSpPr>
        <p:spPr>
          <a:xfrm>
            <a:off x="609480" y="1160640"/>
            <a:ext cx="9401400" cy="1370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apply triangle count and clustering coefficient on SNS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 detect WEB spam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content quality in SNS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7" name="Google Shape;1167;p8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37440" y="2080800"/>
            <a:ext cx="607644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8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3" name="Google Shape;1173;p8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sng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Efficient Semi-Streaming Algorithms for Local Triangle Counting in Massive Graphs</a:t>
            </a:r>
            <a:endParaRPr b="0" sz="24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74" name="Google Shape;1174;p8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5" name="Google Shape;1175;p84"/>
          <p:cNvSpPr/>
          <p:nvPr/>
        </p:nvSpPr>
        <p:spPr>
          <a:xfrm>
            <a:off x="5371920" y="6488640"/>
            <a:ext cx="5832000" cy="4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sng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https://dl.acm.org/doi/pdf/10.1145/1401890.1401898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6" name="Google Shape;1176;p84"/>
          <p:cNvSpPr/>
          <p:nvPr/>
        </p:nvSpPr>
        <p:spPr>
          <a:xfrm>
            <a:off x="609480" y="1160640"/>
            <a:ext cx="11054520" cy="1796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apply triangle count and clustering coefficient on SNS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to detect WEB spam: </a:t>
            </a: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correlation structure in finance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highlight>
                  <a:srgbClr val="FFFF00"/>
                </a:highlight>
                <a:latin typeface="Malgun Gothic"/>
                <a:ea typeface="Malgun Gothic"/>
                <a:cs typeface="Malgun Gothic"/>
                <a:sym typeface="Malgun Gothic"/>
              </a:rPr>
              <a:t>content quality in SNS: Naver discussion among some key companies 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77" name="Google Shape;1177;p8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11080" y="2784240"/>
            <a:ext cx="6076440" cy="365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8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3" name="Google Shape;1183;p85"/>
          <p:cNvSpPr txBox="1"/>
          <p:nvPr/>
        </p:nvSpPr>
        <p:spPr>
          <a:xfrm>
            <a:off x="304920" y="0"/>
            <a:ext cx="12191760" cy="761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Curvature of co-links uncovers hidden thematic layers in the World Wide Web</a:t>
            </a:r>
            <a:endParaRPr b="0" sz="22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84" name="Google Shape;1184;p8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5" name="Google Shape;1185;p85"/>
          <p:cNvSpPr/>
          <p:nvPr/>
        </p:nvSpPr>
        <p:spPr>
          <a:xfrm>
            <a:off x="1254240" y="1490400"/>
            <a:ext cx="9354600" cy="1796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“This curvature (derived from cc and tc_</a:t>
            </a:r>
            <a:r>
              <a:rPr b="0" i="1" lang="en-US" sz="2800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mine</a:t>
            </a:r>
            <a:r>
              <a:rPr b="0" lang="en-US" sz="2800" strike="noStrike">
                <a:solidFill>
                  <a:srgbClr val="333333"/>
                </a:solidFill>
                <a:latin typeface="Open Sans"/>
                <a:ea typeface="Open Sans"/>
                <a:cs typeface="Open Sans"/>
                <a:sym typeface="Open Sans"/>
              </a:rPr>
              <a:t>) defines a World Wide Web landscape whose connected regions of high curvature characterize a common topic.”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85"/>
          <p:cNvSpPr/>
          <p:nvPr/>
        </p:nvSpPr>
        <p:spPr>
          <a:xfrm>
            <a:off x="5464800" y="6488640"/>
            <a:ext cx="4591800" cy="420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800" u="sng" strike="noStrike">
                <a:solidFill>
                  <a:srgbClr val="0563C1"/>
                </a:solidFill>
                <a:latin typeface="Malgun Gothic"/>
                <a:ea typeface="Malgun Gothic"/>
                <a:cs typeface="Malgun Gothic"/>
                <a:sym typeface="Malgun Gothic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https://www.pnas.org/content/99/9/5825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Google Shape;1191;p8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2" name="Google Shape;1192;p8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local clustering coefficient: curvature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93" name="Google Shape;1193;p86"/>
          <p:cNvSpPr txBox="1"/>
          <p:nvPr/>
        </p:nvSpPr>
        <p:spPr>
          <a:xfrm>
            <a:off x="45720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94" name="Google Shape;1194;p8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000" y="945360"/>
            <a:ext cx="7000560" cy="5219280"/>
          </a:xfrm>
          <a:prstGeom prst="rect">
            <a:avLst/>
          </a:prstGeom>
          <a:noFill/>
          <a:ln>
            <a:noFill/>
          </a:ln>
        </p:spPr>
      </p:pic>
      <p:sp>
        <p:nvSpPr>
          <p:cNvPr id="1195" name="Google Shape;1195;p86"/>
          <p:cNvSpPr/>
          <p:nvPr/>
        </p:nvSpPr>
        <p:spPr>
          <a:xfrm>
            <a:off x="4918680" y="961560"/>
            <a:ext cx="7917840" cy="30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4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Curvature of co-links uncovers hidden thematic layers in the World Wide Web</a:t>
            </a:r>
            <a:endParaRPr b="0" sz="14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9" name="Shape 1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0" name="Google Shape;1200;p8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1" name="Google Shape;1201;p8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02" name="Google Shape;1202;p8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3" name="Google Shape;1203;p87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87"/>
          <p:cNvSpPr/>
          <p:nvPr/>
        </p:nvSpPr>
        <p:spPr>
          <a:xfrm>
            <a:off x="1080720" y="1294920"/>
            <a:ext cx="10693080" cy="4367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Newly developed fast algorithm for finding communities in a graph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proposed by Raghavan, Albert, and Kumara (2007)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Well suited to networks where groupings are less clear and weights used to help a node determine which community to place itself within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suitable for semi-supervised learning and parallelization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843C0B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843C0B"/>
                </a:solidFill>
                <a:latin typeface="Malgun Gothic"/>
                <a:ea typeface="Malgun Gothic"/>
                <a:cs typeface="Malgun Gothic"/>
                <a:sym typeface="Malgun Gothic"/>
              </a:rPr>
              <a:t>SL: small labeled but larger unlabeled data </a:t>
            </a: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8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0" name="Google Shape;1210;p8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11" name="Google Shape;1211;p8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2" name="Google Shape;1212;p88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3" name="Google Shape;1213;p88"/>
          <p:cNvSpPr/>
          <p:nvPr/>
        </p:nvSpPr>
        <p:spPr>
          <a:xfrm>
            <a:off x="1019160" y="1346040"/>
            <a:ext cx="10693080" cy="2861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285480" lvl="0" marL="285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LPA-Push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push labels to neighbors to find clusters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0" marL="2858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LPA-Pull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285480" lvl="1" marL="74304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pull labels from neighbors based on relationship weights to find clusters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8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9" name="Google Shape;1219;p8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push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20" name="Google Shape;1220;p8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1" name="Google Shape;1221;p89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22" name="Google Shape;1222;p89"/>
          <p:cNvGrpSpPr/>
          <p:nvPr/>
        </p:nvGrpSpPr>
        <p:grpSpPr>
          <a:xfrm>
            <a:off x="0" y="850680"/>
            <a:ext cx="11986200" cy="5628960"/>
            <a:chOff x="0" y="850680"/>
            <a:chExt cx="11986200" cy="5628960"/>
          </a:xfrm>
        </p:grpSpPr>
        <p:pic>
          <p:nvPicPr>
            <p:cNvPr id="1223" name="Google Shape;1223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850680"/>
              <a:ext cx="11986200" cy="562896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4" name="Google Shape;1224;p89"/>
            <p:cNvSpPr/>
            <p:nvPr/>
          </p:nvSpPr>
          <p:spPr>
            <a:xfrm>
              <a:off x="873360" y="2136960"/>
              <a:ext cx="400320" cy="400320"/>
            </a:xfrm>
            <a:prstGeom prst="ellipse">
              <a:avLst/>
            </a:prstGeom>
            <a:noFill/>
            <a:ln cap="flat" cmpd="sng" w="57225">
              <a:solidFill>
                <a:srgbClr val="FF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45000" lIns="90000" spcFirstLastPara="1" rIns="90000" wrap="square" tIns="45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FFFFFF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cv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5" name="Google Shape;1225;p89"/>
          <p:cNvSpPr/>
          <p:nvPr/>
        </p:nvSpPr>
        <p:spPr>
          <a:xfrm>
            <a:off x="3152520" y="2166120"/>
            <a:ext cx="400320" cy="40032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6" name="Google Shape;1226;p89"/>
          <p:cNvCxnSpPr/>
          <p:nvPr/>
        </p:nvCxnSpPr>
        <p:spPr>
          <a:xfrm>
            <a:off x="5013720" y="4058280"/>
            <a:ext cx="2085480" cy="0"/>
          </a:xfrm>
          <a:prstGeom prst="straightConnector1">
            <a:avLst/>
          </a:prstGeom>
          <a:noFill/>
          <a:ln cap="flat" cmpd="sng" w="666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  <p:sp>
        <p:nvSpPr>
          <p:cNvPr id="1227" name="Google Shape;1227;p89"/>
          <p:cNvSpPr/>
          <p:nvPr/>
        </p:nvSpPr>
        <p:spPr>
          <a:xfrm rot="-1708800">
            <a:off x="8043480" y="2154240"/>
            <a:ext cx="1927080" cy="968760"/>
          </a:xfrm>
          <a:prstGeom prst="ellipse">
            <a:avLst/>
          </a:prstGeom>
          <a:noFill/>
          <a:ln cap="flat" cmpd="sng" w="57225">
            <a:solidFill>
              <a:schemeClr val="accent1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8" name="Google Shape;1228;p89"/>
          <p:cNvSpPr/>
          <p:nvPr/>
        </p:nvSpPr>
        <p:spPr>
          <a:xfrm rot="2527200">
            <a:off x="10332360" y="1825200"/>
            <a:ext cx="893520" cy="1398960"/>
          </a:xfrm>
          <a:prstGeom prst="ellipse">
            <a:avLst/>
          </a:prstGeom>
          <a:noFill/>
          <a:ln cap="flat" cmpd="sng" w="57225">
            <a:solidFill>
              <a:srgbClr val="3A3838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29" name="Google Shape;1229;p89"/>
          <p:cNvCxnSpPr/>
          <p:nvPr/>
        </p:nvCxnSpPr>
        <p:spPr>
          <a:xfrm>
            <a:off x="4713840" y="5926320"/>
            <a:ext cx="2085840" cy="0"/>
          </a:xfrm>
          <a:prstGeom prst="straightConnector1">
            <a:avLst/>
          </a:prstGeom>
          <a:noFill/>
          <a:ln cap="flat" cmpd="sng" w="66600">
            <a:solidFill>
              <a:srgbClr val="FF0000"/>
            </a:solidFill>
            <a:prstDash val="solid"/>
            <a:miter lim="8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9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5" name="Google Shape;1235;p9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pull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36" name="Google Shape;1236;p9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37" name="Google Shape;1237;p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680" y="858960"/>
            <a:ext cx="10600200" cy="5613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9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3" name="Google Shape;1243;p9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pull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44" name="Google Shape;1244;p9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245" name="Google Shape;1245;p91"/>
          <p:cNvGrpSpPr/>
          <p:nvPr/>
        </p:nvGrpSpPr>
        <p:grpSpPr>
          <a:xfrm>
            <a:off x="1880280" y="1371240"/>
            <a:ext cx="8570880" cy="3673080"/>
            <a:chOff x="1880280" y="1371240"/>
            <a:chExt cx="8570880" cy="3673080"/>
          </a:xfrm>
        </p:grpSpPr>
        <p:pic>
          <p:nvPicPr>
            <p:cNvPr id="1246" name="Google Shape;1246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80280" y="1371240"/>
              <a:ext cx="8570880" cy="367308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47" name="Google Shape;1247;p91"/>
            <p:cNvSpPr/>
            <p:nvPr/>
          </p:nvSpPr>
          <p:spPr>
            <a:xfrm>
              <a:off x="3318480" y="234252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91"/>
            <p:cNvSpPr/>
            <p:nvPr/>
          </p:nvSpPr>
          <p:spPr>
            <a:xfrm>
              <a:off x="5299920" y="234072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91"/>
            <p:cNvSpPr/>
            <p:nvPr/>
          </p:nvSpPr>
          <p:spPr>
            <a:xfrm>
              <a:off x="2453760" y="421056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91"/>
            <p:cNvSpPr/>
            <p:nvPr/>
          </p:nvSpPr>
          <p:spPr>
            <a:xfrm>
              <a:off x="3974400" y="370728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91"/>
            <p:cNvSpPr/>
            <p:nvPr/>
          </p:nvSpPr>
          <p:spPr>
            <a:xfrm>
              <a:off x="5227920" y="431352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91"/>
            <p:cNvSpPr/>
            <p:nvPr/>
          </p:nvSpPr>
          <p:spPr>
            <a:xfrm>
              <a:off x="6388920" y="318312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91"/>
            <p:cNvSpPr/>
            <p:nvPr/>
          </p:nvSpPr>
          <p:spPr>
            <a:xfrm>
              <a:off x="7416360" y="232020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91"/>
            <p:cNvSpPr/>
            <p:nvPr/>
          </p:nvSpPr>
          <p:spPr>
            <a:xfrm>
              <a:off x="8032680" y="398484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91"/>
            <p:cNvSpPr/>
            <p:nvPr/>
          </p:nvSpPr>
          <p:spPr>
            <a:xfrm>
              <a:off x="9132120" y="340920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91"/>
            <p:cNvSpPr/>
            <p:nvPr/>
          </p:nvSpPr>
          <p:spPr>
            <a:xfrm>
              <a:off x="9060120" y="2381760"/>
              <a:ext cx="554400" cy="40032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0" name="Shape 1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1" name="Google Shape;1261;p9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2" name="Google Shape;1262;p9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pull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63" name="Google Shape;1263;p9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64" name="Google Shape;1264;p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320" y="1861920"/>
            <a:ext cx="5364000" cy="229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65" name="Google Shape;1265;p92"/>
          <p:cNvGrpSpPr/>
          <p:nvPr/>
        </p:nvGrpSpPr>
        <p:grpSpPr>
          <a:xfrm>
            <a:off x="719280" y="1931400"/>
            <a:ext cx="4725720" cy="2249640"/>
            <a:chOff x="719280" y="1931400"/>
            <a:chExt cx="4725720" cy="2249640"/>
          </a:xfrm>
        </p:grpSpPr>
        <p:pic>
          <p:nvPicPr>
            <p:cNvPr id="1266" name="Google Shape;126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9280" y="1931400"/>
              <a:ext cx="4725720" cy="22496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67" name="Google Shape;1267;p92"/>
            <p:cNvSpPr/>
            <p:nvPr/>
          </p:nvSpPr>
          <p:spPr>
            <a:xfrm>
              <a:off x="1512360" y="252648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92"/>
            <p:cNvSpPr/>
            <p:nvPr/>
          </p:nvSpPr>
          <p:spPr>
            <a:xfrm>
              <a:off x="2604600" y="252540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92"/>
            <p:cNvSpPr/>
            <p:nvPr/>
          </p:nvSpPr>
          <p:spPr>
            <a:xfrm>
              <a:off x="1035360" y="367092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92"/>
            <p:cNvSpPr/>
            <p:nvPr/>
          </p:nvSpPr>
          <p:spPr>
            <a:xfrm>
              <a:off x="1873800" y="336240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92"/>
            <p:cNvSpPr/>
            <p:nvPr/>
          </p:nvSpPr>
          <p:spPr>
            <a:xfrm>
              <a:off x="2565000" y="373356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92"/>
            <p:cNvSpPr/>
            <p:nvPr/>
          </p:nvSpPr>
          <p:spPr>
            <a:xfrm>
              <a:off x="3205080" y="304164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92"/>
            <p:cNvSpPr/>
            <p:nvPr/>
          </p:nvSpPr>
          <p:spPr>
            <a:xfrm>
              <a:off x="3771720" y="251280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92"/>
            <p:cNvSpPr/>
            <p:nvPr/>
          </p:nvSpPr>
          <p:spPr>
            <a:xfrm>
              <a:off x="4111560" y="353232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92"/>
            <p:cNvSpPr/>
            <p:nvPr/>
          </p:nvSpPr>
          <p:spPr>
            <a:xfrm>
              <a:off x="4717800" y="317988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92"/>
            <p:cNvSpPr/>
            <p:nvPr/>
          </p:nvSpPr>
          <p:spPr>
            <a:xfrm>
              <a:off x="4678200" y="2550600"/>
              <a:ext cx="305640" cy="24516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2" name="Google Shape;1282;p9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pull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283" name="Google Shape;1283;p9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84" name="Google Shape;1284;p9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25320" y="1861920"/>
            <a:ext cx="5364000" cy="2298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85" name="Google Shape;1285;p93"/>
          <p:cNvGrpSpPr/>
          <p:nvPr/>
        </p:nvGrpSpPr>
        <p:grpSpPr>
          <a:xfrm>
            <a:off x="719280" y="1931400"/>
            <a:ext cx="5126400" cy="2475720"/>
            <a:chOff x="719280" y="1931400"/>
            <a:chExt cx="5126400" cy="2475720"/>
          </a:xfrm>
        </p:grpSpPr>
        <p:pic>
          <p:nvPicPr>
            <p:cNvPr id="1286" name="Google Shape;1286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19280" y="1931400"/>
              <a:ext cx="5126400" cy="247572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87" name="Google Shape;1287;p93"/>
            <p:cNvSpPr/>
            <p:nvPr/>
          </p:nvSpPr>
          <p:spPr>
            <a:xfrm>
              <a:off x="1579680" y="258624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93"/>
            <p:cNvSpPr/>
            <p:nvPr/>
          </p:nvSpPr>
          <p:spPr>
            <a:xfrm>
              <a:off x="2764440" y="258516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93"/>
            <p:cNvSpPr/>
            <p:nvPr/>
          </p:nvSpPr>
          <p:spPr>
            <a:xfrm>
              <a:off x="1062360" y="384552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93"/>
            <p:cNvSpPr/>
            <p:nvPr/>
          </p:nvSpPr>
          <p:spPr>
            <a:xfrm>
              <a:off x="1971720" y="350604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93"/>
            <p:cNvSpPr/>
            <p:nvPr/>
          </p:nvSpPr>
          <p:spPr>
            <a:xfrm>
              <a:off x="2721600" y="391464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93"/>
            <p:cNvSpPr/>
            <p:nvPr/>
          </p:nvSpPr>
          <p:spPr>
            <a:xfrm>
              <a:off x="3416040" y="315288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93"/>
            <p:cNvSpPr/>
            <p:nvPr/>
          </p:nvSpPr>
          <p:spPr>
            <a:xfrm>
              <a:off x="4030560" y="257112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93"/>
            <p:cNvSpPr/>
            <p:nvPr/>
          </p:nvSpPr>
          <p:spPr>
            <a:xfrm>
              <a:off x="4399200" y="369324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93"/>
            <p:cNvSpPr/>
            <p:nvPr/>
          </p:nvSpPr>
          <p:spPr>
            <a:xfrm>
              <a:off x="5056920" y="330516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93"/>
            <p:cNvSpPr/>
            <p:nvPr/>
          </p:nvSpPr>
          <p:spPr>
            <a:xfrm>
              <a:off x="5013720" y="2612880"/>
              <a:ext cx="331560" cy="269640"/>
            </a:xfrm>
            <a:prstGeom prst="ellipse">
              <a:avLst/>
            </a:prstGeom>
            <a:solidFill>
              <a:srgbClr val="2E75B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97" name="Google Shape;1297;p93"/>
          <p:cNvSpPr/>
          <p:nvPr/>
        </p:nvSpPr>
        <p:spPr>
          <a:xfrm>
            <a:off x="6871680" y="2402280"/>
            <a:ext cx="400320" cy="40032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8" name="Google Shape;1298;p93"/>
          <p:cNvSpPr/>
          <p:nvPr/>
        </p:nvSpPr>
        <p:spPr>
          <a:xfrm>
            <a:off x="10488240" y="2392200"/>
            <a:ext cx="400320" cy="400320"/>
          </a:xfrm>
          <a:prstGeom prst="ellipse">
            <a:avLst/>
          </a:prstGeom>
          <a:noFill/>
          <a:ln cap="flat" cmpd="sng" w="57225">
            <a:solidFill>
              <a:srgbClr val="FF0000"/>
            </a:solidFill>
            <a:prstDash val="dot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2" name="Shape 1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3" name="Google Shape;1303;p9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4" name="Google Shape;1304;p9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pull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05" name="Google Shape;1305;p9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06" name="Google Shape;1306;p94"/>
          <p:cNvGrpSpPr/>
          <p:nvPr/>
        </p:nvGrpSpPr>
        <p:grpSpPr>
          <a:xfrm>
            <a:off x="1730880" y="1533240"/>
            <a:ext cx="7279200" cy="3490560"/>
            <a:chOff x="1730880" y="1533240"/>
            <a:chExt cx="7279200" cy="3490560"/>
          </a:xfrm>
        </p:grpSpPr>
        <p:pic>
          <p:nvPicPr>
            <p:cNvPr id="1307" name="Google Shape;1307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730880" y="1533240"/>
              <a:ext cx="7279200" cy="349056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308" name="Google Shape;1308;p94"/>
            <p:cNvCxnSpPr/>
            <p:nvPr/>
          </p:nvCxnSpPr>
          <p:spPr>
            <a:xfrm>
              <a:off x="3343680" y="2919600"/>
              <a:ext cx="263160" cy="738720"/>
            </a:xfrm>
            <a:prstGeom prst="straightConnector1">
              <a:avLst/>
            </a:prstGeom>
            <a:noFill/>
            <a:ln cap="flat" cmpd="sng" w="66600">
              <a:solidFill>
                <a:srgbClr val="FF0000"/>
              </a:solidFill>
              <a:prstDash val="solid"/>
              <a:miter lim="8000"/>
              <a:headEnd len="med" w="med" type="stealth"/>
              <a:tailEnd len="sm" w="sm" type="none"/>
            </a:ln>
          </p:spPr>
        </p:cxnSp>
        <p:sp>
          <p:nvSpPr>
            <p:cNvPr id="1309" name="Google Shape;1309;p94"/>
            <p:cNvSpPr/>
            <p:nvPr/>
          </p:nvSpPr>
          <p:spPr>
            <a:xfrm>
              <a:off x="3421440" y="2978280"/>
              <a:ext cx="424440" cy="418680"/>
            </a:xfrm>
            <a:prstGeom prst="ellipse">
              <a:avLst/>
            </a:prstGeom>
            <a:solidFill>
              <a:srgbClr val="FFFF00">
                <a:alpha val="3490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94"/>
            <p:cNvSpPr/>
            <p:nvPr/>
          </p:nvSpPr>
          <p:spPr>
            <a:xfrm>
              <a:off x="7095960" y="2245320"/>
              <a:ext cx="424440" cy="418680"/>
            </a:xfrm>
            <a:prstGeom prst="ellipse">
              <a:avLst/>
            </a:prstGeom>
            <a:solidFill>
              <a:srgbClr val="FFFF00">
                <a:alpha val="3490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94"/>
            <p:cNvSpPr/>
            <p:nvPr/>
          </p:nvSpPr>
          <p:spPr>
            <a:xfrm>
              <a:off x="5022000" y="2909520"/>
              <a:ext cx="424440" cy="418680"/>
            </a:xfrm>
            <a:prstGeom prst="ellipse">
              <a:avLst/>
            </a:prstGeom>
            <a:solidFill>
              <a:srgbClr val="FFFF00">
                <a:alpha val="3490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12" name="Google Shape;1312;p94"/>
            <p:cNvCxnSpPr/>
            <p:nvPr/>
          </p:nvCxnSpPr>
          <p:spPr>
            <a:xfrm>
              <a:off x="5061960" y="2771280"/>
              <a:ext cx="581400" cy="485640"/>
            </a:xfrm>
            <a:prstGeom prst="straightConnector1">
              <a:avLst/>
            </a:prstGeom>
            <a:noFill/>
            <a:ln cap="flat" cmpd="sng" w="66600">
              <a:solidFill>
                <a:srgbClr val="FF0000"/>
              </a:solidFill>
              <a:prstDash val="solid"/>
              <a:miter lim="8000"/>
              <a:headEnd len="med" w="med" type="stealth"/>
              <a:tailEnd len="sm" w="sm" type="none"/>
            </a:ln>
          </p:spPr>
        </p:cxnSp>
        <p:cxnSp>
          <p:nvCxnSpPr>
            <p:cNvPr id="1313" name="Google Shape;1313;p94"/>
            <p:cNvCxnSpPr/>
            <p:nvPr/>
          </p:nvCxnSpPr>
          <p:spPr>
            <a:xfrm>
              <a:off x="6845400" y="2686680"/>
              <a:ext cx="901440" cy="0"/>
            </a:xfrm>
            <a:prstGeom prst="straightConnector1">
              <a:avLst/>
            </a:prstGeom>
            <a:noFill/>
            <a:ln cap="flat" cmpd="sng" w="66600">
              <a:solidFill>
                <a:srgbClr val="FF0000"/>
              </a:solidFill>
              <a:prstDash val="solid"/>
              <a:miter lim="8000"/>
              <a:headEnd len="med" w="med" type="stealth"/>
              <a:tailEnd len="sm" w="sm" type="none"/>
            </a:ln>
          </p:spPr>
        </p:cxnSp>
      </p:grp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p9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19" name="Google Shape;1319;p9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pull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20" name="Google Shape;1320;p9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21" name="Google Shape;1321;p9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7360" y="1697760"/>
            <a:ext cx="5553360" cy="2699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2" name="Google Shape;1322;p9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968800" y="1644120"/>
            <a:ext cx="5850360" cy="271152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3" name="Google Shape;1323;p95"/>
          <p:cNvCxnSpPr/>
          <p:nvPr/>
        </p:nvCxnSpPr>
        <p:spPr>
          <a:xfrm>
            <a:off x="1707840" y="2769840"/>
            <a:ext cx="200520" cy="571320"/>
          </a:xfrm>
          <a:prstGeom prst="straightConnector1">
            <a:avLst/>
          </a:prstGeom>
          <a:noFill/>
          <a:ln cap="flat" cmpd="sng" w="66600">
            <a:solidFill>
              <a:srgbClr val="FF0000"/>
            </a:solidFill>
            <a:prstDash val="solid"/>
            <a:miter lim="8000"/>
            <a:headEnd len="med" w="med" type="stealth"/>
            <a:tailEnd len="sm" w="sm" type="none"/>
          </a:ln>
        </p:spPr>
      </p:cxnSp>
      <p:sp>
        <p:nvSpPr>
          <p:cNvPr id="1324" name="Google Shape;1324;p95"/>
          <p:cNvSpPr/>
          <p:nvPr/>
        </p:nvSpPr>
        <p:spPr>
          <a:xfrm>
            <a:off x="1767240" y="2815200"/>
            <a:ext cx="323640" cy="323640"/>
          </a:xfrm>
          <a:prstGeom prst="ellipse">
            <a:avLst/>
          </a:prstGeom>
          <a:solidFill>
            <a:srgbClr val="FFFF0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5" name="Google Shape;1325;p95"/>
          <p:cNvSpPr/>
          <p:nvPr/>
        </p:nvSpPr>
        <p:spPr>
          <a:xfrm>
            <a:off x="4570200" y="2248200"/>
            <a:ext cx="323640" cy="323640"/>
          </a:xfrm>
          <a:prstGeom prst="ellipse">
            <a:avLst/>
          </a:prstGeom>
          <a:solidFill>
            <a:srgbClr val="FFFF0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6" name="Google Shape;1326;p95"/>
          <p:cNvSpPr/>
          <p:nvPr/>
        </p:nvSpPr>
        <p:spPr>
          <a:xfrm>
            <a:off x="2988000" y="2761920"/>
            <a:ext cx="323640" cy="323640"/>
          </a:xfrm>
          <a:prstGeom prst="ellipse">
            <a:avLst/>
          </a:prstGeom>
          <a:solidFill>
            <a:srgbClr val="FFFF00">
              <a:alpha val="3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27" name="Google Shape;1327;p95"/>
          <p:cNvCxnSpPr/>
          <p:nvPr/>
        </p:nvCxnSpPr>
        <p:spPr>
          <a:xfrm>
            <a:off x="3018600" y="2655000"/>
            <a:ext cx="443520" cy="375840"/>
          </a:xfrm>
          <a:prstGeom prst="straightConnector1">
            <a:avLst/>
          </a:prstGeom>
          <a:noFill/>
          <a:ln cap="flat" cmpd="sng" w="66600">
            <a:solidFill>
              <a:srgbClr val="FF0000"/>
            </a:solidFill>
            <a:prstDash val="solid"/>
            <a:miter lim="8000"/>
            <a:headEnd len="med" w="med" type="stealth"/>
            <a:tailEnd len="sm" w="sm" type="none"/>
          </a:ln>
        </p:spPr>
      </p:cxnSp>
      <p:cxnSp>
        <p:nvCxnSpPr>
          <p:cNvPr id="1328" name="Google Shape;1328;p95"/>
          <p:cNvCxnSpPr/>
          <p:nvPr/>
        </p:nvCxnSpPr>
        <p:spPr>
          <a:xfrm>
            <a:off x="4418280" y="2541960"/>
            <a:ext cx="687960" cy="0"/>
          </a:xfrm>
          <a:prstGeom prst="straightConnector1">
            <a:avLst/>
          </a:prstGeom>
          <a:noFill/>
          <a:ln cap="flat" cmpd="sng" w="66600">
            <a:solidFill>
              <a:srgbClr val="FF0000"/>
            </a:solidFill>
            <a:prstDash val="solid"/>
            <a:miter lim="8000"/>
            <a:headEnd len="med" w="med" type="stealth"/>
            <a:tailEnd len="sm" w="sm" type="none"/>
          </a:ln>
        </p:spPr>
      </p:cxn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9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4" name="Google Shape;1334;p9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algorithm: pull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35" name="Google Shape;1335;p9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36" name="Google Shape;1336;p96"/>
          <p:cNvGrpSpPr/>
          <p:nvPr/>
        </p:nvGrpSpPr>
        <p:grpSpPr>
          <a:xfrm>
            <a:off x="1849320" y="1140480"/>
            <a:ext cx="8279280" cy="4610160"/>
            <a:chOff x="1849320" y="1140480"/>
            <a:chExt cx="8279280" cy="4610160"/>
          </a:xfrm>
        </p:grpSpPr>
        <p:pic>
          <p:nvPicPr>
            <p:cNvPr id="1337" name="Google Shape;1337;p9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042280" y="1702800"/>
              <a:ext cx="8086320" cy="40478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8" name="Google Shape;1338;p96"/>
            <p:cNvSpPr/>
            <p:nvPr/>
          </p:nvSpPr>
          <p:spPr>
            <a:xfrm>
              <a:off x="1849320" y="1140480"/>
              <a:ext cx="2301120" cy="739440"/>
            </a:xfrm>
            <a:prstGeom prst="rect">
              <a:avLst/>
            </a:prstGeom>
            <a:solidFill>
              <a:schemeClr val="lt1"/>
            </a:solidFill>
            <a:ln cap="flat" cmpd="sng" w="25400">
              <a:solidFill>
                <a:schemeClr val="l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9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4" name="Google Shape;1344;p9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 Procedure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45" name="Google Shape;1345;p9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46" name="Google Shape;1346;p97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7" name="Google Shape;1347;p97"/>
          <p:cNvSpPr/>
          <p:nvPr/>
        </p:nvSpPr>
        <p:spPr>
          <a:xfrm>
            <a:off x="515880" y="1459080"/>
            <a:ext cx="11124360" cy="446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node is initialized with a unique label (an identifier), and, optionally preliminary “seed” labels can be used.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These labels propagate through the network.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every propagation iteration, each node updates its label to match the one with the maximum weight, which is calculated based on the weights of neighbor nodes and their relationships.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Ties are broken uniformly and randomly.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LPA reaches convergence when each node has the majority label of its neighbors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9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3" name="Google Shape;1353;p9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 Procedure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54" name="Google Shape;1354;p9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55" name="Google Shape;1355;p98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6" name="Google Shape;1356;p98"/>
          <p:cNvSpPr/>
          <p:nvPr/>
        </p:nvSpPr>
        <p:spPr>
          <a:xfrm>
            <a:off x="515880" y="1459080"/>
            <a:ext cx="11124360" cy="446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node is initialized with a unique label (an identifier), and, optionally preliminary “seed” labels can be used.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These labels propagate through the network.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every propagation iteration, each node updates its label to match the one with the maximum weight, which is calculated based on the weights of neighbor nodes and their relationships.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Ties are broken uniformly and randomly.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LPA reaches convergence when each node has the majority label of its neighbors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0" name="Shape 1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" name="Google Shape;1361;p9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2" name="Google Shape;1362;p9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 Procedure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63" name="Google Shape;1363;p9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4" name="Google Shape;1364;p99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99"/>
          <p:cNvSpPr/>
          <p:nvPr/>
        </p:nvSpPr>
        <p:spPr>
          <a:xfrm>
            <a:off x="515880" y="1459080"/>
            <a:ext cx="11124360" cy="446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node is initialized with a unique label (an identifier), and, optionally preliminary “seed” labels can be used.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These labels propagate through the network.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every propagation iteration, each node updates its label to match the one with the maximum weight, which is calculated based on the weights of neighbor nodes and their relationships.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Ties are broken uniformly and randomly.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LPA reaches convergence when each node has the majority label of its neighbors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10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1" name="Google Shape;1371;p10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 Procedure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72" name="Google Shape;1372;p10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3" name="Google Shape;1373;p100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4" name="Google Shape;1374;p100"/>
          <p:cNvSpPr/>
          <p:nvPr/>
        </p:nvSpPr>
        <p:spPr>
          <a:xfrm>
            <a:off x="515880" y="1459080"/>
            <a:ext cx="11124360" cy="4469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node is initialized with a unique label (an identifier), and, optionally preliminary “seed” labels can be used.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These labels propagate through the network.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every propagation iteration, each node updates its label to match the one with the maximum weight, which is calculated based on the weights of neighbor nodes and their relationships.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Ties are broken uniformly and randomly.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BFBFBF"/>
                </a:solidFill>
                <a:latin typeface="Malgun Gothic"/>
                <a:ea typeface="Malgun Gothic"/>
                <a:cs typeface="Malgun Gothic"/>
                <a:sym typeface="Malgun Gothic"/>
              </a:rPr>
              <a:t>LPA reaches convergence when each node has the majority label of its neighbors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8" name="Shape 1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Google Shape;1379;p10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0" name="Google Shape;1380;p10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 Procedure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81" name="Google Shape;1381;p10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2" name="Google Shape;1382;p101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3" name="Google Shape;1383;p101"/>
          <p:cNvSpPr/>
          <p:nvPr/>
        </p:nvSpPr>
        <p:spPr>
          <a:xfrm>
            <a:off x="525960" y="1243440"/>
            <a:ext cx="11124360" cy="5562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514080" lvl="0" marL="5144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Every node is initialized with a unique label (an identifier), and, optionally preliminary “seed” labels can be used.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These labels propagate through the network.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At every propagation iteration, each node updates its label to match the one with the maximum weight, which is calculated based on the weights of neighbor nodes and their relationships. 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456840" lvl="2" marL="137160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Ties are broken uniformly and randomly. </a:t>
            </a:r>
            <a:endParaRPr b="0" i="0" sz="24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Noto Sans Symbols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LPA reaches convergence when each node has the majority label of its neighbors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0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9" name="Google Shape;1389;p10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Label propagation algorithm Example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390" name="Google Shape;1390;p10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1" name="Google Shape;1391;p102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92" name="Google Shape;1392;p102"/>
          <p:cNvGrpSpPr/>
          <p:nvPr/>
        </p:nvGrpSpPr>
        <p:grpSpPr>
          <a:xfrm>
            <a:off x="924840" y="1151640"/>
            <a:ext cx="10239120" cy="4745160"/>
            <a:chOff x="924840" y="1151640"/>
            <a:chExt cx="10239120" cy="4745160"/>
          </a:xfrm>
        </p:grpSpPr>
        <p:grpSp>
          <p:nvGrpSpPr>
            <p:cNvPr id="1393" name="Google Shape;1393;p102"/>
            <p:cNvGrpSpPr/>
            <p:nvPr/>
          </p:nvGrpSpPr>
          <p:grpSpPr>
            <a:xfrm>
              <a:off x="924840" y="1151640"/>
              <a:ext cx="10239120" cy="4745160"/>
              <a:chOff x="924840" y="1151640"/>
              <a:chExt cx="10239120" cy="4745160"/>
            </a:xfrm>
          </p:grpSpPr>
          <p:pic>
            <p:nvPicPr>
              <p:cNvPr id="1394" name="Google Shape;1394;p10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998280" y="1151640"/>
                <a:ext cx="9886680" cy="348588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395" name="Google Shape;1395;p10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924840" y="4392360"/>
                <a:ext cx="10239120" cy="150444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396" name="Google Shape;1396;p102"/>
            <p:cNvCxnSpPr/>
            <p:nvPr/>
          </p:nvCxnSpPr>
          <p:spPr>
            <a:xfrm>
              <a:off x="1427760" y="2270520"/>
              <a:ext cx="2661120" cy="0"/>
            </a:xfrm>
            <a:prstGeom prst="straightConnector1">
              <a:avLst/>
            </a:prstGeom>
            <a:noFill/>
            <a:ln cap="flat" cmpd="sng" w="66600">
              <a:solidFill>
                <a:srgbClr val="00B0F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7" name="Google Shape;1397;p102"/>
            <p:cNvCxnSpPr/>
            <p:nvPr/>
          </p:nvCxnSpPr>
          <p:spPr>
            <a:xfrm>
              <a:off x="8245800" y="3409200"/>
              <a:ext cx="2419200" cy="0"/>
            </a:xfrm>
            <a:prstGeom prst="straightConnector1">
              <a:avLst/>
            </a:prstGeom>
            <a:noFill/>
            <a:ln cap="flat" cmpd="sng" w="66600">
              <a:solidFill>
                <a:srgbClr val="00B0F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8" name="Google Shape;1398;p102"/>
            <p:cNvCxnSpPr/>
            <p:nvPr/>
          </p:nvCxnSpPr>
          <p:spPr>
            <a:xfrm>
              <a:off x="7272720" y="4939920"/>
              <a:ext cx="2927160" cy="0"/>
            </a:xfrm>
            <a:prstGeom prst="straightConnector1">
              <a:avLst/>
            </a:prstGeom>
            <a:noFill/>
            <a:ln cap="flat" cmpd="sng" w="66600">
              <a:solidFill>
                <a:srgbClr val="00B0F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2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103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4" name="Google Shape;1404;p103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Louvain algorithm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05" name="Google Shape;1405;p103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6" name="Google Shape;1406;p103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7" name="Google Shape;1407;p103"/>
          <p:cNvSpPr/>
          <p:nvPr/>
        </p:nvSpPr>
        <p:spPr>
          <a:xfrm>
            <a:off x="621000" y="909720"/>
            <a:ext cx="11124360" cy="478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modularity based community detection algorithm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1" marL="971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modularity: measure of grouping quality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2" marL="1428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L: number of relationships in entire group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2" marL="1428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number of relationships in a partition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2" marL="14288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: degree of nodes in a partition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Fastest modularity-based algo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0" marL="5144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lang="en-US" sz="2800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Can be used for revealing hierarchy of communities at different scales</a:t>
            </a:r>
            <a:endParaRPr b="0" sz="2800" strike="noStrike">
              <a:latin typeface="Arial"/>
              <a:ea typeface="Arial"/>
              <a:cs typeface="Arial"/>
              <a:sym typeface="Arial"/>
            </a:endParaRPr>
          </a:p>
          <a:p>
            <a:pPr indent="-514080" lvl="1" marL="9716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help to understand the structure of a network at different levels of granularity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1" name="Shape 1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2" name="Google Shape;1412;p104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3" name="Google Shape;1413;p104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modularity example: 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14" name="Google Shape;1414;p104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5" name="Google Shape;1415;p104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6" name="Google Shape;1416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80160" y="1521000"/>
            <a:ext cx="4817160" cy="3963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p105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2" name="Google Shape;1422;p105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modularity example:  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23" name="Google Shape;1423;p105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4" name="Google Shape;1424;p105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25" name="Google Shape;142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0080" y="1556640"/>
            <a:ext cx="4478760" cy="36154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6" name="Google Shape;1426;p10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45240" y="2343240"/>
            <a:ext cx="6257520" cy="1257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0" name="Shape 1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1" name="Google Shape;1431;p106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2" name="Google Shape;1432;p106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Louvain algorithm:  two steps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33" name="Google Shape;1433;p106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34" name="Google Shape;1434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520" y="914400"/>
            <a:ext cx="10305720" cy="55389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35" name="Google Shape;1435;p106"/>
          <p:cNvGrpSpPr/>
          <p:nvPr/>
        </p:nvGrpSpPr>
        <p:grpSpPr>
          <a:xfrm>
            <a:off x="1189080" y="1326240"/>
            <a:ext cx="10539720" cy="4332240"/>
            <a:chOff x="1189080" y="1326240"/>
            <a:chExt cx="10539720" cy="4332240"/>
          </a:xfrm>
        </p:grpSpPr>
        <p:sp>
          <p:nvSpPr>
            <p:cNvPr id="1436" name="Google Shape;1436;p106"/>
            <p:cNvSpPr/>
            <p:nvPr/>
          </p:nvSpPr>
          <p:spPr>
            <a:xfrm>
              <a:off x="5627520" y="2981520"/>
              <a:ext cx="914040" cy="9140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106"/>
            <p:cNvSpPr/>
            <p:nvPr/>
          </p:nvSpPr>
          <p:spPr>
            <a:xfrm>
              <a:off x="2127600" y="2250720"/>
              <a:ext cx="220680" cy="235440"/>
            </a:xfrm>
            <a:prstGeom prst="ellipse">
              <a:avLst/>
            </a:prstGeom>
            <a:noFill/>
            <a:ln cap="flat" cmpd="sng" w="57225">
              <a:solidFill>
                <a:srgbClr val="FF0000"/>
              </a:solidFill>
              <a:prstDash val="dot"/>
              <a:miter lim="8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438" name="Google Shape;1438;p106"/>
            <p:cNvCxnSpPr/>
            <p:nvPr/>
          </p:nvCxnSpPr>
          <p:spPr>
            <a:xfrm>
              <a:off x="1189080" y="5658480"/>
              <a:ext cx="780120" cy="0"/>
            </a:xfrm>
            <a:prstGeom prst="straightConnector1">
              <a:avLst/>
            </a:prstGeom>
            <a:noFill/>
            <a:ln cap="flat" cmpd="sng" w="666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439" name="Google Shape;1439;p106"/>
            <p:cNvSpPr/>
            <p:nvPr/>
          </p:nvSpPr>
          <p:spPr>
            <a:xfrm>
              <a:off x="3402720" y="2976120"/>
              <a:ext cx="2303280" cy="69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C55A1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based on modularity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40" name="Google Shape;1440;p106"/>
            <p:cNvCxnSpPr/>
            <p:nvPr/>
          </p:nvCxnSpPr>
          <p:spPr>
            <a:xfrm>
              <a:off x="7962120" y="5511600"/>
              <a:ext cx="1032120" cy="0"/>
            </a:xfrm>
            <a:prstGeom prst="straightConnector1">
              <a:avLst/>
            </a:prstGeom>
            <a:noFill/>
            <a:ln cap="flat" cmpd="sng" w="66600">
              <a:solidFill>
                <a:srgbClr val="FF000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sp>
          <p:nvSpPr>
            <p:cNvPr id="1441" name="Google Shape;1441;p106"/>
            <p:cNvSpPr/>
            <p:nvPr/>
          </p:nvSpPr>
          <p:spPr>
            <a:xfrm>
              <a:off x="8255880" y="2312280"/>
              <a:ext cx="175320" cy="184320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106"/>
            <p:cNvSpPr/>
            <p:nvPr/>
          </p:nvSpPr>
          <p:spPr>
            <a:xfrm>
              <a:off x="8848080" y="2201040"/>
              <a:ext cx="175320" cy="184320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106"/>
            <p:cNvSpPr/>
            <p:nvPr/>
          </p:nvSpPr>
          <p:spPr>
            <a:xfrm>
              <a:off x="9375480" y="1734840"/>
              <a:ext cx="175320" cy="184320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106"/>
            <p:cNvSpPr/>
            <p:nvPr/>
          </p:nvSpPr>
          <p:spPr>
            <a:xfrm>
              <a:off x="8724960" y="3326400"/>
              <a:ext cx="175320" cy="184320"/>
            </a:xfrm>
            <a:prstGeom prst="ellipse">
              <a:avLst/>
            </a:prstGeom>
            <a:solidFill>
              <a:srgbClr val="FFFF00">
                <a:alpha val="2000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106"/>
            <p:cNvSpPr/>
            <p:nvPr/>
          </p:nvSpPr>
          <p:spPr>
            <a:xfrm>
              <a:off x="7749000" y="1326240"/>
              <a:ext cx="397980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BF9000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sum of degrees within the group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07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1" name="Google Shape;1451;p107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 Louvain algorithm:  two steps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52" name="Google Shape;1452;p107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53" name="Google Shape;1453;p107"/>
          <p:cNvSpPr/>
          <p:nvPr/>
        </p:nvSpPr>
        <p:spPr>
          <a:xfrm>
            <a:off x="5627520" y="2981520"/>
            <a:ext cx="914040" cy="91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54" name="Google Shape;1454;p107"/>
          <p:cNvGrpSpPr/>
          <p:nvPr/>
        </p:nvGrpSpPr>
        <p:grpSpPr>
          <a:xfrm>
            <a:off x="641160" y="969480"/>
            <a:ext cx="11257560" cy="4743000"/>
            <a:chOff x="641160" y="969480"/>
            <a:chExt cx="11257560" cy="4743000"/>
          </a:xfrm>
        </p:grpSpPr>
        <p:pic>
          <p:nvPicPr>
            <p:cNvPr id="1455" name="Google Shape;1455;p10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41160" y="969480"/>
              <a:ext cx="9696240" cy="4743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56" name="Google Shape;1456;p107"/>
            <p:cNvSpPr/>
            <p:nvPr/>
          </p:nvSpPr>
          <p:spPr>
            <a:xfrm>
              <a:off x="6910920" y="2668320"/>
              <a:ext cx="230328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C55A1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=14+4ⅹ2+4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07"/>
            <p:cNvSpPr/>
            <p:nvPr/>
          </p:nvSpPr>
          <p:spPr>
            <a:xfrm>
              <a:off x="9595440" y="3787920"/>
              <a:ext cx="2303280" cy="3646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000" lIns="90000" spcFirstLastPara="1" rIns="90000" wrap="square" tIns="45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1800" strike="noStrike">
                  <a:solidFill>
                    <a:srgbClr val="C55A11"/>
                  </a:solidFill>
                  <a:latin typeface="Malgun Gothic"/>
                  <a:ea typeface="Malgun Gothic"/>
                  <a:cs typeface="Malgun Gothic"/>
                  <a:sym typeface="Malgun Gothic"/>
                </a:rPr>
                <a:t>=14+2ⅹ2+2</a:t>
              </a:r>
              <a:endParaRPr b="0" sz="1800" strike="noStrike"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58" name="Google Shape;1458;p107"/>
          <p:cNvSpPr/>
          <p:nvPr/>
        </p:nvSpPr>
        <p:spPr>
          <a:xfrm>
            <a:off x="4434120" y="4438800"/>
            <a:ext cx="3962160" cy="364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 strike="noStrike">
                <a:solidFill>
                  <a:srgbClr val="FF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Links are based on previous links</a:t>
            </a:r>
            <a:endParaRPr b="0" sz="1800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108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4" name="Google Shape;1464;p108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36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Louvain algo: example</a:t>
            </a:r>
            <a:endParaRPr b="0" sz="36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65" name="Google Shape;1465;p108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66" name="Google Shape;1466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2040" y="1213200"/>
            <a:ext cx="10371600" cy="4228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109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2" name="Google Shape;1472;p109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73" name="Google Shape;1473;p109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74" name="Google Shape;1474;p10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43200" y="1056240"/>
            <a:ext cx="7745400" cy="5349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10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0" name="Google Shape;1480;p110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1" name="Google Shape;1481;p110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빨간색이(가) 표시된 사진&#10;&#10;자동 생성된 설명" id="1482" name="Google Shape;1482;p1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320" y="919800"/>
            <a:ext cx="8152560" cy="554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p111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8" name="Google Shape;1488;p111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89" name="Google Shape;1489;p111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빨간색이(가) 표시된 사진&#10;&#10;자동 생성된 설명" id="1490" name="Google Shape;1490;p1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54320" y="919800"/>
            <a:ext cx="8152560" cy="55472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112"/>
          <p:cNvSpPr txBox="1"/>
          <p:nvPr/>
        </p:nvSpPr>
        <p:spPr>
          <a:xfrm>
            <a:off x="9272880" y="6499800"/>
            <a:ext cx="2742840" cy="335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400" strike="noStrik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6" name="Google Shape;1496;p112"/>
          <p:cNvSpPr txBox="1"/>
          <p:nvPr/>
        </p:nvSpPr>
        <p:spPr>
          <a:xfrm>
            <a:off x="0" y="0"/>
            <a:ext cx="12191760" cy="792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sz="1800" strike="noStrik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497" name="Google Shape;1497;p112"/>
          <p:cNvSpPr txBox="1"/>
          <p:nvPr/>
        </p:nvSpPr>
        <p:spPr>
          <a:xfrm>
            <a:off x="0" y="6533280"/>
            <a:ext cx="5210640" cy="32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400" strike="noStrik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graph/network</a:t>
            </a:r>
            <a:endParaRPr b="0" sz="1400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빨간색이(가) 표시된 사진&#10;&#10;자동 생성된 설명" id="1498" name="Google Shape;1498;p1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81640" y="934200"/>
            <a:ext cx="8125920" cy="5390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2020-01-24T13:14:30Z</dcterms:created>
  <dc:creator>Chung Chae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와이드스크린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111</vt:i4>
  </property>
</Properties>
</file>