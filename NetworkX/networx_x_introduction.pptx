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6858000" cx="12192000"/>
  <p:notesSz cx="6858000" cy="9144000"/>
  <p:embeddedFontLst>
    <p:embeddedFont>
      <p:font typeface="Arial Narrow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gM9VVIEtgvHwJ/1DJ1rViSVKEB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ArialNarrow-bold.fntdata"/><Relationship Id="rId30" Type="http://schemas.openxmlformats.org/officeDocument/2006/relationships/font" Target="fonts/ArialNarrow-regular.fntdata"/><Relationship Id="rId11" Type="http://schemas.openxmlformats.org/officeDocument/2006/relationships/slide" Target="slides/slide7.xml"/><Relationship Id="rId33" Type="http://schemas.openxmlformats.org/officeDocument/2006/relationships/font" Target="fonts/ArialNarrow-boldItalic.fntdata"/><Relationship Id="rId10" Type="http://schemas.openxmlformats.org/officeDocument/2006/relationships/slide" Target="slides/slide6.xml"/><Relationship Id="rId32" Type="http://schemas.openxmlformats.org/officeDocument/2006/relationships/font" Target="fonts/ArialNarrow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customschemas.google.com/relationships/presentationmetadata" Target="meta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" name="Google Shape;6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슬라이드">
  <p:cSld name="1_제목 슬라이드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9"/>
          <p:cNvSpPr/>
          <p:nvPr/>
        </p:nvSpPr>
        <p:spPr>
          <a:xfrm>
            <a:off x="0" y="6516000"/>
            <a:ext cx="5221995" cy="324000"/>
          </a:xfrm>
          <a:prstGeom prst="rect">
            <a:avLst/>
          </a:prstGeom>
          <a:solidFill>
            <a:srgbClr val="323F4F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" name="Google Shape;22;p29"/>
          <p:cNvSpPr/>
          <p:nvPr/>
        </p:nvSpPr>
        <p:spPr>
          <a:xfrm>
            <a:off x="5198465" y="6516000"/>
            <a:ext cx="6993535" cy="324000"/>
          </a:xfrm>
          <a:prstGeom prst="rect">
            <a:avLst/>
          </a:prstGeom>
          <a:solidFill>
            <a:srgbClr val="9393FF"/>
          </a:solidFill>
          <a:ln cap="flat" cmpd="sng" w="12700">
            <a:solidFill>
              <a:srgbClr val="9393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" name="Google Shape;23;p29"/>
          <p:cNvSpPr/>
          <p:nvPr/>
        </p:nvSpPr>
        <p:spPr>
          <a:xfrm>
            <a:off x="0" y="15763"/>
            <a:ext cx="12192000" cy="772509"/>
          </a:xfrm>
          <a:prstGeom prst="rect">
            <a:avLst/>
          </a:prstGeom>
          <a:solidFill>
            <a:srgbClr val="475EC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" name="Google Shape;24;p29"/>
          <p:cNvSpPr/>
          <p:nvPr/>
        </p:nvSpPr>
        <p:spPr>
          <a:xfrm>
            <a:off x="-4157" y="6516364"/>
            <a:ext cx="5220000" cy="325848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" name="Google Shape;25;p29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29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  <a:defRPr b="0"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9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3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3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3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Relationship Id="rId4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F5496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"/>
          <p:cNvSpPr txBox="1"/>
          <p:nvPr/>
        </p:nvSpPr>
        <p:spPr>
          <a:xfrm>
            <a:off x="2512630" y="2577583"/>
            <a:ext cx="8362516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Graph: </a:t>
            </a:r>
            <a:r>
              <a:rPr b="0" i="0" lang="en-US" sz="6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networkx</a:t>
            </a:r>
            <a:endParaRPr b="0" i="0" sz="48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graph/network</a:t>
            </a:r>
            <a:endParaRPr/>
          </a:p>
        </p:txBody>
      </p:sp>
      <p:sp>
        <p:nvSpPr>
          <p:cNvPr id="77" name="Google Shape;77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2"/>
          <p:cNvSpPr txBox="1"/>
          <p:nvPr>
            <p:ph idx="4294967295" type="title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Malgun Gothic"/>
              <a:buNone/>
            </a:pPr>
            <a:r>
              <a:rPr lang="en-US" sz="4400">
                <a:solidFill>
                  <a:schemeClr val="lt2"/>
                </a:solidFill>
              </a:rPr>
              <a:t>	networkx basics:</a:t>
            </a:r>
            <a:br>
              <a:rPr lang="en-US" sz="4400">
                <a:solidFill>
                  <a:schemeClr val="lt2"/>
                </a:solidFill>
              </a:rPr>
            </a:br>
            <a:br>
              <a:rPr lang="en-US"/>
            </a:br>
            <a:r>
              <a:rPr lang="en-US"/>
              <a:t>		</a:t>
            </a:r>
            <a:r>
              <a:rPr lang="en-US" sz="2800"/>
              <a:t>1. graph generator</a:t>
            </a:r>
            <a:br>
              <a:rPr lang="en-US" sz="2800"/>
            </a:br>
            <a:r>
              <a:rPr lang="en-US" sz="2800"/>
              <a:t>		2. add/remove/naming nodes</a:t>
            </a:r>
            <a:br>
              <a:rPr lang="en-US" sz="2800"/>
            </a:br>
            <a:r>
              <a:rPr lang="en-US" sz="2800"/>
              <a:t>		3. add/remove/naming edges</a:t>
            </a:r>
            <a:br>
              <a:rPr lang="en-US" sz="2800"/>
            </a:br>
            <a:r>
              <a:rPr lang="en-US" sz="2800"/>
              <a:t>		4. nodes labeling</a:t>
            </a:r>
            <a:br>
              <a:rPr lang="en-US" sz="2800"/>
            </a:br>
            <a:endParaRPr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3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 Installation</a:t>
            </a:r>
            <a:endParaRPr/>
          </a:p>
        </p:txBody>
      </p:sp>
      <p:sp>
        <p:nvSpPr>
          <p:cNvPr id="85" name="Google Shape;85;p3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graph/network</a:t>
            </a:r>
            <a:endParaRPr/>
          </a:p>
        </p:txBody>
      </p:sp>
      <p:sp>
        <p:nvSpPr>
          <p:cNvPr id="86" name="Google Shape;86;p3"/>
          <p:cNvSpPr txBox="1"/>
          <p:nvPr/>
        </p:nvSpPr>
        <p:spPr>
          <a:xfrm>
            <a:off x="1462079" y="1574279"/>
            <a:ext cx="8306873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highlight>
                  <a:srgbClr val="C0C0C0"/>
                </a:highlight>
                <a:latin typeface="Arial Narrow"/>
                <a:ea typeface="Arial Narrow"/>
                <a:cs typeface="Arial Narrow"/>
                <a:sym typeface="Arial Narrow"/>
              </a:rPr>
              <a:t>conda install –c anaconda networkx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highlight>
                  <a:srgbClr val="C0C0C0"/>
                </a:highlight>
                <a:latin typeface="Arial Narrow"/>
                <a:ea typeface="Arial Narrow"/>
                <a:cs typeface="Arial Narrow"/>
                <a:sym typeface="Arial Narrow"/>
              </a:rPr>
              <a:t>pip install networkx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highlight>
                  <a:srgbClr val="C0C0C0"/>
                </a:highlight>
                <a:latin typeface="Arial Narrow"/>
                <a:ea typeface="Arial Narrow"/>
                <a:cs typeface="Arial Narrow"/>
                <a:sym typeface="Arial Narrow"/>
              </a:rPr>
              <a:t>import networkx as nx </a:t>
            </a:r>
            <a:endParaRPr b="0" i="0" sz="2800" u="none" cap="none" strike="noStrike">
              <a:solidFill>
                <a:schemeClr val="dk1"/>
              </a:solidFill>
              <a:highlight>
                <a:srgbClr val="C0C0C0"/>
              </a:highlight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7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 Add a edge or edges</a:t>
            </a:r>
            <a:endParaRPr/>
          </a:p>
        </p:txBody>
      </p:sp>
      <p:sp>
        <p:nvSpPr>
          <p:cNvPr id="93" name="Google Shape;93;p7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graph/network</a:t>
            </a:r>
            <a:endParaRPr/>
          </a:p>
        </p:txBody>
      </p:sp>
      <p:sp>
        <p:nvSpPr>
          <p:cNvPr id="94" name="Google Shape;94;p7"/>
          <p:cNvSpPr txBox="1"/>
          <p:nvPr/>
        </p:nvSpPr>
        <p:spPr>
          <a:xfrm>
            <a:off x="888642" y="1403797"/>
            <a:ext cx="10908406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highlight>
                  <a:srgbClr val="C0C0C0"/>
                </a:highlight>
                <a:latin typeface="Arial Narrow"/>
                <a:ea typeface="Arial Narrow"/>
                <a:cs typeface="Arial Narrow"/>
                <a:sym typeface="Arial Narrow"/>
              </a:rPr>
              <a:t>G.add_edge(‘a’, ‘b’)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highlight>
                  <a:srgbClr val="C0C0C0"/>
                </a:highlight>
                <a:latin typeface="Arial Narrow"/>
                <a:ea typeface="Arial Narrow"/>
                <a:cs typeface="Arial Narrow"/>
                <a:sym typeface="Arial Narrow"/>
              </a:rPr>
              <a:t>G.add_edges_from([(‘b’, ‘c’), (‘a’, ‘c’)])</a:t>
            </a:r>
            <a:endParaRPr b="0" i="0" sz="2800" u="none" cap="none" strike="noStrike">
              <a:solidFill>
                <a:schemeClr val="dk1"/>
              </a:solidFill>
              <a:highlight>
                <a:srgbClr val="C0C0C0"/>
              </a:highlight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4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networkx can do?</a:t>
            </a:r>
            <a:endParaRPr/>
          </a:p>
        </p:txBody>
      </p:sp>
      <p:sp>
        <p:nvSpPr>
          <p:cNvPr id="101" name="Google Shape;101;p4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graph/network</a:t>
            </a:r>
            <a:endParaRPr/>
          </a:p>
        </p:txBody>
      </p:sp>
      <p:sp>
        <p:nvSpPr>
          <p:cNvPr id="102" name="Google Shape;102;p4"/>
          <p:cNvSpPr txBox="1"/>
          <p:nvPr/>
        </p:nvSpPr>
        <p:spPr>
          <a:xfrm>
            <a:off x="888641" y="1403797"/>
            <a:ext cx="11045053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28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 to do instantiate graph?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0" i="0" lang="en-US" sz="2800" u="none" cap="none" strike="noStrike">
                <a:solidFill>
                  <a:srgbClr val="ABB2B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 to add node(s)?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 how to add edge(s)?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 how to generate path graph?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 how to apply different colors and width for each node add edge?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 how to add features to node?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analysis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79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5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Instantiation</a:t>
            </a:r>
            <a:endParaRPr/>
          </a:p>
        </p:txBody>
      </p:sp>
      <p:sp>
        <p:nvSpPr>
          <p:cNvPr id="109" name="Google Shape;109;p5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graph/network</a:t>
            </a:r>
            <a:endParaRPr/>
          </a:p>
        </p:txBody>
      </p:sp>
      <p:sp>
        <p:nvSpPr>
          <p:cNvPr id="110" name="Google Shape;110;p5"/>
          <p:cNvSpPr txBox="1"/>
          <p:nvPr/>
        </p:nvSpPr>
        <p:spPr>
          <a:xfrm>
            <a:off x="888642" y="1403797"/>
            <a:ext cx="10908406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highlight>
                  <a:srgbClr val="C0C0C0"/>
                </a:highlight>
                <a:latin typeface="Arial Narrow"/>
                <a:ea typeface="Arial Narrow"/>
                <a:cs typeface="Arial Narrow"/>
                <a:sym typeface="Arial Narrow"/>
              </a:rPr>
              <a:t>G = nx.Graph()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highlight>
                <a:srgbClr val="C0C0C0"/>
              </a:highlight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highlight>
                  <a:srgbClr val="C0C0C0"/>
                </a:highlight>
                <a:latin typeface="Arial Narrow"/>
                <a:ea typeface="Arial Narrow"/>
                <a:cs typeface="Arial Narrow"/>
                <a:sym typeface="Arial Narrow"/>
              </a:rPr>
              <a:t>print(G.nodes())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highlight>
                  <a:srgbClr val="C0C0C0"/>
                </a:highlight>
                <a:latin typeface="Arial Narrow"/>
                <a:ea typeface="Arial Narrow"/>
                <a:cs typeface="Arial Narrow"/>
                <a:sym typeface="Arial Narrow"/>
              </a:rPr>
              <a:t>print(G.edges())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highlight>
                <a:srgbClr val="C0C0C0"/>
              </a:highlight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highlight>
                  <a:srgbClr val="C0C0C0"/>
                </a:highlight>
                <a:latin typeface="Arial Narrow"/>
                <a:ea typeface="Arial Narrow"/>
                <a:cs typeface="Arial Narrow"/>
                <a:sym typeface="Arial Narrow"/>
              </a:rPr>
              <a:t>print(type(G.nodes())</a:t>
            </a:r>
            <a:endParaRPr b="0" i="0" sz="2800" u="none" cap="none" strike="noStrike">
              <a:solidFill>
                <a:schemeClr val="dk1"/>
              </a:solidFill>
              <a:highlight>
                <a:srgbClr val="C0C0C0"/>
              </a:highlight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6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 Add a node or nodes</a:t>
            </a:r>
            <a:endParaRPr/>
          </a:p>
        </p:txBody>
      </p:sp>
      <p:sp>
        <p:nvSpPr>
          <p:cNvPr id="117" name="Google Shape;117;p6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graph/network</a:t>
            </a:r>
            <a:endParaRPr/>
          </a:p>
        </p:txBody>
      </p:sp>
      <p:sp>
        <p:nvSpPr>
          <p:cNvPr id="118" name="Google Shape;118;p6"/>
          <p:cNvSpPr txBox="1"/>
          <p:nvPr/>
        </p:nvSpPr>
        <p:spPr>
          <a:xfrm>
            <a:off x="888642" y="1403797"/>
            <a:ext cx="10908406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highlight>
                  <a:srgbClr val="C0C0C0"/>
                </a:highlight>
                <a:latin typeface="Arial Narrow"/>
                <a:ea typeface="Arial Narrow"/>
                <a:cs typeface="Arial Narrow"/>
                <a:sym typeface="Arial Narrow"/>
              </a:rPr>
              <a:t>G.add_node(‘a’)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highlight>
                  <a:srgbClr val="C0C0C0"/>
                </a:highlight>
                <a:latin typeface="Arial Narrow"/>
                <a:ea typeface="Arial Narrow"/>
                <a:cs typeface="Arial Narrow"/>
                <a:sym typeface="Arial Narrow"/>
              </a:rPr>
              <a:t>G.add_nodes_from([‘b’, ‘c’, ‘d’])</a:t>
            </a:r>
            <a:endParaRPr b="0" i="0" sz="2800" u="none" cap="none" strike="noStrike">
              <a:solidFill>
                <a:schemeClr val="dk1"/>
              </a:solidFill>
              <a:highlight>
                <a:srgbClr val="C0C0C0"/>
              </a:highlight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8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 removing node</a:t>
            </a:r>
            <a:endParaRPr/>
          </a:p>
        </p:txBody>
      </p:sp>
      <p:sp>
        <p:nvSpPr>
          <p:cNvPr id="125" name="Google Shape;125;p8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graph/network</a:t>
            </a:r>
            <a:endParaRPr/>
          </a:p>
        </p:txBody>
      </p:sp>
      <p:pic>
        <p:nvPicPr>
          <p:cNvPr id="126" name="Google Shape;12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0053" y="1726930"/>
            <a:ext cx="4403743" cy="114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" name="Google Shape;132;p9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 plotting</a:t>
            </a:r>
            <a:endParaRPr/>
          </a:p>
        </p:txBody>
      </p:sp>
      <p:sp>
        <p:nvSpPr>
          <p:cNvPr id="133" name="Google Shape;133;p9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graph/network</a:t>
            </a:r>
            <a:endParaRPr/>
          </a:p>
        </p:txBody>
      </p:sp>
      <p:sp>
        <p:nvSpPr>
          <p:cNvPr id="134" name="Google Shape;134;p9"/>
          <p:cNvSpPr txBox="1"/>
          <p:nvPr/>
        </p:nvSpPr>
        <p:spPr>
          <a:xfrm>
            <a:off x="888642" y="2054726"/>
            <a:ext cx="4675249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highlight>
                  <a:srgbClr val="C0C0C0"/>
                </a:highlight>
                <a:latin typeface="Arial Narrow"/>
                <a:ea typeface="Arial Narrow"/>
                <a:cs typeface="Arial Narrow"/>
                <a:sym typeface="Arial Narrow"/>
              </a:rPr>
              <a:t>plt.figure(figsize=(5,5))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highlight>
                  <a:srgbClr val="C0C0C0"/>
                </a:highlight>
                <a:latin typeface="Arial Narrow"/>
                <a:ea typeface="Arial Narrow"/>
                <a:cs typeface="Arial Narrow"/>
                <a:sym typeface="Arial Narrow"/>
              </a:rPr>
              <a:t>pos = nx.spring_layout(G)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highlight>
                  <a:srgbClr val="C0C0C0"/>
                </a:highlight>
                <a:latin typeface="Arial Narrow"/>
                <a:ea typeface="Arial Narrow"/>
                <a:cs typeface="Arial Narrow"/>
                <a:sym typeface="Arial Narrow"/>
              </a:rPr>
              <a:t>nx.draw(G, pos=pos)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3827" y="1222267"/>
            <a:ext cx="5781675" cy="363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10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 plotting (labeling, color, font size)</a:t>
            </a:r>
            <a:endParaRPr/>
          </a:p>
        </p:txBody>
      </p:sp>
      <p:sp>
        <p:nvSpPr>
          <p:cNvPr id="142" name="Google Shape;142;p10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graph/network</a:t>
            </a:r>
            <a:endParaRPr/>
          </a:p>
        </p:txBody>
      </p:sp>
      <p:pic>
        <p:nvPicPr>
          <p:cNvPr id="143" name="Google Shape;14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9628" y="1624629"/>
            <a:ext cx="7718155" cy="4497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398" y="1248017"/>
            <a:ext cx="5141954" cy="2192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11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 relabeling</a:t>
            </a:r>
            <a:endParaRPr/>
          </a:p>
        </p:txBody>
      </p:sp>
      <p:sp>
        <p:nvSpPr>
          <p:cNvPr id="151" name="Google Shape;151;p11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graph/network</a:t>
            </a:r>
            <a:endParaRPr/>
          </a:p>
        </p:txBody>
      </p:sp>
      <p:pic>
        <p:nvPicPr>
          <p:cNvPr id="152" name="Google Shape;15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6739" y="1611824"/>
            <a:ext cx="8217977" cy="4893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550" y="1229774"/>
            <a:ext cx="6163468" cy="115696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1"/>
          <p:cNvSpPr/>
          <p:nvPr/>
        </p:nvSpPr>
        <p:spPr>
          <a:xfrm>
            <a:off x="7111144" y="2744983"/>
            <a:ext cx="1017431" cy="1056067"/>
          </a:xfrm>
          <a:prstGeom prst="ellipse">
            <a:avLst/>
          </a:prstGeom>
          <a:noFill/>
          <a:ln cap="flat" cmpd="sng" w="38100">
            <a:solidFill>
              <a:srgbClr val="C0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" name="Google Shape;160;p12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 re-coloring/ re-sizing</a:t>
            </a:r>
            <a:endParaRPr/>
          </a:p>
        </p:txBody>
      </p:sp>
      <p:sp>
        <p:nvSpPr>
          <p:cNvPr id="161" name="Google Shape;161;p12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graph/network</a:t>
            </a:r>
            <a:endParaRPr/>
          </a:p>
        </p:txBody>
      </p:sp>
      <p:pic>
        <p:nvPicPr>
          <p:cNvPr id="162" name="Google Shape;16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1687" y="1953108"/>
            <a:ext cx="5915025" cy="369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3880" y="889052"/>
            <a:ext cx="6914343" cy="37449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13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 color:size:type: nx.draw_networkx_(nodes, labels, edges)</a:t>
            </a:r>
            <a:endParaRPr/>
          </a:p>
        </p:txBody>
      </p:sp>
      <p:sp>
        <p:nvSpPr>
          <p:cNvPr id="170" name="Google Shape;170;p13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graph/network</a:t>
            </a:r>
            <a:endParaRPr/>
          </a:p>
        </p:txBody>
      </p:sp>
      <p:pic>
        <p:nvPicPr>
          <p:cNvPr id="171" name="Google Shape;17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1318" y="1114504"/>
            <a:ext cx="4871783" cy="4154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556" y="821168"/>
            <a:ext cx="6336224" cy="5695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graph/network</a:t>
            </a:r>
            <a:endParaRPr/>
          </a:p>
        </p:txBody>
      </p:sp>
      <p:sp>
        <p:nvSpPr>
          <p:cNvPr id="178" name="Google Shape;17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4"/>
          <p:cNvSpPr txBox="1"/>
          <p:nvPr>
            <p:ph idx="4294967295" type="title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Malgun Gothic"/>
              <a:buNone/>
            </a:pPr>
            <a:r>
              <a:rPr lang="en-US" sz="4400">
                <a:solidFill>
                  <a:schemeClr val="lt2"/>
                </a:solidFill>
              </a:rPr>
              <a:t>	networkx graph generator</a:t>
            </a:r>
            <a:br>
              <a:rPr lang="en-US"/>
            </a:br>
            <a:r>
              <a:rPr lang="en-US"/>
              <a:t>		</a:t>
            </a:r>
            <a:r>
              <a:rPr lang="en-US" sz="2800"/>
              <a:t>1. useful graph</a:t>
            </a:r>
            <a:br>
              <a:rPr lang="en-US" sz="2800"/>
            </a:br>
            <a:r>
              <a:rPr lang="en-US" sz="2800"/>
              <a:t>		2. famous graph</a:t>
            </a:r>
            <a:br>
              <a:rPr lang="en-US" sz="2800"/>
            </a:br>
            <a:r>
              <a:rPr lang="en-US" sz="2800"/>
              <a:t>		3. classical graph</a:t>
            </a:r>
            <a:endParaRPr sz="2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graph/network</a:t>
            </a:r>
            <a:endParaRPr/>
          </a:p>
        </p:txBody>
      </p:sp>
      <p:sp>
        <p:nvSpPr>
          <p:cNvPr id="185" name="Google Shape;18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7" name="Google Shape;187;p15"/>
          <p:cNvSpPr txBox="1"/>
          <p:nvPr/>
        </p:nvSpPr>
        <p:spPr>
          <a:xfrm>
            <a:off x="660400" y="1411442"/>
            <a:ext cx="34882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4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>
            <a:off x="4047068" y="0"/>
            <a:ext cx="8585200" cy="68580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9" name="Google Shape;189;p15"/>
          <p:cNvSpPr txBox="1"/>
          <p:nvPr/>
        </p:nvSpPr>
        <p:spPr>
          <a:xfrm>
            <a:off x="4758266" y="1473201"/>
            <a:ext cx="69426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Complete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bi-partitie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GNR (growing network with redirection)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Barabashi-Albert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Petersen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Karate club (Zachary)</a:t>
            </a:r>
            <a:endParaRPr b="0" i="0" sz="2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812800" y="1563842"/>
            <a:ext cx="34882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4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965200" y="1716242"/>
            <a:ext cx="34882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4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92" name="Google Shape;1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16356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5"/>
          <p:cNvSpPr txBox="1"/>
          <p:nvPr/>
        </p:nvSpPr>
        <p:spPr>
          <a:xfrm>
            <a:off x="524933" y="1507067"/>
            <a:ext cx="327215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Useful graph</a:t>
            </a:r>
            <a:endParaRPr b="0" i="0" sz="4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" name="Google Shape;199;p16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 Complete graph</a:t>
            </a:r>
            <a:endParaRPr/>
          </a:p>
        </p:txBody>
      </p:sp>
      <p:sp>
        <p:nvSpPr>
          <p:cNvPr id="200" name="Google Shape;200;p16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graph/network</a:t>
            </a:r>
            <a:endParaRPr/>
          </a:p>
        </p:txBody>
      </p:sp>
      <p:pic>
        <p:nvPicPr>
          <p:cNvPr id="201" name="Google Shape;20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3988" y="1376120"/>
            <a:ext cx="586740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8324" y="1451755"/>
            <a:ext cx="4971462" cy="18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" name="Google Shape;208;p17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 Complete Bi-partitie graph</a:t>
            </a:r>
            <a:endParaRPr/>
          </a:p>
        </p:txBody>
      </p:sp>
      <p:sp>
        <p:nvSpPr>
          <p:cNvPr id="209" name="Google Shape;209;p17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graph/network</a:t>
            </a:r>
            <a:endParaRPr/>
          </a:p>
        </p:txBody>
      </p:sp>
      <p:pic>
        <p:nvPicPr>
          <p:cNvPr id="210" name="Google Shape;21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3988" y="1376120"/>
            <a:ext cx="586740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8324" y="1451755"/>
            <a:ext cx="4971462" cy="18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7" name="Google Shape;217;p18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 Complete Bi-partitie graph(2)</a:t>
            </a:r>
            <a:endParaRPr/>
          </a:p>
        </p:txBody>
      </p:sp>
      <p:sp>
        <p:nvSpPr>
          <p:cNvPr id="218" name="Google Shape;218;p18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graph/network</a:t>
            </a:r>
            <a:endParaRPr/>
          </a:p>
        </p:txBody>
      </p:sp>
      <p:pic>
        <p:nvPicPr>
          <p:cNvPr id="219" name="Google Shape;21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0663" y="1527551"/>
            <a:ext cx="5734050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515" y="1369663"/>
            <a:ext cx="5686441" cy="22259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p19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 Growing network with redirection</a:t>
            </a:r>
            <a:endParaRPr/>
          </a:p>
        </p:txBody>
      </p:sp>
      <p:sp>
        <p:nvSpPr>
          <p:cNvPr id="227" name="Google Shape;227;p19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graph/network</a:t>
            </a:r>
            <a:endParaRPr/>
          </a:p>
        </p:txBody>
      </p:sp>
      <p:pic>
        <p:nvPicPr>
          <p:cNvPr id="228" name="Google Shape;22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5761" y="3261748"/>
            <a:ext cx="4676775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960976"/>
            <a:ext cx="7025106" cy="2324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5" name="Google Shape;235;p20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 GNR: </a:t>
            </a:r>
            <a:endParaRPr/>
          </a:p>
        </p:txBody>
      </p:sp>
      <p:sp>
        <p:nvSpPr>
          <p:cNvPr id="236" name="Google Shape;236;p20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graph/network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720672" y="1440819"/>
            <a:ext cx="114714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simulated a </a:t>
            </a:r>
            <a:r>
              <a:rPr b="0" i="1" lang="en-US" sz="2800" u="none" cap="none" strike="noStrike">
                <a:solidFill>
                  <a:srgbClr val="833C0B"/>
                </a:solidFill>
                <a:latin typeface="Malgun Gothic"/>
                <a:ea typeface="Malgun Gothic"/>
                <a:cs typeface="Malgun Gothic"/>
                <a:sym typeface="Malgun Gothic"/>
              </a:rPr>
              <a:t>preferential attachment process</a:t>
            </a:r>
            <a:r>
              <a:rPr b="0" i="0" lang="en-US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; distribute among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a number of individuals objects according to they already have.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it generates a long-tail distribution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example: the number of citations,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the wealth of extremely wealthy individuals,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3" name="Google Shape;243;p21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 Barabasi-Albert model</a:t>
            </a:r>
            <a:endParaRPr/>
          </a:p>
        </p:txBody>
      </p:sp>
      <p:sp>
        <p:nvSpPr>
          <p:cNvPr id="244" name="Google Shape;244;p21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graph/network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635431" y="1596325"/>
            <a:ext cx="109728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BA or scale-free model says that network develops following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two steps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1. </a:t>
            </a:r>
            <a:r>
              <a:rPr b="0" i="0" lang="en-US" sz="2500" u="none" cap="none" strike="noStrike">
                <a:solidFill>
                  <a:srgbClr val="833C0B"/>
                </a:solidFill>
                <a:latin typeface="Malgun Gothic"/>
                <a:ea typeface="Malgun Gothic"/>
                <a:cs typeface="Malgun Gothic"/>
                <a:sym typeface="Malgun Gothic"/>
              </a:rPr>
              <a:t>growth</a:t>
            </a:r>
            <a:r>
              <a:rPr b="0" i="0" lang="en-US" sz="2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add a new node with </a:t>
            </a:r>
            <a:r>
              <a:rPr b="0" i="1" lang="en-US" sz="2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</a:t>
            </a:r>
            <a:r>
              <a:rPr b="0" i="0" lang="en-US" sz="2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links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2. </a:t>
            </a:r>
            <a:r>
              <a:rPr b="0" i="0" lang="en-US" sz="2500" u="none" cap="none" strike="noStrike">
                <a:solidFill>
                  <a:srgbClr val="833C0B"/>
                </a:solidFill>
                <a:latin typeface="Malgun Gothic"/>
                <a:ea typeface="Malgun Gothic"/>
                <a:cs typeface="Malgun Gothic"/>
                <a:sym typeface="Malgun Gothic"/>
              </a:rPr>
              <a:t>preferential </a:t>
            </a:r>
            <a:r>
              <a:rPr lang="en-US" sz="2500">
                <a:solidFill>
                  <a:srgbClr val="833C0B"/>
                </a:solidFill>
                <a:latin typeface="Malgun Gothic"/>
                <a:ea typeface="Malgun Gothic"/>
                <a:cs typeface="Malgun Gothic"/>
                <a:sym typeface="Malgun Gothic"/>
              </a:rPr>
              <a:t>attachment</a:t>
            </a:r>
            <a:r>
              <a:rPr b="0" i="0" lang="en-US" sz="2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new node to node </a:t>
            </a:r>
            <a:r>
              <a:rPr b="0" i="1" lang="en-US" sz="2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</a:t>
            </a:r>
            <a:r>
              <a:rPr b="0" i="0" lang="en-US" sz="2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depends on it’s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degree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1" name="Google Shape;251;p22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 Barabasi-Albert  model </a:t>
            </a:r>
            <a:endParaRPr/>
          </a:p>
        </p:txBody>
      </p:sp>
      <p:sp>
        <p:nvSpPr>
          <p:cNvPr id="252" name="Google Shape;252;p22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graph/network</a:t>
            </a:r>
            <a:endParaRPr/>
          </a:p>
        </p:txBody>
      </p:sp>
      <p:pic>
        <p:nvPicPr>
          <p:cNvPr id="253" name="Google Shape;25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4573" y="1287247"/>
            <a:ext cx="4943475" cy="456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4511" y="937809"/>
            <a:ext cx="6518249" cy="2161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3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0" name="Google Shape;260;p23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 Petersen Graph (math)</a:t>
            </a:r>
            <a:endParaRPr/>
          </a:p>
        </p:txBody>
      </p:sp>
      <p:sp>
        <p:nvSpPr>
          <p:cNvPr id="261" name="Google Shape;261;p23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graph/network</a:t>
            </a:r>
            <a:endParaRPr/>
          </a:p>
        </p:txBody>
      </p:sp>
      <p:pic>
        <p:nvPicPr>
          <p:cNvPr id="262" name="Google Shape;26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0689" y="2736016"/>
            <a:ext cx="4943475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285" y="1290637"/>
            <a:ext cx="10855568" cy="1251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9" name="Google Shape;269;p24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 Karate Club graph: </a:t>
            </a:r>
            <a:r>
              <a:rPr lang="en-US" sz="3200">
                <a:solidFill>
                  <a:srgbClr val="AEABAB"/>
                </a:solidFill>
              </a:rPr>
              <a:t>an example of community structure</a:t>
            </a:r>
            <a:endParaRPr>
              <a:solidFill>
                <a:srgbClr val="AEABAB"/>
              </a:solidFill>
            </a:endParaRPr>
          </a:p>
        </p:txBody>
      </p:sp>
      <p:sp>
        <p:nvSpPr>
          <p:cNvPr id="270" name="Google Shape;270;p24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graph/network</a:t>
            </a:r>
            <a:endParaRPr/>
          </a:p>
        </p:txBody>
      </p:sp>
      <p:pic>
        <p:nvPicPr>
          <p:cNvPr id="271" name="Google Shape;27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3981" y="2795586"/>
            <a:ext cx="4914900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9565" y="1240429"/>
            <a:ext cx="8991181" cy="100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5"/>
          <p:cNvSpPr txBox="1"/>
          <p:nvPr>
            <p:ph idx="12" type="sldNum"/>
          </p:nvPr>
        </p:nvSpPr>
        <p:spPr>
          <a:xfrm>
            <a:off x="9272752" y="6499952"/>
            <a:ext cx="2743200" cy="335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8" name="Google Shape;278;p25"/>
          <p:cNvSpPr txBox="1"/>
          <p:nvPr>
            <p:ph type="title"/>
          </p:nvPr>
        </p:nvSpPr>
        <p:spPr>
          <a:xfrm>
            <a:off x="0" y="1"/>
            <a:ext cx="12192000" cy="793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</a:pPr>
            <a:r>
              <a:rPr lang="en-US"/>
              <a:t> Karate club (</a:t>
            </a:r>
            <a:r>
              <a:rPr i="1" lang="en-US"/>
              <a:t>from wiki</a:t>
            </a:r>
            <a:r>
              <a:rPr lang="en-US"/>
              <a:t>)</a:t>
            </a:r>
            <a:endParaRPr/>
          </a:p>
        </p:txBody>
      </p:sp>
      <p:sp>
        <p:nvSpPr>
          <p:cNvPr id="279" name="Google Shape;279;p25"/>
          <p:cNvSpPr txBox="1"/>
          <p:nvPr>
            <p:ph idx="11" type="ftr"/>
          </p:nvPr>
        </p:nvSpPr>
        <p:spPr>
          <a:xfrm>
            <a:off x="0" y="6533362"/>
            <a:ext cx="5210978" cy="3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graph/network</a:t>
            </a:r>
            <a:endParaRPr/>
          </a:p>
        </p:txBody>
      </p:sp>
      <p:pic>
        <p:nvPicPr>
          <p:cNvPr id="280" name="Google Shape;28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933" y="1224366"/>
            <a:ext cx="10171333" cy="3335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1" name="Google Shape;281;p25"/>
          <p:cNvCxnSpPr/>
          <p:nvPr/>
        </p:nvCxnSpPr>
        <p:spPr>
          <a:xfrm>
            <a:off x="4211273" y="4068661"/>
            <a:ext cx="6249799" cy="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282" name="Google Shape;282;p25"/>
          <p:cNvCxnSpPr/>
          <p:nvPr/>
        </p:nvCxnSpPr>
        <p:spPr>
          <a:xfrm>
            <a:off x="899020" y="4439175"/>
            <a:ext cx="6575571" cy="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dot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2020-01-24T13:14:30Z</dcterms:created>
  <dc:creator>Chung Chae</dc:creator>
</cp:coreProperties>
</file>