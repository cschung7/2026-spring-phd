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http://customooxmlschemas.google.com/">
      <go:slidesCustomData xmlns:go="http://customooxmlschemas.google.com/" r:id="rId32" roundtripDataSignature="AMtx7mgyk1RjEuly7FmNvZtklqcxpYx0/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29" Type="http://schemas.openxmlformats.org/officeDocument/2006/relationships/slide" Target="slides/slide25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32" Type="http://customschemas.google.com/relationships/presentationmetadata" Target="metadata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1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1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1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p2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" name="Google Shape;255;p2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" name="Google Shape;264;p2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3" name="Google Shape;273;p2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1" name="Google Shape;281;p2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9" name="Google Shape;289;p2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7" name="Google Shape;297;p2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5" name="Google Shape;305;p2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제목 슬라이드">
  <p:cSld name="1_제목 슬라이드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빈 화면" type="blank">
  <p:cSld name="BLANK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3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3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 슬라이드">
  <p:cSld name="제목 슬라이드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31"/>
          <p:cNvSpPr/>
          <p:nvPr/>
        </p:nvSpPr>
        <p:spPr>
          <a:xfrm>
            <a:off x="0" y="6516000"/>
            <a:ext cx="5221995" cy="324000"/>
          </a:xfrm>
          <a:prstGeom prst="rect">
            <a:avLst/>
          </a:prstGeom>
          <a:solidFill>
            <a:srgbClr val="323F4F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8" name="Google Shape;18;p31"/>
          <p:cNvSpPr/>
          <p:nvPr/>
        </p:nvSpPr>
        <p:spPr>
          <a:xfrm>
            <a:off x="5198465" y="6516000"/>
            <a:ext cx="6993535" cy="324000"/>
          </a:xfrm>
          <a:prstGeom prst="rect">
            <a:avLst/>
          </a:prstGeom>
          <a:solidFill>
            <a:srgbClr val="9393FF"/>
          </a:solidFill>
          <a:ln cap="flat" cmpd="sng" w="12700">
            <a:solidFill>
              <a:srgbClr val="9393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9" name="Google Shape;19;p31"/>
          <p:cNvSpPr/>
          <p:nvPr/>
        </p:nvSpPr>
        <p:spPr>
          <a:xfrm>
            <a:off x="0" y="15763"/>
            <a:ext cx="12192000" cy="772509"/>
          </a:xfrm>
          <a:prstGeom prst="rect">
            <a:avLst/>
          </a:prstGeom>
          <a:solidFill>
            <a:srgbClr val="475EC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0" name="Google Shape;20;p31"/>
          <p:cNvSpPr/>
          <p:nvPr/>
        </p:nvSpPr>
        <p:spPr>
          <a:xfrm>
            <a:off x="-4157" y="6516364"/>
            <a:ext cx="5220000" cy="325848"/>
          </a:xfrm>
          <a:prstGeom prst="rect">
            <a:avLst/>
          </a:prstGeom>
          <a:noFill/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1" name="Google Shape;21;p31"/>
          <p:cNvSpPr txBox="1"/>
          <p:nvPr>
            <p:ph idx="12" type="sldNum"/>
          </p:nvPr>
        </p:nvSpPr>
        <p:spPr>
          <a:xfrm>
            <a:off x="9272752" y="6499952"/>
            <a:ext cx="2743200" cy="33565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0" i="0" sz="14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0" lvl="1" marL="0" algn="r">
              <a:spcBef>
                <a:spcPts val="0"/>
              </a:spcBef>
              <a:buNone/>
              <a:defRPr b="0" i="0" sz="14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0" lvl="2" marL="0" algn="r">
              <a:spcBef>
                <a:spcPts val="0"/>
              </a:spcBef>
              <a:buNone/>
              <a:defRPr b="0" i="0" sz="14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0" lvl="3" marL="0" algn="r">
              <a:spcBef>
                <a:spcPts val="0"/>
              </a:spcBef>
              <a:buNone/>
              <a:defRPr b="0" i="0" sz="14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0" lvl="4" marL="0" algn="r">
              <a:spcBef>
                <a:spcPts val="0"/>
              </a:spcBef>
              <a:buNone/>
              <a:defRPr b="0" i="0" sz="14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0" lvl="5" marL="0" algn="r">
              <a:spcBef>
                <a:spcPts val="0"/>
              </a:spcBef>
              <a:buNone/>
              <a:defRPr b="0" i="0" sz="14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0" lvl="6" marL="0" algn="r">
              <a:spcBef>
                <a:spcPts val="0"/>
              </a:spcBef>
              <a:buNone/>
              <a:defRPr b="0" i="0" sz="14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0" lvl="7" marL="0" algn="r">
              <a:spcBef>
                <a:spcPts val="0"/>
              </a:spcBef>
              <a:buNone/>
              <a:defRPr b="0" i="0" sz="14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0" lvl="8" marL="0" algn="r">
              <a:spcBef>
                <a:spcPts val="0"/>
              </a:spcBef>
              <a:buNone/>
              <a:defRPr b="0" i="0" sz="14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  <p:sp>
        <p:nvSpPr>
          <p:cNvPr id="22" name="Google Shape;22;p31"/>
          <p:cNvSpPr txBox="1"/>
          <p:nvPr>
            <p:ph type="title"/>
          </p:nvPr>
        </p:nvSpPr>
        <p:spPr>
          <a:xfrm>
            <a:off x="0" y="1"/>
            <a:ext cx="12192000" cy="7932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Malgun Gothic"/>
              <a:buNone/>
              <a:defRPr b="0"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1"/>
          <p:cNvSpPr txBox="1"/>
          <p:nvPr>
            <p:ph idx="11" type="ftr"/>
          </p:nvPr>
        </p:nvSpPr>
        <p:spPr>
          <a:xfrm>
            <a:off x="0" y="6533362"/>
            <a:ext cx="5210978" cy="3246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 및 내용" type="obj">
  <p:cSld name="OBJECT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3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32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7" name="Google Shape;27;p3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3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3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구역 머리글" type="secHead">
  <p:cSld name="SECTION_HEADER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33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Malgun Gothic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33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3" name="Google Shape;33;p3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3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3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콘텐츠 2개" type="twoObj">
  <p:cSld name="TWO_OBJECTS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3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34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9" name="Google Shape;39;p34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3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3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3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비교" type="twoTxTwoObj">
  <p:cSld name="TWO_OBJECTS_WITH_TEXT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35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35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6" name="Google Shape;46;p35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7" name="Google Shape;47;p35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8" name="Google Shape;48;p35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9" name="Google Shape;49;p3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3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3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만" type="titleOnly">
  <p:cSld name="TITLE_ONLY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3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3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3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3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세로 제목 및 텍스트" type="vertTitleAndTx">
  <p:cSld name="VERTICAL_TITLE_AND_VERTICAL_TEXT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37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37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0" name="Google Shape;60;p3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3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3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0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Malgun Gothic"/>
              <a:buNone/>
              <a:defRPr b="0" i="0" sz="44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28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8" name="Google Shape;8;p2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9" name="Google Shape;9;p2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10" name="Google Shape;10;p2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9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1.png"/><Relationship Id="rId4" Type="http://schemas.openxmlformats.org/officeDocument/2006/relationships/image" Target="../media/image2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0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.png"/><Relationship Id="rId4" Type="http://schemas.openxmlformats.org/officeDocument/2006/relationships/image" Target="../media/image13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7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7.png"/><Relationship Id="rId4" Type="http://schemas.openxmlformats.org/officeDocument/2006/relationships/image" Target="../media/image22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9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0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9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9.png"/><Relationship Id="rId4" Type="http://schemas.openxmlformats.org/officeDocument/2006/relationships/image" Target="../media/image8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9.png"/><Relationship Id="rId4" Type="http://schemas.openxmlformats.org/officeDocument/2006/relationships/image" Target="../media/image6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9.png"/><Relationship Id="rId4" Type="http://schemas.openxmlformats.org/officeDocument/2006/relationships/image" Target="../media/image6.png"/><Relationship Id="rId5" Type="http://schemas.openxmlformats.org/officeDocument/2006/relationships/image" Target="../media/image16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4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28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21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7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2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F5496"/>
        </a:solidFill>
      </p:bgPr>
    </p:bg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"/>
          <p:cNvSpPr txBox="1"/>
          <p:nvPr/>
        </p:nvSpPr>
        <p:spPr>
          <a:xfrm>
            <a:off x="2542709" y="2126399"/>
            <a:ext cx="8362516" cy="1446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-KR" sz="44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NetworkX with Granger Causality</a:t>
            </a:r>
            <a:endParaRPr b="0" i="0" sz="44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Malgun Gothic"/>
              <a:buNone/>
            </a:pPr>
            <a:r>
              <a:rPr b="0" i="0" lang="ko-KR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rPr>
              <a:t>graph/network</a:t>
            </a:r>
            <a:endParaRPr b="0" i="0" sz="1200" u="none" cap="none" strike="noStrike">
              <a:solidFill>
                <a:srgbClr val="888888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73" name="Google Shape;73;p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Malgun Gothic"/>
              <a:buNone/>
            </a:pPr>
            <a:fld id="{00000000-1234-1234-1234-123412341234}" type="slidenum">
              <a:rPr b="0" i="0" lang="ko-KR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rPr>
              <a:t>‹#›</a:t>
            </a:fld>
            <a:endParaRPr b="0" i="0" sz="1200" u="none" cap="none" strike="noStrike">
              <a:solidFill>
                <a:srgbClr val="888888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74" name="Google Shape;74;p2"/>
          <p:cNvSpPr txBox="1"/>
          <p:nvPr/>
        </p:nvSpPr>
        <p:spPr>
          <a:xfrm>
            <a:off x="9272752" y="6499952"/>
            <a:ext cx="2743200" cy="33565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Malgun Gothic"/>
              <a:buNone/>
            </a:pPr>
            <a:fld id="{00000000-1234-1234-1234-123412341234}" type="slidenum">
              <a:rPr b="0" i="0" lang="ko-KR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rPr>
              <a:t>‹#›</a:t>
            </a:fld>
            <a:endParaRPr b="0" i="0" sz="1200" u="none" cap="none" strike="noStrike">
              <a:solidFill>
                <a:srgbClr val="888888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75" name="Google Shape;75;p2"/>
          <p:cNvSpPr txBox="1"/>
          <p:nvPr/>
        </p:nvSpPr>
        <p:spPr>
          <a:xfrm>
            <a:off x="660400" y="1411442"/>
            <a:ext cx="3488267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Malgun Gothic"/>
              <a:buNone/>
            </a:pPr>
            <a:r>
              <a:rPr b="0" i="0" lang="ko-KR" sz="40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Contents</a:t>
            </a:r>
            <a:endParaRPr b="0" i="0" sz="4000" u="none" cap="none" strike="noStrike">
              <a:solidFill>
                <a:srgbClr val="FFFFF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76" name="Google Shape;76;p2"/>
          <p:cNvSpPr txBox="1"/>
          <p:nvPr/>
        </p:nvSpPr>
        <p:spPr>
          <a:xfrm>
            <a:off x="4047068" y="0"/>
            <a:ext cx="8585200" cy="6858000"/>
          </a:xfrm>
          <a:prstGeom prst="rect">
            <a:avLst/>
          </a:prstGeom>
          <a:solidFill>
            <a:srgbClr val="2F549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algun Gothic"/>
              <a:buNone/>
            </a:pPr>
            <a:r>
              <a:t/>
            </a:r>
            <a:endParaRPr b="1" i="0" sz="1400" u="none" cap="none" strike="noStrike">
              <a:solidFill>
                <a:srgbClr val="FFFFF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77" name="Google Shape;77;p2"/>
          <p:cNvSpPr txBox="1"/>
          <p:nvPr/>
        </p:nvSpPr>
        <p:spPr>
          <a:xfrm>
            <a:off x="4758266" y="1473201"/>
            <a:ext cx="6942666" cy="26776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2800"/>
              <a:buFont typeface="Arial"/>
              <a:buChar char="•"/>
            </a:pPr>
            <a:r>
              <a:rPr b="0" i="0" lang="ko-KR" sz="2800" u="none" cap="none" strike="noStrike">
                <a:solidFill>
                  <a:srgbClr val="F2F2F2"/>
                </a:solidFill>
                <a:latin typeface="Malgun Gothic"/>
                <a:ea typeface="Malgun Gothic"/>
                <a:cs typeface="Malgun Gothic"/>
                <a:sym typeface="Malgun Gothic"/>
              </a:rPr>
              <a:t>VAR</a:t>
            </a:r>
            <a:endParaRPr b="0" i="0" sz="1800" u="none" cap="none" strike="noStrike">
              <a:solidFill>
                <a:srgbClr val="F2F2F2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285750" lvl="1" marL="7429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2800"/>
              <a:buFont typeface="Arial"/>
              <a:buChar char="•"/>
            </a:pPr>
            <a:r>
              <a:rPr b="0" i="0" lang="ko-KR" sz="2800" u="none" cap="none" strike="noStrike">
                <a:solidFill>
                  <a:srgbClr val="F2F2F2"/>
                </a:solidFill>
                <a:latin typeface="Malgun Gothic"/>
                <a:ea typeface="Malgun Gothic"/>
                <a:cs typeface="Malgun Gothic"/>
                <a:sym typeface="Malgun Gothic"/>
              </a:rPr>
              <a:t>Statsmodels</a:t>
            </a:r>
            <a:endParaRPr b="0" i="0" sz="1800" u="none" cap="none" strike="noStrike">
              <a:solidFill>
                <a:srgbClr val="F2F2F2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285750" lvl="1" marL="742950" marR="0" rtl="0" algn="l"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2800"/>
              <a:buFont typeface="Arial"/>
              <a:buChar char="•"/>
            </a:pPr>
            <a:r>
              <a:rPr b="0" i="0" lang="ko-KR" sz="2800" u="none" cap="none" strike="noStrike">
                <a:solidFill>
                  <a:srgbClr val="F2F2F2"/>
                </a:solidFill>
                <a:latin typeface="Malgun Gothic"/>
                <a:ea typeface="Malgun Gothic"/>
                <a:cs typeface="Malgun Gothic"/>
                <a:sym typeface="Malgun Gothic"/>
              </a:rPr>
              <a:t>Lag selection</a:t>
            </a:r>
            <a:endParaRPr b="0" i="0" sz="1800" u="none" cap="none" strike="noStrike">
              <a:solidFill>
                <a:srgbClr val="F2F2F2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285750" lvl="1" marL="742950" marR="0" rtl="0" algn="l"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2800"/>
              <a:buFont typeface="Arial"/>
              <a:buChar char="•"/>
            </a:pPr>
            <a:r>
              <a:rPr b="0" i="0" lang="ko-KR" sz="2800" u="none" cap="none" strike="noStrike">
                <a:solidFill>
                  <a:srgbClr val="F2F2F2"/>
                </a:solidFill>
                <a:latin typeface="Malgun Gothic"/>
                <a:ea typeface="Malgun Gothic"/>
                <a:cs typeface="Malgun Gothic"/>
                <a:sym typeface="Malgun Gothic"/>
              </a:rPr>
              <a:t>Variance decomposition</a:t>
            </a:r>
            <a:endParaRPr b="0" i="0" sz="1800" u="none" cap="none" strike="noStrike">
              <a:solidFill>
                <a:srgbClr val="F2F2F2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285750" lvl="1" marL="742950" marR="0" rtl="0" algn="l"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2800"/>
              <a:buFont typeface="Arial"/>
              <a:buChar char="•"/>
            </a:pPr>
            <a:r>
              <a:rPr b="0" i="0" lang="ko-KR" sz="2800" u="none" cap="none" strike="noStrike">
                <a:solidFill>
                  <a:srgbClr val="F2F2F2"/>
                </a:solidFill>
                <a:latin typeface="Malgun Gothic"/>
                <a:ea typeface="Malgun Gothic"/>
                <a:cs typeface="Malgun Gothic"/>
                <a:sym typeface="Malgun Gothic"/>
              </a:rPr>
              <a:t>Impulse response function</a:t>
            </a:r>
            <a:endParaRPr/>
          </a:p>
          <a:p>
            <a:pPr indent="-285750" lvl="1" marL="742950" marR="0" rtl="0" algn="l"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2800"/>
              <a:buFont typeface="Arial"/>
              <a:buChar char="•"/>
            </a:pPr>
            <a:r>
              <a:rPr b="0" i="0" lang="ko-KR" sz="2800" u="none" cap="none" strike="noStrike">
                <a:solidFill>
                  <a:srgbClr val="F2F2F2"/>
                </a:solidFill>
                <a:latin typeface="Malgun Gothic"/>
                <a:ea typeface="Malgun Gothic"/>
                <a:cs typeface="Malgun Gothic"/>
                <a:sym typeface="Malgun Gothic"/>
              </a:rPr>
              <a:t>Granger causality </a:t>
            </a:r>
            <a:endParaRPr b="0" i="0" sz="1800" u="none" cap="none" strike="noStrike">
              <a:solidFill>
                <a:srgbClr val="F2F2F2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78" name="Google Shape;78;p2"/>
          <p:cNvSpPr txBox="1"/>
          <p:nvPr/>
        </p:nvSpPr>
        <p:spPr>
          <a:xfrm>
            <a:off x="812800" y="1563842"/>
            <a:ext cx="3488267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Malgun Gothic"/>
              <a:buNone/>
            </a:pPr>
            <a:r>
              <a:rPr b="0" i="0" lang="ko-KR" sz="40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Contents</a:t>
            </a:r>
            <a:endParaRPr b="0" i="0" sz="4000" u="none" cap="none" strike="noStrike">
              <a:solidFill>
                <a:srgbClr val="FFFFF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79" name="Google Shape;79;p2"/>
          <p:cNvSpPr txBox="1"/>
          <p:nvPr/>
        </p:nvSpPr>
        <p:spPr>
          <a:xfrm>
            <a:off x="965200" y="1716242"/>
            <a:ext cx="3488267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Malgun Gothic"/>
              <a:buNone/>
            </a:pPr>
            <a:r>
              <a:rPr b="0" i="0" lang="ko-KR" sz="40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Contents</a:t>
            </a:r>
            <a:endParaRPr b="0" i="0" sz="4000" u="none" cap="none" strike="noStrike">
              <a:solidFill>
                <a:srgbClr val="FFFFF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id="80" name="Google Shape;80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4163568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1" name="Google Shape;81;p2"/>
          <p:cNvSpPr txBox="1"/>
          <p:nvPr/>
        </p:nvSpPr>
        <p:spPr>
          <a:xfrm>
            <a:off x="524933" y="1507067"/>
            <a:ext cx="2946400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Malgun Gothic"/>
              <a:buNone/>
            </a:pPr>
            <a:r>
              <a:rPr b="0" i="0" lang="ko-KR" sz="40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Contents</a:t>
            </a:r>
            <a:endParaRPr b="0" i="0" sz="4000" u="none" cap="none" strike="noStrike">
              <a:solidFill>
                <a:srgbClr val="FFFFF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3"/>
          <p:cNvSpPr txBox="1"/>
          <p:nvPr>
            <p:ph idx="12" type="sldNum"/>
          </p:nvPr>
        </p:nvSpPr>
        <p:spPr>
          <a:xfrm>
            <a:off x="9272752" y="6499952"/>
            <a:ext cx="2743200" cy="33565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Malgun Gothic"/>
              <a:buNone/>
            </a:pPr>
            <a:fld id="{00000000-1234-1234-1234-123412341234}" type="slidenum">
              <a:rPr b="0" i="0" lang="ko-KR" sz="14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‹#›</a:t>
            </a:fld>
            <a:endParaRPr b="0" i="0" sz="1400" u="none" cap="none" strike="noStrike">
              <a:solidFill>
                <a:srgbClr val="FFFFF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87" name="Google Shape;87;p3"/>
          <p:cNvSpPr txBox="1"/>
          <p:nvPr>
            <p:ph type="title"/>
          </p:nvPr>
        </p:nvSpPr>
        <p:spPr>
          <a:xfrm>
            <a:off x="0" y="1"/>
            <a:ext cx="12192000" cy="7932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Malgun Gothic"/>
              <a:buNone/>
            </a:pPr>
            <a:r>
              <a:rPr lang="ko-KR"/>
              <a:t>Restricted analysis in KRX: </a:t>
            </a:r>
            <a:r>
              <a:rPr lang="ko-KR">
                <a:latin typeface="Malgun Gothic"/>
                <a:ea typeface="Malgun Gothic"/>
                <a:cs typeface="Malgun Gothic"/>
                <a:sym typeface="Malgun Gothic"/>
              </a:rPr>
              <a:t>반도체</a:t>
            </a:r>
            <a:r>
              <a:rPr lang="ko-KR"/>
              <a:t> </a:t>
            </a:r>
            <a:r>
              <a:rPr lang="ko-KR">
                <a:latin typeface="Malgun Gothic"/>
                <a:ea typeface="Malgun Gothic"/>
                <a:cs typeface="Malgun Gothic"/>
                <a:sym typeface="Malgun Gothic"/>
              </a:rPr>
              <a:t>관련</a:t>
            </a:r>
            <a:endParaRPr/>
          </a:p>
        </p:txBody>
      </p:sp>
      <p:sp>
        <p:nvSpPr>
          <p:cNvPr id="88" name="Google Shape;88;p3"/>
          <p:cNvSpPr txBox="1"/>
          <p:nvPr>
            <p:ph idx="11" type="ftr"/>
          </p:nvPr>
        </p:nvSpPr>
        <p:spPr>
          <a:xfrm>
            <a:off x="0" y="6533362"/>
            <a:ext cx="5210978" cy="3246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Malgun Gothic"/>
              <a:buNone/>
            </a:pPr>
            <a:r>
              <a:rPr b="1" i="0" lang="ko-KR" sz="14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Neo4j</a:t>
            </a:r>
            <a:endParaRPr/>
          </a:p>
        </p:txBody>
      </p:sp>
      <p:sp>
        <p:nvSpPr>
          <p:cNvPr id="89" name="Google Shape;89;p3"/>
          <p:cNvSpPr txBox="1"/>
          <p:nvPr/>
        </p:nvSpPr>
        <p:spPr>
          <a:xfrm>
            <a:off x="1473868" y="1564105"/>
            <a:ext cx="9043736" cy="15696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ko-KR" sz="24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반도체 장비</a:t>
            </a:r>
            <a:endParaRPr b="0" i="0" sz="24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ko-KR" sz="24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시스템 반도체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ko-KR" sz="24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반도체 재료부품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ko-KR" sz="24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반도체 대표주 (생산)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4"/>
          <p:cNvSpPr txBox="1"/>
          <p:nvPr>
            <p:ph idx="12" type="sldNum"/>
          </p:nvPr>
        </p:nvSpPr>
        <p:spPr>
          <a:xfrm>
            <a:off x="9272752" y="6499952"/>
            <a:ext cx="2743200" cy="33565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Malgun Gothic"/>
              <a:buNone/>
            </a:pPr>
            <a:fld id="{00000000-1234-1234-1234-123412341234}" type="slidenum">
              <a:rPr b="0" i="0" lang="ko-KR" sz="14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‹#›</a:t>
            </a:fld>
            <a:endParaRPr b="0" i="0" sz="1400" u="none" cap="none" strike="noStrike">
              <a:solidFill>
                <a:srgbClr val="FFFFF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95" name="Google Shape;95;p4"/>
          <p:cNvSpPr txBox="1"/>
          <p:nvPr>
            <p:ph type="title"/>
          </p:nvPr>
        </p:nvSpPr>
        <p:spPr>
          <a:xfrm>
            <a:off x="0" y="1"/>
            <a:ext cx="12192000" cy="7932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Malgun Gothic"/>
              <a:buNone/>
            </a:pPr>
            <a:r>
              <a:rPr lang="ko-KR"/>
              <a:t>Restricted analysis in KRX: </a:t>
            </a:r>
            <a:r>
              <a:rPr lang="ko-KR">
                <a:latin typeface="Malgun Gothic"/>
                <a:ea typeface="Malgun Gothic"/>
                <a:cs typeface="Malgun Gothic"/>
                <a:sym typeface="Malgun Gothic"/>
              </a:rPr>
              <a:t>반도체</a:t>
            </a:r>
            <a:r>
              <a:rPr lang="ko-KR"/>
              <a:t> </a:t>
            </a:r>
            <a:r>
              <a:rPr lang="ko-KR">
                <a:latin typeface="Malgun Gothic"/>
                <a:ea typeface="Malgun Gothic"/>
                <a:cs typeface="Malgun Gothic"/>
                <a:sym typeface="Malgun Gothic"/>
              </a:rPr>
              <a:t>관련</a:t>
            </a:r>
            <a:endParaRPr/>
          </a:p>
        </p:txBody>
      </p:sp>
      <p:sp>
        <p:nvSpPr>
          <p:cNvPr id="96" name="Google Shape;96;p4"/>
          <p:cNvSpPr txBox="1"/>
          <p:nvPr>
            <p:ph idx="11" type="ftr"/>
          </p:nvPr>
        </p:nvSpPr>
        <p:spPr>
          <a:xfrm>
            <a:off x="0" y="6533362"/>
            <a:ext cx="5210978" cy="3246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Malgun Gothic"/>
              <a:buNone/>
            </a:pPr>
            <a:r>
              <a:rPr b="1" i="0" lang="ko-KR" sz="14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Neo4j</a:t>
            </a:r>
            <a:endParaRPr/>
          </a:p>
        </p:txBody>
      </p:sp>
      <p:sp>
        <p:nvSpPr>
          <p:cNvPr id="97" name="Google Shape;97;p4"/>
          <p:cNvSpPr txBox="1"/>
          <p:nvPr/>
        </p:nvSpPr>
        <p:spPr>
          <a:xfrm>
            <a:off x="1473868" y="1564105"/>
            <a:ext cx="9043736" cy="19389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ko-KR" sz="24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반도체 장비 (88)</a:t>
            </a:r>
            <a:endParaRPr b="0" i="0" sz="24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ko-KR" sz="24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시스템 반도체 (42)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ko-KR" sz="24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반도체 재료부품 (52)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ko-KR" sz="24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반도체 대표주 (생산) (3)</a:t>
            </a:r>
            <a:endParaRPr/>
          </a:p>
          <a:p>
            <a:pPr indent="-285750" lvl="1" marL="742950" marR="0" rtl="0" algn="l"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2000"/>
              <a:buFont typeface="Arial"/>
              <a:buChar char="•"/>
            </a:pPr>
            <a:r>
              <a:rPr b="0" i="0" lang="ko-KR" sz="2000" u="none" cap="none" strike="noStrike">
                <a:solidFill>
                  <a:srgbClr val="7F7F7F"/>
                </a:solidFill>
                <a:latin typeface="Malgun Gothic"/>
                <a:ea typeface="Malgun Gothic"/>
                <a:cs typeface="Malgun Gothic"/>
                <a:sym typeface="Malgun Gothic"/>
              </a:rPr>
              <a:t>삼성전자, SK하이닉스, DB하이텍</a:t>
            </a:r>
            <a:endParaRPr b="0" i="0" sz="2000" u="none" cap="none" strike="noStrike">
              <a:solidFill>
                <a:srgbClr val="7F7F7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5"/>
          <p:cNvSpPr txBox="1"/>
          <p:nvPr>
            <p:ph idx="12" type="sldNum"/>
          </p:nvPr>
        </p:nvSpPr>
        <p:spPr>
          <a:xfrm>
            <a:off x="9272752" y="6499952"/>
            <a:ext cx="2743200" cy="33565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Malgun Gothic"/>
              <a:buNone/>
            </a:pPr>
            <a:fld id="{00000000-1234-1234-1234-123412341234}" type="slidenum">
              <a:rPr b="0" i="0" lang="ko-KR" sz="14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‹#›</a:t>
            </a:fld>
            <a:endParaRPr b="0" i="0" sz="1400" u="none" cap="none" strike="noStrike">
              <a:solidFill>
                <a:srgbClr val="FFFFF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03" name="Google Shape;103;p5"/>
          <p:cNvSpPr txBox="1"/>
          <p:nvPr>
            <p:ph type="title"/>
          </p:nvPr>
        </p:nvSpPr>
        <p:spPr>
          <a:xfrm>
            <a:off x="0" y="1"/>
            <a:ext cx="12192000" cy="7932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Malgun Gothic"/>
              <a:buNone/>
            </a:pPr>
            <a:r>
              <a:rPr lang="ko-KR"/>
              <a:t>KRX: </a:t>
            </a:r>
            <a:r>
              <a:rPr lang="ko-KR">
                <a:latin typeface="Malgun Gothic"/>
                <a:ea typeface="Malgun Gothic"/>
                <a:cs typeface="Malgun Gothic"/>
                <a:sym typeface="Malgun Gothic"/>
              </a:rPr>
              <a:t>반도체</a:t>
            </a:r>
            <a:r>
              <a:rPr lang="ko-KR"/>
              <a:t> </a:t>
            </a:r>
            <a:r>
              <a:rPr lang="ko-KR">
                <a:latin typeface="Malgun Gothic"/>
                <a:ea typeface="Malgun Gothic"/>
                <a:cs typeface="Malgun Gothic"/>
                <a:sym typeface="Malgun Gothic"/>
              </a:rPr>
              <a:t>장비</a:t>
            </a:r>
            <a:r>
              <a:rPr lang="ko-KR"/>
              <a:t>(88-10=78)</a:t>
            </a:r>
            <a:endParaRPr/>
          </a:p>
        </p:txBody>
      </p:sp>
      <p:sp>
        <p:nvSpPr>
          <p:cNvPr id="104" name="Google Shape;104;p5"/>
          <p:cNvSpPr txBox="1"/>
          <p:nvPr>
            <p:ph idx="11" type="ftr"/>
          </p:nvPr>
        </p:nvSpPr>
        <p:spPr>
          <a:xfrm>
            <a:off x="0" y="6533362"/>
            <a:ext cx="5210978" cy="3246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Malgun Gothic"/>
              <a:buNone/>
            </a:pPr>
            <a:r>
              <a:rPr b="1" i="0" lang="ko-KR" sz="14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Neo4j</a:t>
            </a:r>
            <a:endParaRPr/>
          </a:p>
        </p:txBody>
      </p:sp>
      <p:pic>
        <p:nvPicPr>
          <p:cNvPr id="105" name="Google Shape;105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47374" y="1249606"/>
            <a:ext cx="6402805" cy="458939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6"/>
          <p:cNvSpPr txBox="1"/>
          <p:nvPr>
            <p:ph idx="12" type="sldNum"/>
          </p:nvPr>
        </p:nvSpPr>
        <p:spPr>
          <a:xfrm>
            <a:off x="9272752" y="6499952"/>
            <a:ext cx="2743200" cy="33565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  <p:sp>
        <p:nvSpPr>
          <p:cNvPr id="111" name="Google Shape;111;p6"/>
          <p:cNvSpPr txBox="1"/>
          <p:nvPr>
            <p:ph type="title"/>
          </p:nvPr>
        </p:nvSpPr>
        <p:spPr>
          <a:xfrm>
            <a:off x="0" y="1"/>
            <a:ext cx="12192000" cy="7932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Malgun Gothic"/>
              <a:buNone/>
            </a:pPr>
            <a:r>
              <a:rPr lang="ko-KR"/>
              <a:t>반도체장비: 상관관계 관련</a:t>
            </a:r>
            <a:endParaRPr/>
          </a:p>
        </p:txBody>
      </p:sp>
      <p:sp>
        <p:nvSpPr>
          <p:cNvPr id="112" name="Google Shape;112;p6"/>
          <p:cNvSpPr txBox="1"/>
          <p:nvPr>
            <p:ph idx="11" type="ftr"/>
          </p:nvPr>
        </p:nvSpPr>
        <p:spPr>
          <a:xfrm>
            <a:off x="0" y="6533362"/>
            <a:ext cx="5210978" cy="3246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/>
              <a:t>graph/network</a:t>
            </a:r>
            <a:endParaRPr/>
          </a:p>
        </p:txBody>
      </p:sp>
      <p:pic>
        <p:nvPicPr>
          <p:cNvPr descr="텍스트이(가) 표시된 사진&#10;&#10;자동 생성된 설명" id="113" name="Google Shape;113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95400" y="1367284"/>
            <a:ext cx="7515726" cy="31207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7"/>
          <p:cNvSpPr txBox="1"/>
          <p:nvPr>
            <p:ph idx="12" type="sldNum"/>
          </p:nvPr>
        </p:nvSpPr>
        <p:spPr>
          <a:xfrm>
            <a:off x="9272752" y="6499952"/>
            <a:ext cx="2743200" cy="33565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  <p:sp>
        <p:nvSpPr>
          <p:cNvPr id="119" name="Google Shape;119;p7"/>
          <p:cNvSpPr txBox="1"/>
          <p:nvPr>
            <p:ph type="title"/>
          </p:nvPr>
        </p:nvSpPr>
        <p:spPr>
          <a:xfrm>
            <a:off x="0" y="1"/>
            <a:ext cx="12192000" cy="7932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Malgun Gothic"/>
              <a:buNone/>
            </a:pPr>
            <a:r>
              <a:rPr lang="ko-KR"/>
              <a:t>반도체장비: network graph</a:t>
            </a:r>
            <a:endParaRPr/>
          </a:p>
        </p:txBody>
      </p:sp>
      <p:sp>
        <p:nvSpPr>
          <p:cNvPr id="120" name="Google Shape;120;p7"/>
          <p:cNvSpPr txBox="1"/>
          <p:nvPr>
            <p:ph idx="11" type="ftr"/>
          </p:nvPr>
        </p:nvSpPr>
        <p:spPr>
          <a:xfrm>
            <a:off x="0" y="6533362"/>
            <a:ext cx="5210978" cy="3246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/>
              <a:t>graph/network</a:t>
            </a:r>
            <a:endParaRPr/>
          </a:p>
        </p:txBody>
      </p:sp>
      <p:pic>
        <p:nvPicPr>
          <p:cNvPr descr="텍스트이(가) 표시된 사진&#10;&#10;자동 생성된 설명" id="121" name="Google Shape;121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95400" y="1367284"/>
            <a:ext cx="7515726" cy="31207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8"/>
          <p:cNvSpPr txBox="1"/>
          <p:nvPr>
            <p:ph idx="12" type="sldNum"/>
          </p:nvPr>
        </p:nvSpPr>
        <p:spPr>
          <a:xfrm>
            <a:off x="9272752" y="6499952"/>
            <a:ext cx="2743200" cy="33565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  <p:sp>
        <p:nvSpPr>
          <p:cNvPr id="127" name="Google Shape;127;p8"/>
          <p:cNvSpPr txBox="1"/>
          <p:nvPr>
            <p:ph type="title"/>
          </p:nvPr>
        </p:nvSpPr>
        <p:spPr>
          <a:xfrm>
            <a:off x="0" y="1"/>
            <a:ext cx="12192000" cy="7932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Malgun Gothic"/>
              <a:buNone/>
            </a:pPr>
            <a:r>
              <a:rPr lang="ko-KR"/>
              <a:t>반도체장비: network graph</a:t>
            </a:r>
            <a:endParaRPr/>
          </a:p>
        </p:txBody>
      </p:sp>
      <p:sp>
        <p:nvSpPr>
          <p:cNvPr id="128" name="Google Shape;128;p8"/>
          <p:cNvSpPr txBox="1"/>
          <p:nvPr>
            <p:ph idx="11" type="ftr"/>
          </p:nvPr>
        </p:nvSpPr>
        <p:spPr>
          <a:xfrm>
            <a:off x="0" y="6533362"/>
            <a:ext cx="5210978" cy="3246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/>
              <a:t>graph/network</a:t>
            </a:r>
            <a:endParaRPr/>
          </a:p>
        </p:txBody>
      </p:sp>
      <p:pic>
        <p:nvPicPr>
          <p:cNvPr descr="텍스트이(가) 표시된 사진&#10;&#10;자동 생성된 설명" id="129" name="Google Shape;129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2716" y="1146705"/>
            <a:ext cx="4257174" cy="1767247"/>
          </a:xfrm>
          <a:prstGeom prst="rect">
            <a:avLst/>
          </a:prstGeom>
          <a:noFill/>
          <a:ln>
            <a:noFill/>
          </a:ln>
        </p:spPr>
      </p:pic>
      <p:pic>
        <p:nvPicPr>
          <p:cNvPr id="130" name="Google Shape;130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711743" y="881897"/>
            <a:ext cx="8347909" cy="578602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9"/>
          <p:cNvSpPr txBox="1"/>
          <p:nvPr>
            <p:ph idx="12" type="sldNum"/>
          </p:nvPr>
        </p:nvSpPr>
        <p:spPr>
          <a:xfrm>
            <a:off x="9272752" y="6499952"/>
            <a:ext cx="2743200" cy="33565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  <p:sp>
        <p:nvSpPr>
          <p:cNvPr id="136" name="Google Shape;136;p9"/>
          <p:cNvSpPr txBox="1"/>
          <p:nvPr>
            <p:ph type="title"/>
          </p:nvPr>
        </p:nvSpPr>
        <p:spPr>
          <a:xfrm>
            <a:off x="0" y="1"/>
            <a:ext cx="12192000" cy="7932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Malgun Gothic"/>
              <a:buNone/>
            </a:pPr>
            <a:r>
              <a:rPr lang="ko-KR"/>
              <a:t>반도체장비: network graph: degree</a:t>
            </a:r>
            <a:endParaRPr/>
          </a:p>
        </p:txBody>
      </p:sp>
      <p:sp>
        <p:nvSpPr>
          <p:cNvPr id="137" name="Google Shape;137;p9"/>
          <p:cNvSpPr txBox="1"/>
          <p:nvPr>
            <p:ph idx="11" type="ftr"/>
          </p:nvPr>
        </p:nvSpPr>
        <p:spPr>
          <a:xfrm>
            <a:off x="0" y="6533362"/>
            <a:ext cx="5210978" cy="3246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/>
              <a:t>graph/network</a:t>
            </a:r>
            <a:endParaRPr/>
          </a:p>
        </p:txBody>
      </p:sp>
      <p:pic>
        <p:nvPicPr>
          <p:cNvPr descr="텍스트이(가) 표시된 사진&#10;&#10;자동 생성된 설명" id="138" name="Google Shape;138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187743" y="1020335"/>
            <a:ext cx="6954252" cy="51883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10"/>
          <p:cNvSpPr txBox="1"/>
          <p:nvPr>
            <p:ph idx="12" type="sldNum"/>
          </p:nvPr>
        </p:nvSpPr>
        <p:spPr>
          <a:xfrm>
            <a:off x="9272752" y="6499952"/>
            <a:ext cx="2743200" cy="33565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  <p:sp>
        <p:nvSpPr>
          <p:cNvPr id="144" name="Google Shape;144;p10"/>
          <p:cNvSpPr txBox="1"/>
          <p:nvPr>
            <p:ph type="title"/>
          </p:nvPr>
        </p:nvSpPr>
        <p:spPr>
          <a:xfrm>
            <a:off x="0" y="1"/>
            <a:ext cx="12192000" cy="7932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Malgun Gothic"/>
              <a:buNone/>
            </a:pPr>
            <a:r>
              <a:rPr lang="ko-KR"/>
              <a:t>반도체장비: network graph: out-degree</a:t>
            </a:r>
            <a:endParaRPr/>
          </a:p>
        </p:txBody>
      </p:sp>
      <p:sp>
        <p:nvSpPr>
          <p:cNvPr id="145" name="Google Shape;145;p10"/>
          <p:cNvSpPr txBox="1"/>
          <p:nvPr>
            <p:ph idx="11" type="ftr"/>
          </p:nvPr>
        </p:nvSpPr>
        <p:spPr>
          <a:xfrm>
            <a:off x="0" y="6533362"/>
            <a:ext cx="5210978" cy="3246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/>
              <a:t>graph/network</a:t>
            </a:r>
            <a:endParaRPr/>
          </a:p>
        </p:txBody>
      </p:sp>
      <p:pic>
        <p:nvPicPr>
          <p:cNvPr id="146" name="Google Shape;146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388269" y="1204955"/>
            <a:ext cx="6472989" cy="48190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11"/>
          <p:cNvSpPr txBox="1"/>
          <p:nvPr>
            <p:ph idx="12" type="sldNum"/>
          </p:nvPr>
        </p:nvSpPr>
        <p:spPr>
          <a:xfrm>
            <a:off x="9272752" y="6499952"/>
            <a:ext cx="2743200" cy="33565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  <p:sp>
        <p:nvSpPr>
          <p:cNvPr id="152" name="Google Shape;152;p11"/>
          <p:cNvSpPr txBox="1"/>
          <p:nvPr>
            <p:ph type="title"/>
          </p:nvPr>
        </p:nvSpPr>
        <p:spPr>
          <a:xfrm>
            <a:off x="0" y="1"/>
            <a:ext cx="12192000" cy="7932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Malgun Gothic"/>
              <a:buNone/>
            </a:pPr>
            <a:r>
              <a:rPr lang="ko-KR"/>
              <a:t>반도체장비: network graph: out-degree</a:t>
            </a:r>
            <a:endParaRPr/>
          </a:p>
        </p:txBody>
      </p:sp>
      <p:sp>
        <p:nvSpPr>
          <p:cNvPr id="153" name="Google Shape;153;p11"/>
          <p:cNvSpPr txBox="1"/>
          <p:nvPr>
            <p:ph idx="11" type="ftr"/>
          </p:nvPr>
        </p:nvSpPr>
        <p:spPr>
          <a:xfrm>
            <a:off x="0" y="6533362"/>
            <a:ext cx="5210978" cy="3246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/>
              <a:t>graph/network</a:t>
            </a:r>
            <a:endParaRPr/>
          </a:p>
        </p:txBody>
      </p:sp>
      <p:pic>
        <p:nvPicPr>
          <p:cNvPr id="154" name="Google Shape;154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74558" y="1535823"/>
            <a:ext cx="5420226" cy="403701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텍스트, 칠판이(가) 표시된 사진&#10;&#10;자동 생성된 설명" id="155" name="Google Shape;155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5514" y="1718008"/>
            <a:ext cx="3307681" cy="321142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12"/>
          <p:cNvSpPr txBox="1"/>
          <p:nvPr>
            <p:ph idx="12" type="sldNum"/>
          </p:nvPr>
        </p:nvSpPr>
        <p:spPr>
          <a:xfrm>
            <a:off x="9272752" y="6499952"/>
            <a:ext cx="2743200" cy="33565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  <p:sp>
        <p:nvSpPr>
          <p:cNvPr id="161" name="Google Shape;161;p12"/>
          <p:cNvSpPr txBox="1"/>
          <p:nvPr>
            <p:ph type="title"/>
          </p:nvPr>
        </p:nvSpPr>
        <p:spPr>
          <a:xfrm>
            <a:off x="0" y="1"/>
            <a:ext cx="12192000" cy="7932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Malgun Gothic"/>
              <a:buNone/>
            </a:pPr>
            <a:r>
              <a:rPr lang="ko-KR"/>
              <a:t>반도체장비: network graph: in-degree</a:t>
            </a:r>
            <a:endParaRPr/>
          </a:p>
        </p:txBody>
      </p:sp>
      <p:sp>
        <p:nvSpPr>
          <p:cNvPr id="162" name="Google Shape;162;p12"/>
          <p:cNvSpPr txBox="1"/>
          <p:nvPr>
            <p:ph idx="11" type="ftr"/>
          </p:nvPr>
        </p:nvSpPr>
        <p:spPr>
          <a:xfrm>
            <a:off x="0" y="6533362"/>
            <a:ext cx="5210978" cy="3246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/>
              <a:t>graph/network</a:t>
            </a:r>
            <a:endParaRPr/>
          </a:p>
        </p:txBody>
      </p:sp>
      <p:pic>
        <p:nvPicPr>
          <p:cNvPr id="163" name="Google Shape;163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358189" y="1247045"/>
            <a:ext cx="6372725" cy="47348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13"/>
          <p:cNvSpPr txBox="1"/>
          <p:nvPr>
            <p:ph idx="12" type="sldNum"/>
          </p:nvPr>
        </p:nvSpPr>
        <p:spPr>
          <a:xfrm>
            <a:off x="9272752" y="6499952"/>
            <a:ext cx="2743200" cy="33565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  <p:sp>
        <p:nvSpPr>
          <p:cNvPr id="169" name="Google Shape;169;p13"/>
          <p:cNvSpPr txBox="1"/>
          <p:nvPr>
            <p:ph type="title"/>
          </p:nvPr>
        </p:nvSpPr>
        <p:spPr>
          <a:xfrm>
            <a:off x="0" y="1"/>
            <a:ext cx="12192000" cy="7932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Malgun Gothic"/>
              <a:buNone/>
            </a:pPr>
            <a:r>
              <a:rPr lang="ko-KR"/>
              <a:t>반도체장비: network graph: in-degree</a:t>
            </a:r>
            <a:endParaRPr/>
          </a:p>
        </p:txBody>
      </p:sp>
      <p:sp>
        <p:nvSpPr>
          <p:cNvPr id="170" name="Google Shape;170;p13"/>
          <p:cNvSpPr txBox="1"/>
          <p:nvPr>
            <p:ph idx="11" type="ftr"/>
          </p:nvPr>
        </p:nvSpPr>
        <p:spPr>
          <a:xfrm>
            <a:off x="0" y="6533362"/>
            <a:ext cx="5210978" cy="3246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/>
              <a:t>graph/network</a:t>
            </a:r>
            <a:endParaRPr/>
          </a:p>
        </p:txBody>
      </p:sp>
      <p:pic>
        <p:nvPicPr>
          <p:cNvPr id="171" name="Google Shape;171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3689" y="1497703"/>
            <a:ext cx="4999120" cy="3712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텍스트이(가) 표시된 사진&#10;&#10;자동 생성된 설명" id="172" name="Google Shape;172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10801" y="1998495"/>
            <a:ext cx="3690686" cy="218924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14"/>
          <p:cNvSpPr txBox="1"/>
          <p:nvPr>
            <p:ph idx="12" type="sldNum"/>
          </p:nvPr>
        </p:nvSpPr>
        <p:spPr>
          <a:xfrm>
            <a:off x="9272752" y="6499952"/>
            <a:ext cx="2743200" cy="33565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  <p:sp>
        <p:nvSpPr>
          <p:cNvPr id="178" name="Google Shape;178;p14"/>
          <p:cNvSpPr txBox="1"/>
          <p:nvPr>
            <p:ph type="title"/>
          </p:nvPr>
        </p:nvSpPr>
        <p:spPr>
          <a:xfrm>
            <a:off x="0" y="1"/>
            <a:ext cx="12192000" cy="7932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Malgun Gothic"/>
              <a:buNone/>
            </a:pPr>
            <a:r>
              <a:rPr lang="ko-KR"/>
              <a:t>반도체장비: network graph</a:t>
            </a:r>
            <a:endParaRPr/>
          </a:p>
        </p:txBody>
      </p:sp>
      <p:sp>
        <p:nvSpPr>
          <p:cNvPr id="179" name="Google Shape;179;p14"/>
          <p:cNvSpPr txBox="1"/>
          <p:nvPr>
            <p:ph idx="11" type="ftr"/>
          </p:nvPr>
        </p:nvSpPr>
        <p:spPr>
          <a:xfrm>
            <a:off x="0" y="6533362"/>
            <a:ext cx="5210978" cy="3246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/>
              <a:t>graph/network</a:t>
            </a:r>
            <a:endParaRPr/>
          </a:p>
        </p:txBody>
      </p:sp>
      <p:pic>
        <p:nvPicPr>
          <p:cNvPr id="180" name="Google Shape;180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651584" y="1205978"/>
            <a:ext cx="6713621" cy="4897227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81" name="Google Shape;181;p14"/>
          <p:cNvCxnSpPr/>
          <p:nvPr/>
        </p:nvCxnSpPr>
        <p:spPr>
          <a:xfrm>
            <a:off x="3082089" y="1778668"/>
            <a:ext cx="3210426" cy="42112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dot"/>
            <a:miter lim="800000"/>
            <a:headEnd len="sm" w="sm" type="none"/>
            <a:tailEnd len="med" w="med" type="triangle"/>
          </a:ln>
        </p:spPr>
      </p:cxnSp>
      <p:sp>
        <p:nvSpPr>
          <p:cNvPr id="182" name="Google Shape;182;p14"/>
          <p:cNvSpPr txBox="1"/>
          <p:nvPr/>
        </p:nvSpPr>
        <p:spPr>
          <a:xfrm>
            <a:off x="2115552" y="1614236"/>
            <a:ext cx="179470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-KR" sz="1800" u="none" cap="none" strike="noStrike">
                <a:solidFill>
                  <a:srgbClr val="FF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유진테크</a:t>
            </a:r>
            <a:endParaRPr b="0" i="0" sz="1800" u="none" cap="none" strike="noStrike">
              <a:solidFill>
                <a:srgbClr val="FF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183" name="Google Shape;183;p14"/>
          <p:cNvCxnSpPr/>
          <p:nvPr/>
        </p:nvCxnSpPr>
        <p:spPr>
          <a:xfrm>
            <a:off x="2340140" y="4094746"/>
            <a:ext cx="1977190" cy="352928"/>
          </a:xfrm>
          <a:prstGeom prst="straightConnector1">
            <a:avLst/>
          </a:prstGeom>
          <a:noFill/>
          <a:ln cap="flat" cmpd="sng" w="28575">
            <a:solidFill>
              <a:srgbClr val="00B050"/>
            </a:solidFill>
            <a:prstDash val="dot"/>
            <a:miter lim="800000"/>
            <a:headEnd len="sm" w="sm" type="none"/>
            <a:tailEnd len="med" w="med" type="triangle"/>
          </a:ln>
        </p:spPr>
      </p:cxnSp>
      <p:sp>
        <p:nvSpPr>
          <p:cNvPr id="184" name="Google Shape;184;p14"/>
          <p:cNvSpPr txBox="1"/>
          <p:nvPr/>
        </p:nvSpPr>
        <p:spPr>
          <a:xfrm>
            <a:off x="1534025" y="3900236"/>
            <a:ext cx="179470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-KR" sz="1800" u="none" cap="none" strike="noStrike">
                <a:solidFill>
                  <a:srgbClr val="00B050"/>
                </a:solidFill>
                <a:latin typeface="Malgun Gothic"/>
                <a:ea typeface="Malgun Gothic"/>
                <a:cs typeface="Malgun Gothic"/>
                <a:sym typeface="Malgun Gothic"/>
              </a:rPr>
              <a:t>자비스</a:t>
            </a:r>
            <a:endParaRPr b="0" i="0" sz="1800" u="none" cap="none" strike="noStrike">
              <a:solidFill>
                <a:srgbClr val="00B05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185" name="Google Shape;185;p14"/>
          <p:cNvCxnSpPr/>
          <p:nvPr/>
        </p:nvCxnSpPr>
        <p:spPr>
          <a:xfrm flipH="1" rot="10800000">
            <a:off x="4395533" y="5530516"/>
            <a:ext cx="1345533" cy="278729"/>
          </a:xfrm>
          <a:prstGeom prst="straightConnector1">
            <a:avLst/>
          </a:prstGeom>
          <a:noFill/>
          <a:ln cap="flat" cmpd="sng" w="28575">
            <a:solidFill>
              <a:srgbClr val="0070C0"/>
            </a:solidFill>
            <a:prstDash val="dot"/>
            <a:miter lim="800000"/>
            <a:headEnd len="sm" w="sm" type="none"/>
            <a:tailEnd len="med" w="med" type="triangle"/>
          </a:ln>
        </p:spPr>
      </p:cxnSp>
      <p:sp>
        <p:nvSpPr>
          <p:cNvPr id="186" name="Google Shape;186;p14"/>
          <p:cNvSpPr txBox="1"/>
          <p:nvPr/>
        </p:nvSpPr>
        <p:spPr>
          <a:xfrm>
            <a:off x="3589419" y="5664867"/>
            <a:ext cx="179470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-KR" sz="1800" u="none" cap="none" strike="noStrike">
                <a:solidFill>
                  <a:srgbClr val="4472C4"/>
                </a:solidFill>
                <a:latin typeface="Malgun Gothic"/>
                <a:ea typeface="Malgun Gothic"/>
                <a:cs typeface="Malgun Gothic"/>
                <a:sym typeface="Malgun Gothic"/>
              </a:rPr>
              <a:t>고영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15"/>
          <p:cNvSpPr txBox="1"/>
          <p:nvPr>
            <p:ph idx="12" type="sldNum"/>
          </p:nvPr>
        </p:nvSpPr>
        <p:spPr>
          <a:xfrm>
            <a:off x="9272752" y="6499952"/>
            <a:ext cx="2743200" cy="33565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  <p:sp>
        <p:nvSpPr>
          <p:cNvPr id="192" name="Google Shape;192;p15"/>
          <p:cNvSpPr txBox="1"/>
          <p:nvPr>
            <p:ph type="title"/>
          </p:nvPr>
        </p:nvSpPr>
        <p:spPr>
          <a:xfrm>
            <a:off x="0" y="1"/>
            <a:ext cx="12192000" cy="7932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Malgun Gothic"/>
              <a:buNone/>
            </a:pPr>
            <a:r>
              <a:rPr lang="ko-KR"/>
              <a:t>반도체장비: network graph</a:t>
            </a:r>
            <a:endParaRPr/>
          </a:p>
        </p:txBody>
      </p:sp>
      <p:sp>
        <p:nvSpPr>
          <p:cNvPr id="193" name="Google Shape;193;p15"/>
          <p:cNvSpPr txBox="1"/>
          <p:nvPr>
            <p:ph idx="11" type="ftr"/>
          </p:nvPr>
        </p:nvSpPr>
        <p:spPr>
          <a:xfrm>
            <a:off x="0" y="6533362"/>
            <a:ext cx="5210978" cy="3246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/>
              <a:t>graph/network</a:t>
            </a:r>
            <a:endParaRPr/>
          </a:p>
        </p:txBody>
      </p:sp>
      <p:pic>
        <p:nvPicPr>
          <p:cNvPr id="194" name="Google Shape;194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398296" y="845032"/>
            <a:ext cx="7676147" cy="5599069"/>
          </a:xfrm>
          <a:prstGeom prst="rect">
            <a:avLst/>
          </a:prstGeom>
          <a:noFill/>
          <a:ln>
            <a:noFill/>
          </a:ln>
        </p:spPr>
      </p:pic>
      <p:sp>
        <p:nvSpPr>
          <p:cNvPr id="195" name="Google Shape;195;p15"/>
          <p:cNvSpPr txBox="1"/>
          <p:nvPr/>
        </p:nvSpPr>
        <p:spPr>
          <a:xfrm>
            <a:off x="9184105" y="5995736"/>
            <a:ext cx="179470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-KR" sz="1800" u="none" cap="none" strike="noStrike">
                <a:solidFill>
                  <a:srgbClr val="FF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피에스케이</a:t>
            </a:r>
            <a:endParaRPr/>
          </a:p>
        </p:txBody>
      </p:sp>
      <p:cxnSp>
        <p:nvCxnSpPr>
          <p:cNvPr id="196" name="Google Shape;196;p15"/>
          <p:cNvCxnSpPr/>
          <p:nvPr/>
        </p:nvCxnSpPr>
        <p:spPr>
          <a:xfrm rot="10800000">
            <a:off x="6262435" y="5901491"/>
            <a:ext cx="2995864" cy="318835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dot"/>
            <a:miter lim="800000"/>
            <a:headEnd len="sm" w="sm" type="none"/>
            <a:tailEnd len="med" w="med" type="triangle"/>
          </a:ln>
        </p:spPr>
      </p:cxnSp>
      <p:sp>
        <p:nvSpPr>
          <p:cNvPr id="197" name="Google Shape;197;p15"/>
          <p:cNvSpPr txBox="1"/>
          <p:nvPr/>
        </p:nvSpPr>
        <p:spPr>
          <a:xfrm>
            <a:off x="1082841" y="1534026"/>
            <a:ext cx="179470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-KR" sz="1800" u="none" cap="none" strike="noStrike">
                <a:solidFill>
                  <a:srgbClr val="00B050"/>
                </a:solidFill>
                <a:latin typeface="Malgun Gothic"/>
                <a:ea typeface="Malgun Gothic"/>
                <a:cs typeface="Malgun Gothic"/>
                <a:sym typeface="Malgun Gothic"/>
              </a:rPr>
              <a:t>성우테크론</a:t>
            </a:r>
            <a:endParaRPr/>
          </a:p>
        </p:txBody>
      </p:sp>
      <p:cxnSp>
        <p:nvCxnSpPr>
          <p:cNvPr id="198" name="Google Shape;198;p15"/>
          <p:cNvCxnSpPr/>
          <p:nvPr/>
        </p:nvCxnSpPr>
        <p:spPr>
          <a:xfrm>
            <a:off x="2279982" y="1728535"/>
            <a:ext cx="2197768" cy="202534"/>
          </a:xfrm>
          <a:prstGeom prst="straightConnector1">
            <a:avLst/>
          </a:prstGeom>
          <a:noFill/>
          <a:ln cap="flat" cmpd="sng" w="28575">
            <a:solidFill>
              <a:srgbClr val="00B050"/>
            </a:solidFill>
            <a:prstDash val="dot"/>
            <a:miter lim="800000"/>
            <a:headEnd len="sm" w="sm" type="none"/>
            <a:tailEnd len="med" w="med" type="triangle"/>
          </a:ln>
        </p:spPr>
      </p:cxnSp>
      <p:sp>
        <p:nvSpPr>
          <p:cNvPr id="199" name="Google Shape;199;p15"/>
          <p:cNvSpPr txBox="1"/>
          <p:nvPr/>
        </p:nvSpPr>
        <p:spPr>
          <a:xfrm>
            <a:off x="9926051" y="1534025"/>
            <a:ext cx="179470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-KR" sz="1800" u="none" cap="none" strike="noStrike">
                <a:solidFill>
                  <a:srgbClr val="4472C4"/>
                </a:solidFill>
                <a:latin typeface="Malgun Gothic"/>
                <a:ea typeface="Malgun Gothic"/>
                <a:cs typeface="Malgun Gothic"/>
                <a:sym typeface="Malgun Gothic"/>
              </a:rPr>
              <a:t>성도이엔지</a:t>
            </a:r>
            <a:endParaRPr/>
          </a:p>
        </p:txBody>
      </p:sp>
      <p:cxnSp>
        <p:nvCxnSpPr>
          <p:cNvPr id="200" name="Google Shape;200;p15"/>
          <p:cNvCxnSpPr/>
          <p:nvPr/>
        </p:nvCxnSpPr>
        <p:spPr>
          <a:xfrm flipH="1">
            <a:off x="9230224" y="1979192"/>
            <a:ext cx="870283" cy="764007"/>
          </a:xfrm>
          <a:prstGeom prst="straightConnector1">
            <a:avLst/>
          </a:prstGeom>
          <a:noFill/>
          <a:ln cap="flat" cmpd="sng" w="28575">
            <a:solidFill>
              <a:srgbClr val="0070C0"/>
            </a:solidFill>
            <a:prstDash val="dot"/>
            <a:miter lim="800000"/>
            <a:headEnd len="sm" w="sm" type="none"/>
            <a:tailEnd len="med" w="med" type="triangle"/>
          </a:ln>
        </p:spPr>
      </p:cxn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16"/>
          <p:cNvSpPr txBox="1"/>
          <p:nvPr>
            <p:ph idx="12" type="sldNum"/>
          </p:nvPr>
        </p:nvSpPr>
        <p:spPr>
          <a:xfrm>
            <a:off x="9272752" y="6499952"/>
            <a:ext cx="2743200" cy="33565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  <p:sp>
        <p:nvSpPr>
          <p:cNvPr id="206" name="Google Shape;206;p16"/>
          <p:cNvSpPr txBox="1"/>
          <p:nvPr>
            <p:ph type="title"/>
          </p:nvPr>
        </p:nvSpPr>
        <p:spPr>
          <a:xfrm>
            <a:off x="0" y="1"/>
            <a:ext cx="12192000" cy="7932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Malgun Gothic"/>
              <a:buNone/>
            </a:pPr>
            <a:r>
              <a:rPr lang="ko-KR"/>
              <a:t>반도체장비: betweeness centrality: bridge?</a:t>
            </a:r>
            <a:endParaRPr/>
          </a:p>
        </p:txBody>
      </p:sp>
      <p:sp>
        <p:nvSpPr>
          <p:cNvPr id="207" name="Google Shape;207;p16"/>
          <p:cNvSpPr txBox="1"/>
          <p:nvPr>
            <p:ph idx="11" type="ftr"/>
          </p:nvPr>
        </p:nvSpPr>
        <p:spPr>
          <a:xfrm>
            <a:off x="0" y="6533362"/>
            <a:ext cx="5210978" cy="3246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/>
              <a:t>graph/network</a:t>
            </a:r>
            <a:endParaRPr/>
          </a:p>
        </p:txBody>
      </p:sp>
      <p:pic>
        <p:nvPicPr>
          <p:cNvPr descr="텍스트이(가) 표시된 사진&#10;&#10;자동 생성된 설명" id="208" name="Google Shape;208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4005" y="1565578"/>
            <a:ext cx="10473489" cy="16714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17"/>
          <p:cNvSpPr txBox="1"/>
          <p:nvPr>
            <p:ph idx="12" type="sldNum"/>
          </p:nvPr>
        </p:nvSpPr>
        <p:spPr>
          <a:xfrm>
            <a:off x="9272752" y="6499952"/>
            <a:ext cx="2743200" cy="33565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  <p:sp>
        <p:nvSpPr>
          <p:cNvPr id="214" name="Google Shape;214;p17"/>
          <p:cNvSpPr txBox="1"/>
          <p:nvPr>
            <p:ph type="title"/>
          </p:nvPr>
        </p:nvSpPr>
        <p:spPr>
          <a:xfrm>
            <a:off x="0" y="1"/>
            <a:ext cx="12192000" cy="7932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Malgun Gothic"/>
              <a:buNone/>
            </a:pPr>
            <a:r>
              <a:rPr lang="ko-KR"/>
              <a:t>반도체장비: betweeness centrality: bridge?</a:t>
            </a:r>
            <a:endParaRPr/>
          </a:p>
        </p:txBody>
      </p:sp>
      <p:sp>
        <p:nvSpPr>
          <p:cNvPr id="215" name="Google Shape;215;p17"/>
          <p:cNvSpPr txBox="1"/>
          <p:nvPr>
            <p:ph idx="11" type="ftr"/>
          </p:nvPr>
        </p:nvSpPr>
        <p:spPr>
          <a:xfrm>
            <a:off x="0" y="6533362"/>
            <a:ext cx="5210978" cy="3246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/>
              <a:t>graph/network</a:t>
            </a:r>
            <a:endParaRPr/>
          </a:p>
        </p:txBody>
      </p:sp>
      <p:pic>
        <p:nvPicPr>
          <p:cNvPr descr="텍스트이(가) 표시된 사진&#10;&#10;자동 생성된 설명" id="216" name="Google Shape;216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93821" y="1204631"/>
            <a:ext cx="8037095" cy="128042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텍스트이(가) 표시된 사진&#10;&#10;자동 생성된 설명" id="217" name="Google Shape;217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116806" y="2699586"/>
            <a:ext cx="2393782" cy="323348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18"/>
          <p:cNvSpPr txBox="1"/>
          <p:nvPr>
            <p:ph idx="12" type="sldNum"/>
          </p:nvPr>
        </p:nvSpPr>
        <p:spPr>
          <a:xfrm>
            <a:off x="9272752" y="6499952"/>
            <a:ext cx="2743200" cy="33565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  <p:sp>
        <p:nvSpPr>
          <p:cNvPr id="223" name="Google Shape;223;p18"/>
          <p:cNvSpPr txBox="1"/>
          <p:nvPr>
            <p:ph type="title"/>
          </p:nvPr>
        </p:nvSpPr>
        <p:spPr>
          <a:xfrm>
            <a:off x="0" y="1"/>
            <a:ext cx="12192000" cy="7932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Malgun Gothic"/>
              <a:buNone/>
            </a:pPr>
            <a:r>
              <a:rPr lang="ko-KR"/>
              <a:t>반도체장비: betweeness centrality: bridge?</a:t>
            </a:r>
            <a:endParaRPr/>
          </a:p>
        </p:txBody>
      </p:sp>
      <p:sp>
        <p:nvSpPr>
          <p:cNvPr id="224" name="Google Shape;224;p18"/>
          <p:cNvSpPr txBox="1"/>
          <p:nvPr>
            <p:ph idx="11" type="ftr"/>
          </p:nvPr>
        </p:nvSpPr>
        <p:spPr>
          <a:xfrm>
            <a:off x="0" y="6533362"/>
            <a:ext cx="5210978" cy="3246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/>
              <a:t>graph/network</a:t>
            </a:r>
            <a:endParaRPr/>
          </a:p>
        </p:txBody>
      </p:sp>
      <p:pic>
        <p:nvPicPr>
          <p:cNvPr descr="텍스트이(가) 표시된 사진&#10;&#10;자동 생성된 설명" id="225" name="Google Shape;225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93821" y="1204631"/>
            <a:ext cx="8037095" cy="128042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텍스트, 장치이(가) 표시된 사진&#10;&#10;자동 생성된 설명" id="226" name="Google Shape;226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758616" y="2547437"/>
            <a:ext cx="1406190" cy="3577890"/>
          </a:xfrm>
          <a:prstGeom prst="rect">
            <a:avLst/>
          </a:prstGeom>
          <a:noFill/>
          <a:ln>
            <a:noFill/>
          </a:ln>
        </p:spPr>
      </p:pic>
      <p:sp>
        <p:nvSpPr>
          <p:cNvPr id="227" name="Google Shape;227;p18"/>
          <p:cNvSpPr/>
          <p:nvPr/>
        </p:nvSpPr>
        <p:spPr>
          <a:xfrm>
            <a:off x="3439026" y="2586789"/>
            <a:ext cx="2115552" cy="691816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dot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28" name="Google Shape;228;p18"/>
          <p:cNvSpPr/>
          <p:nvPr/>
        </p:nvSpPr>
        <p:spPr>
          <a:xfrm>
            <a:off x="3679657" y="3228473"/>
            <a:ext cx="1604210" cy="691816"/>
          </a:xfrm>
          <a:prstGeom prst="rect">
            <a:avLst/>
          </a:prstGeom>
          <a:noFill/>
          <a:ln cap="flat" cmpd="sng" w="28575">
            <a:solidFill>
              <a:srgbClr val="00B050"/>
            </a:solidFill>
            <a:prstDash val="dot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29" name="Google Shape;229;p18"/>
          <p:cNvSpPr/>
          <p:nvPr/>
        </p:nvSpPr>
        <p:spPr>
          <a:xfrm>
            <a:off x="3709736" y="5704973"/>
            <a:ext cx="1604210" cy="421106"/>
          </a:xfrm>
          <a:prstGeom prst="rect">
            <a:avLst/>
          </a:prstGeom>
          <a:noFill/>
          <a:ln cap="flat" cmpd="sng" w="28575">
            <a:solidFill>
              <a:srgbClr val="00B050"/>
            </a:solidFill>
            <a:prstDash val="dot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19"/>
          <p:cNvSpPr txBox="1"/>
          <p:nvPr>
            <p:ph idx="12" type="sldNum"/>
          </p:nvPr>
        </p:nvSpPr>
        <p:spPr>
          <a:xfrm>
            <a:off x="9272752" y="6499952"/>
            <a:ext cx="2743200" cy="33565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  <p:sp>
        <p:nvSpPr>
          <p:cNvPr id="235" name="Google Shape;235;p19"/>
          <p:cNvSpPr txBox="1"/>
          <p:nvPr>
            <p:ph type="title"/>
          </p:nvPr>
        </p:nvSpPr>
        <p:spPr>
          <a:xfrm>
            <a:off x="0" y="1"/>
            <a:ext cx="12192000" cy="7932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Malgun Gothic"/>
              <a:buNone/>
            </a:pPr>
            <a:r>
              <a:rPr lang="ko-KR"/>
              <a:t>반도체장비: betweeness centrality: bridge?</a:t>
            </a:r>
            <a:endParaRPr/>
          </a:p>
        </p:txBody>
      </p:sp>
      <p:sp>
        <p:nvSpPr>
          <p:cNvPr id="236" name="Google Shape;236;p19"/>
          <p:cNvSpPr txBox="1"/>
          <p:nvPr>
            <p:ph idx="11" type="ftr"/>
          </p:nvPr>
        </p:nvSpPr>
        <p:spPr>
          <a:xfrm>
            <a:off x="0" y="6533362"/>
            <a:ext cx="5210978" cy="3246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/>
              <a:t>graph/network</a:t>
            </a:r>
            <a:endParaRPr/>
          </a:p>
        </p:txBody>
      </p:sp>
      <p:pic>
        <p:nvPicPr>
          <p:cNvPr descr="텍스트이(가) 표시된 사진&#10;&#10;자동 생성된 설명" id="237" name="Google Shape;237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93821" y="1204631"/>
            <a:ext cx="8037095" cy="128042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텍스트, 장치이(가) 표시된 사진&#10;&#10;자동 생성된 설명" id="238" name="Google Shape;238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758616" y="2547437"/>
            <a:ext cx="1406190" cy="3577890"/>
          </a:xfrm>
          <a:prstGeom prst="rect">
            <a:avLst/>
          </a:prstGeom>
          <a:noFill/>
          <a:ln>
            <a:noFill/>
          </a:ln>
        </p:spPr>
      </p:pic>
      <p:sp>
        <p:nvSpPr>
          <p:cNvPr id="239" name="Google Shape;239;p19"/>
          <p:cNvSpPr/>
          <p:nvPr/>
        </p:nvSpPr>
        <p:spPr>
          <a:xfrm>
            <a:off x="3439026" y="2586789"/>
            <a:ext cx="2115552" cy="691816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dot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40" name="Google Shape;240;p19"/>
          <p:cNvSpPr/>
          <p:nvPr/>
        </p:nvSpPr>
        <p:spPr>
          <a:xfrm>
            <a:off x="3679657" y="3228473"/>
            <a:ext cx="1604210" cy="691816"/>
          </a:xfrm>
          <a:prstGeom prst="rect">
            <a:avLst/>
          </a:prstGeom>
          <a:noFill/>
          <a:ln cap="flat" cmpd="sng" w="28575">
            <a:solidFill>
              <a:srgbClr val="00B050"/>
            </a:solidFill>
            <a:prstDash val="dot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41" name="Google Shape;241;p19"/>
          <p:cNvSpPr/>
          <p:nvPr/>
        </p:nvSpPr>
        <p:spPr>
          <a:xfrm>
            <a:off x="3709736" y="5704973"/>
            <a:ext cx="1604210" cy="421106"/>
          </a:xfrm>
          <a:prstGeom prst="rect">
            <a:avLst/>
          </a:prstGeom>
          <a:noFill/>
          <a:ln cap="flat" cmpd="sng" w="28575">
            <a:solidFill>
              <a:srgbClr val="00B050"/>
            </a:solidFill>
            <a:prstDash val="dot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descr="텍스트이(가) 표시된 사진&#10;&#10;자동 생성된 설명" id="242" name="Google Shape;242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023309" y="2585787"/>
            <a:ext cx="2291013" cy="3541294"/>
          </a:xfrm>
          <a:prstGeom prst="rect">
            <a:avLst/>
          </a:prstGeom>
          <a:noFill/>
          <a:ln>
            <a:noFill/>
          </a:ln>
        </p:spPr>
      </p:pic>
      <p:sp>
        <p:nvSpPr>
          <p:cNvPr id="243" name="Google Shape;243;p19"/>
          <p:cNvSpPr/>
          <p:nvPr/>
        </p:nvSpPr>
        <p:spPr>
          <a:xfrm>
            <a:off x="2707104" y="3729789"/>
            <a:ext cx="731920" cy="190499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ED7D3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20"/>
          <p:cNvSpPr txBox="1"/>
          <p:nvPr>
            <p:ph idx="12" type="sldNum"/>
          </p:nvPr>
        </p:nvSpPr>
        <p:spPr>
          <a:xfrm>
            <a:off x="9272752" y="6499952"/>
            <a:ext cx="2743200" cy="33565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  <p:sp>
        <p:nvSpPr>
          <p:cNvPr id="249" name="Google Shape;249;p20"/>
          <p:cNvSpPr txBox="1"/>
          <p:nvPr>
            <p:ph type="title"/>
          </p:nvPr>
        </p:nvSpPr>
        <p:spPr>
          <a:xfrm>
            <a:off x="0" y="1"/>
            <a:ext cx="12192000" cy="7932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Malgun Gothic"/>
              <a:buNone/>
            </a:pPr>
            <a:r>
              <a:rPr lang="ko-KR"/>
              <a:t>반도체장비: betweeness centrality: bridge?</a:t>
            </a:r>
            <a:endParaRPr/>
          </a:p>
        </p:txBody>
      </p:sp>
      <p:sp>
        <p:nvSpPr>
          <p:cNvPr id="250" name="Google Shape;250;p20"/>
          <p:cNvSpPr txBox="1"/>
          <p:nvPr>
            <p:ph idx="11" type="ftr"/>
          </p:nvPr>
        </p:nvSpPr>
        <p:spPr>
          <a:xfrm>
            <a:off x="0" y="6533362"/>
            <a:ext cx="5210978" cy="3246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/>
              <a:t>graph/network</a:t>
            </a:r>
            <a:endParaRPr/>
          </a:p>
        </p:txBody>
      </p:sp>
      <p:pic>
        <p:nvPicPr>
          <p:cNvPr descr="텍스트이(가) 표시된 사진&#10;&#10;자동 생성된 설명" id="251" name="Google Shape;251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3663" y="1251124"/>
            <a:ext cx="6763752" cy="330499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텍스트이(가) 표시된 사진&#10;&#10;자동 생성된 설명" id="252" name="Google Shape;252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529550" y="4725747"/>
            <a:ext cx="2743200" cy="145940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21"/>
          <p:cNvSpPr txBox="1"/>
          <p:nvPr>
            <p:ph idx="12" type="sldNum"/>
          </p:nvPr>
        </p:nvSpPr>
        <p:spPr>
          <a:xfrm>
            <a:off x="9272752" y="6499952"/>
            <a:ext cx="2743200" cy="33565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  <p:sp>
        <p:nvSpPr>
          <p:cNvPr id="258" name="Google Shape;258;p21"/>
          <p:cNvSpPr txBox="1"/>
          <p:nvPr>
            <p:ph type="title"/>
          </p:nvPr>
        </p:nvSpPr>
        <p:spPr>
          <a:xfrm>
            <a:off x="0" y="1"/>
            <a:ext cx="12192000" cy="7932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Malgun Gothic"/>
              <a:buNone/>
            </a:pPr>
            <a:r>
              <a:rPr lang="ko-KR"/>
              <a:t>반도체장비: betweeness centrality: bridge?</a:t>
            </a:r>
            <a:endParaRPr/>
          </a:p>
        </p:txBody>
      </p:sp>
      <p:sp>
        <p:nvSpPr>
          <p:cNvPr id="259" name="Google Shape;259;p21"/>
          <p:cNvSpPr txBox="1"/>
          <p:nvPr>
            <p:ph idx="11" type="ftr"/>
          </p:nvPr>
        </p:nvSpPr>
        <p:spPr>
          <a:xfrm>
            <a:off x="0" y="6533362"/>
            <a:ext cx="5210978" cy="3246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/>
              <a:t>graph/network</a:t>
            </a:r>
            <a:endParaRPr/>
          </a:p>
        </p:txBody>
      </p:sp>
      <p:pic>
        <p:nvPicPr>
          <p:cNvPr descr="텍스트이(가) 표시된 사진&#10;&#10;자동 생성된 설명" id="260" name="Google Shape;260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3663" y="1174924"/>
            <a:ext cx="5289884" cy="384641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텍스트이(가) 표시된 사진&#10;&#10;자동 생성된 설명" id="261" name="Google Shape;261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98532" y="1175297"/>
            <a:ext cx="5259805" cy="37955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22"/>
          <p:cNvSpPr txBox="1"/>
          <p:nvPr>
            <p:ph idx="12" type="sldNum"/>
          </p:nvPr>
        </p:nvSpPr>
        <p:spPr>
          <a:xfrm>
            <a:off x="9272752" y="6499952"/>
            <a:ext cx="2743200" cy="33565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  <p:sp>
        <p:nvSpPr>
          <p:cNvPr id="267" name="Google Shape;267;p22"/>
          <p:cNvSpPr txBox="1"/>
          <p:nvPr>
            <p:ph type="title"/>
          </p:nvPr>
        </p:nvSpPr>
        <p:spPr>
          <a:xfrm>
            <a:off x="0" y="1"/>
            <a:ext cx="12192000" cy="7932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Malgun Gothic"/>
              <a:buNone/>
            </a:pPr>
            <a:r>
              <a:rPr lang="ko-KR"/>
              <a:t>반도체장비: betweeness centrality: bridge?</a:t>
            </a:r>
            <a:endParaRPr/>
          </a:p>
        </p:txBody>
      </p:sp>
      <p:sp>
        <p:nvSpPr>
          <p:cNvPr id="268" name="Google Shape;268;p22"/>
          <p:cNvSpPr txBox="1"/>
          <p:nvPr>
            <p:ph idx="11" type="ftr"/>
          </p:nvPr>
        </p:nvSpPr>
        <p:spPr>
          <a:xfrm>
            <a:off x="0" y="6533362"/>
            <a:ext cx="5210978" cy="3246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/>
              <a:t>graph/network</a:t>
            </a:r>
            <a:endParaRPr/>
          </a:p>
        </p:txBody>
      </p:sp>
      <p:pic>
        <p:nvPicPr>
          <p:cNvPr descr="텍스트이(가) 표시된 사진&#10;&#10;자동 생성된 설명" id="269" name="Google Shape;269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3663" y="1174924"/>
            <a:ext cx="5289884" cy="384641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텍스트이(가) 표시된 사진&#10;&#10;자동 생성된 설명" id="270" name="Google Shape;270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98532" y="1175297"/>
            <a:ext cx="5259805" cy="37955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23"/>
          <p:cNvSpPr txBox="1"/>
          <p:nvPr>
            <p:ph idx="12" type="sldNum"/>
          </p:nvPr>
        </p:nvSpPr>
        <p:spPr>
          <a:xfrm>
            <a:off x="9272752" y="6499952"/>
            <a:ext cx="2743200" cy="33565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  <p:sp>
        <p:nvSpPr>
          <p:cNvPr id="276" name="Google Shape;276;p23"/>
          <p:cNvSpPr txBox="1"/>
          <p:nvPr>
            <p:ph type="title"/>
          </p:nvPr>
        </p:nvSpPr>
        <p:spPr>
          <a:xfrm>
            <a:off x="0" y="1"/>
            <a:ext cx="12192000" cy="7932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Malgun Gothic"/>
              <a:buNone/>
            </a:pPr>
            <a:r>
              <a:rPr lang="ko-KR"/>
              <a:t>반도체장비: eigen. vector: pointed to by many</a:t>
            </a:r>
            <a:endParaRPr/>
          </a:p>
        </p:txBody>
      </p:sp>
      <p:sp>
        <p:nvSpPr>
          <p:cNvPr id="277" name="Google Shape;277;p23"/>
          <p:cNvSpPr txBox="1"/>
          <p:nvPr>
            <p:ph idx="11" type="ftr"/>
          </p:nvPr>
        </p:nvSpPr>
        <p:spPr>
          <a:xfrm>
            <a:off x="0" y="6533362"/>
            <a:ext cx="5210978" cy="3246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/>
              <a:t>graph/network</a:t>
            </a:r>
            <a:endParaRPr/>
          </a:p>
        </p:txBody>
      </p:sp>
      <p:pic>
        <p:nvPicPr>
          <p:cNvPr descr="텍스트이(가) 표시된 사진&#10;&#10;자동 생성된 설명" id="278" name="Google Shape;278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3505" y="1279657"/>
            <a:ext cx="10413331" cy="44190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24"/>
          <p:cNvSpPr txBox="1"/>
          <p:nvPr>
            <p:ph idx="12" type="sldNum"/>
          </p:nvPr>
        </p:nvSpPr>
        <p:spPr>
          <a:xfrm>
            <a:off x="9272752" y="6499952"/>
            <a:ext cx="2743200" cy="33565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  <p:sp>
        <p:nvSpPr>
          <p:cNvPr id="284" name="Google Shape;284;p24"/>
          <p:cNvSpPr txBox="1"/>
          <p:nvPr>
            <p:ph type="title"/>
          </p:nvPr>
        </p:nvSpPr>
        <p:spPr>
          <a:xfrm>
            <a:off x="0" y="1"/>
            <a:ext cx="12192000" cy="7932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Malgun Gothic"/>
              <a:buNone/>
            </a:pPr>
            <a:r>
              <a:rPr lang="ko-KR"/>
              <a:t>반도체장비: page rank: influential nodes</a:t>
            </a:r>
            <a:endParaRPr/>
          </a:p>
        </p:txBody>
      </p:sp>
      <p:sp>
        <p:nvSpPr>
          <p:cNvPr id="285" name="Google Shape;285;p24"/>
          <p:cNvSpPr txBox="1"/>
          <p:nvPr>
            <p:ph idx="11" type="ftr"/>
          </p:nvPr>
        </p:nvSpPr>
        <p:spPr>
          <a:xfrm>
            <a:off x="0" y="6533362"/>
            <a:ext cx="5210978" cy="3246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/>
              <a:t>graph/network</a:t>
            </a:r>
            <a:endParaRPr/>
          </a:p>
        </p:txBody>
      </p:sp>
      <p:pic>
        <p:nvPicPr>
          <p:cNvPr descr="텍스트이(가) 표시된 사진&#10;&#10;자동 생성된 설명" id="286" name="Google Shape;286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83532" y="1093725"/>
            <a:ext cx="10684042" cy="483097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25"/>
          <p:cNvSpPr txBox="1"/>
          <p:nvPr>
            <p:ph idx="12" type="sldNum"/>
          </p:nvPr>
        </p:nvSpPr>
        <p:spPr>
          <a:xfrm>
            <a:off x="9272752" y="6499952"/>
            <a:ext cx="2743200" cy="33565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  <p:sp>
        <p:nvSpPr>
          <p:cNvPr id="292" name="Google Shape;292;p25"/>
          <p:cNvSpPr txBox="1"/>
          <p:nvPr>
            <p:ph type="title"/>
          </p:nvPr>
        </p:nvSpPr>
        <p:spPr>
          <a:xfrm>
            <a:off x="0" y="1"/>
            <a:ext cx="12192000" cy="7932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Malgun Gothic"/>
              <a:buNone/>
            </a:pPr>
            <a:r>
              <a:rPr lang="ko-KR"/>
              <a:t>반도체장비: shortest path</a:t>
            </a:r>
            <a:endParaRPr/>
          </a:p>
        </p:txBody>
      </p:sp>
      <p:sp>
        <p:nvSpPr>
          <p:cNvPr id="293" name="Google Shape;293;p25"/>
          <p:cNvSpPr txBox="1"/>
          <p:nvPr>
            <p:ph idx="11" type="ftr"/>
          </p:nvPr>
        </p:nvSpPr>
        <p:spPr>
          <a:xfrm>
            <a:off x="0" y="6533362"/>
            <a:ext cx="5210978" cy="3246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/>
              <a:t>graph/network</a:t>
            </a:r>
            <a:endParaRPr/>
          </a:p>
        </p:txBody>
      </p:sp>
      <p:pic>
        <p:nvPicPr>
          <p:cNvPr descr="텍스트이(가) 표시된 사진&#10;&#10;자동 생성된 설명" id="294" name="Google Shape;294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13873" y="1176905"/>
            <a:ext cx="10874542" cy="428360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26"/>
          <p:cNvSpPr txBox="1"/>
          <p:nvPr>
            <p:ph idx="12" type="sldNum"/>
          </p:nvPr>
        </p:nvSpPr>
        <p:spPr>
          <a:xfrm>
            <a:off x="9272752" y="6499952"/>
            <a:ext cx="2743200" cy="33565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  <p:sp>
        <p:nvSpPr>
          <p:cNvPr id="300" name="Google Shape;300;p26"/>
          <p:cNvSpPr txBox="1"/>
          <p:nvPr>
            <p:ph type="title"/>
          </p:nvPr>
        </p:nvSpPr>
        <p:spPr>
          <a:xfrm>
            <a:off x="0" y="1"/>
            <a:ext cx="12192000" cy="7932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Malgun Gothic"/>
              <a:buNone/>
            </a:pPr>
            <a:r>
              <a:rPr lang="ko-KR"/>
              <a:t>반도체장비: shortest path</a:t>
            </a:r>
            <a:endParaRPr/>
          </a:p>
        </p:txBody>
      </p:sp>
      <p:sp>
        <p:nvSpPr>
          <p:cNvPr id="301" name="Google Shape;301;p26"/>
          <p:cNvSpPr txBox="1"/>
          <p:nvPr>
            <p:ph idx="11" type="ftr"/>
          </p:nvPr>
        </p:nvSpPr>
        <p:spPr>
          <a:xfrm>
            <a:off x="0" y="6533362"/>
            <a:ext cx="5210978" cy="3246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/>
              <a:t>graph/network</a:t>
            </a:r>
            <a:endParaRPr/>
          </a:p>
        </p:txBody>
      </p:sp>
      <p:pic>
        <p:nvPicPr>
          <p:cNvPr id="302" name="Google Shape;302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46847" y="1463423"/>
            <a:ext cx="5700963" cy="396123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27"/>
          <p:cNvSpPr txBox="1"/>
          <p:nvPr>
            <p:ph idx="12" type="sldNum"/>
          </p:nvPr>
        </p:nvSpPr>
        <p:spPr>
          <a:xfrm>
            <a:off x="9272752" y="6499952"/>
            <a:ext cx="2743200" cy="33565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  <p:sp>
        <p:nvSpPr>
          <p:cNvPr id="308" name="Google Shape;308;p27"/>
          <p:cNvSpPr txBox="1"/>
          <p:nvPr>
            <p:ph type="title"/>
          </p:nvPr>
        </p:nvSpPr>
        <p:spPr>
          <a:xfrm>
            <a:off x="0" y="1"/>
            <a:ext cx="12192000" cy="7932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Malgun Gothic"/>
              <a:buNone/>
            </a:pPr>
            <a:r>
              <a:rPr lang="ko-KR"/>
              <a:t>반도체장비: to where? </a:t>
            </a:r>
            <a:endParaRPr/>
          </a:p>
        </p:txBody>
      </p:sp>
      <p:sp>
        <p:nvSpPr>
          <p:cNvPr id="309" name="Google Shape;309;p27"/>
          <p:cNvSpPr txBox="1"/>
          <p:nvPr>
            <p:ph idx="11" type="ftr"/>
          </p:nvPr>
        </p:nvSpPr>
        <p:spPr>
          <a:xfrm>
            <a:off x="0" y="6533362"/>
            <a:ext cx="5210978" cy="3246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/>
              <a:t>graph/network</a:t>
            </a:r>
            <a:endParaRPr/>
          </a:p>
        </p:txBody>
      </p:sp>
      <p:pic>
        <p:nvPicPr>
          <p:cNvPr id="310" name="Google Shape;310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36821" y="922002"/>
            <a:ext cx="7245015" cy="5024021"/>
          </a:xfrm>
          <a:prstGeom prst="rect">
            <a:avLst/>
          </a:prstGeom>
          <a:noFill/>
          <a:ln>
            <a:noFill/>
          </a:ln>
        </p:spPr>
      </p:pic>
      <p:sp>
        <p:nvSpPr>
          <p:cNvPr id="311" name="Google Shape;311;p27"/>
          <p:cNvSpPr txBox="1"/>
          <p:nvPr/>
        </p:nvSpPr>
        <p:spPr>
          <a:xfrm>
            <a:off x="7018421" y="5424236"/>
            <a:ext cx="5043235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-KR" sz="2400" u="none" cap="none" strike="noStrike">
                <a:solidFill>
                  <a:srgbClr val="00B050"/>
                </a:solidFill>
                <a:latin typeface="Malgun Gothic"/>
                <a:ea typeface="Malgun Gothic"/>
                <a:cs typeface="Malgun Gothic"/>
                <a:sym typeface="Malgun Gothic"/>
              </a:rPr>
              <a:t>Greens are to be the next? 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1_Office 테마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2020-04-04T22:23:02Z</dcterms:created>
  <dc:creator>Chung Chae</dc:creator>
</cp:coreProperties>
</file>