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9" roundtripDataSignature="AMtx7mgvPIVjb5hYJazBywf47ruxEq4E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/>
          <p:nvPr/>
        </p:nvSpPr>
        <p:spPr>
          <a:xfrm>
            <a:off x="0" y="6516000"/>
            <a:ext cx="5221995" cy="32400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18;p18"/>
          <p:cNvSpPr/>
          <p:nvPr/>
        </p:nvSpPr>
        <p:spPr>
          <a:xfrm>
            <a:off x="5198465" y="6516000"/>
            <a:ext cx="6993535" cy="324000"/>
          </a:xfrm>
          <a:prstGeom prst="rect">
            <a:avLst/>
          </a:prstGeom>
          <a:solidFill>
            <a:srgbClr val="9393FF"/>
          </a:solidFill>
          <a:ln cap="flat" cmpd="sng" w="12700">
            <a:solidFill>
              <a:srgbClr val="9393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Google Shape;19;p18"/>
          <p:cNvSpPr/>
          <p:nvPr/>
        </p:nvSpPr>
        <p:spPr>
          <a:xfrm>
            <a:off x="0" y="15763"/>
            <a:ext cx="12192000" cy="772509"/>
          </a:xfrm>
          <a:prstGeom prst="rect">
            <a:avLst/>
          </a:prstGeom>
          <a:solidFill>
            <a:srgbClr val="475EC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20;p18"/>
          <p:cNvSpPr/>
          <p:nvPr/>
        </p:nvSpPr>
        <p:spPr>
          <a:xfrm>
            <a:off x="-4157" y="6516364"/>
            <a:ext cx="5220000" cy="325848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2" name="Google Shape;22;p18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  <a:defRPr b="0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F5496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/>
        </p:nvSpPr>
        <p:spPr>
          <a:xfrm>
            <a:off x="1486430" y="2727758"/>
            <a:ext cx="8362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6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VAR</a:t>
            </a:r>
            <a:endParaRPr b="0" i="0" sz="6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</a:pPr>
            <a:r>
              <a:rPr b="0" i="0" lang="ko-KR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200" u="none" cap="none" strike="noStrik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" name="Google Shape;73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660400" y="1411442"/>
            <a:ext cx="34882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4047068" y="0"/>
            <a:ext cx="8585200" cy="68580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lgun Gothic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4758266" y="1473201"/>
            <a:ext cx="6942666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Arial"/>
              <a:buChar char="•"/>
            </a:pPr>
            <a:r>
              <a:rPr b="0" i="0" lang="ko-KR" sz="28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VAR</a:t>
            </a:r>
            <a:endParaRPr b="0" i="0" sz="1800" u="none" cap="none" strike="noStrike">
              <a:solidFill>
                <a:srgbClr val="F2F2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Arial"/>
              <a:buChar char="•"/>
            </a:pPr>
            <a:r>
              <a:rPr b="0" i="0" lang="ko-KR" sz="28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Statsmodels</a:t>
            </a:r>
            <a:endParaRPr b="0" i="0" sz="1800" u="none" cap="none" strike="noStrike">
              <a:solidFill>
                <a:srgbClr val="F2F2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Arial"/>
              <a:buChar char="•"/>
            </a:pPr>
            <a:r>
              <a:rPr b="0" i="0" lang="ko-KR" sz="28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Lag selection</a:t>
            </a:r>
            <a:endParaRPr b="0" i="0" sz="1800" u="none" cap="none" strike="noStrike">
              <a:solidFill>
                <a:srgbClr val="F2F2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Arial"/>
              <a:buChar char="•"/>
            </a:pPr>
            <a:r>
              <a:rPr b="0" i="0" lang="ko-KR" sz="28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Variance decomposition</a:t>
            </a:r>
            <a:endParaRPr b="0" i="0" sz="1800" u="none" cap="none" strike="noStrike">
              <a:solidFill>
                <a:srgbClr val="F2F2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Arial"/>
              <a:buChar char="•"/>
            </a:pPr>
            <a:r>
              <a:rPr b="0" i="0" lang="ko-KR" sz="28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Impulse response function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Arial"/>
              <a:buChar char="•"/>
            </a:pPr>
            <a:r>
              <a:rPr b="0" i="0" lang="ko-KR" sz="28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Granger causality </a:t>
            </a:r>
            <a:endParaRPr b="0" i="0" sz="1800" u="none" cap="none" strike="noStrike">
              <a:solidFill>
                <a:srgbClr val="F2F2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812800" y="1563842"/>
            <a:ext cx="34882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965200" y="1716242"/>
            <a:ext cx="34882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0" name="Google Shape;8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16356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"/>
          <p:cNvSpPr txBox="1"/>
          <p:nvPr/>
        </p:nvSpPr>
        <p:spPr>
          <a:xfrm>
            <a:off x="524933" y="1507067"/>
            <a:ext cx="29464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" name="Google Shape;87;p3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Model specification</a:t>
            </a:r>
            <a:endParaRPr/>
          </a:p>
        </p:txBody>
      </p:sp>
      <p:sp>
        <p:nvSpPr>
          <p:cNvPr id="88" name="Google Shape;88;p3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pic>
        <p:nvPicPr>
          <p:cNvPr descr="텍스트이(가) 표시된 사진&#10;&#10;자동 생성된 설명" id="89" name="Google Shape;8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7970" y="1604186"/>
            <a:ext cx="7951807" cy="2540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" name="Google Shape;95;p4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VAR: example</a:t>
            </a:r>
            <a:endParaRPr/>
          </a:p>
        </p:txBody>
      </p:sp>
      <p:sp>
        <p:nvSpPr>
          <p:cNvPr id="96" name="Google Shape;96;p4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pic>
        <p:nvPicPr>
          <p:cNvPr id="97" name="Google Shape;9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2147" y="1410870"/>
            <a:ext cx="8684870" cy="4489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" name="Google Shape;103;p5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VAR: Lag Selection</a:t>
            </a:r>
            <a:endParaRPr/>
          </a:p>
        </p:txBody>
      </p:sp>
      <p:sp>
        <p:nvSpPr>
          <p:cNvPr id="104" name="Google Shape;104;p5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pic>
        <p:nvPicPr>
          <p:cNvPr descr="텍스트이(가) 표시된 사진&#10;&#10;자동 생성된 설명" id="105" name="Google Shape;1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8805" y="1221013"/>
            <a:ext cx="7199453" cy="1300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p6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VAR: Lag Selection</a:t>
            </a:r>
            <a:endParaRPr/>
          </a:p>
        </p:txBody>
      </p:sp>
      <p:sp>
        <p:nvSpPr>
          <p:cNvPr id="112" name="Google Shape;112;p6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pic>
        <p:nvPicPr>
          <p:cNvPr descr="텍스트이(가) 표시된 사진&#10;&#10;자동 생성된 설명" id="113" name="Google Shape;1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09" y="1047393"/>
            <a:ext cx="4074289" cy="9917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이(가) 표시된 사진&#10;&#10;자동 생성된 설명" id="114" name="Google Shape;1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7514" y="1138653"/>
            <a:ext cx="7575630" cy="4503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" name="Google Shape;120;p7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VAR: Lag Selection</a:t>
            </a:r>
            <a:endParaRPr/>
          </a:p>
        </p:txBody>
      </p:sp>
      <p:sp>
        <p:nvSpPr>
          <p:cNvPr id="121" name="Google Shape;121;p7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pic>
        <p:nvPicPr>
          <p:cNvPr descr="텍스트이(가) 표시된 사진&#10;&#10;자동 생성된 설명" id="122" name="Google Shape;1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09" y="1047393"/>
            <a:ext cx="4074289" cy="9917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이(가) 표시된 사진&#10;&#10;자동 생성된 설명" id="123" name="Google Shape;12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7508" y="2559691"/>
            <a:ext cx="9940886" cy="903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129;p8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VAR: Lag Selection</a:t>
            </a:r>
            <a:endParaRPr/>
          </a:p>
        </p:txBody>
      </p:sp>
      <p:sp>
        <p:nvSpPr>
          <p:cNvPr id="130" name="Google Shape;130;p8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pic>
        <p:nvPicPr>
          <p:cNvPr descr="텍스트이(가) 표시된 사진&#10;&#10;자동 생성된 설명" id="131" name="Google Shape;1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09" y="1047393"/>
            <a:ext cx="4074289" cy="9917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이(가) 표시된 사진&#10;&#10;자동 생성된 설명" id="132" name="Google Shape;13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122" y="2357715"/>
            <a:ext cx="9940886" cy="903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4351" y="3633986"/>
            <a:ext cx="6700091" cy="1811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" name="Google Shape;139;p9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VAR: Robustness: with residuals</a:t>
            </a:r>
            <a:endParaRPr/>
          </a:p>
        </p:txBody>
      </p:sp>
      <p:sp>
        <p:nvSpPr>
          <p:cNvPr id="140" name="Google Shape;140;p9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pic>
        <p:nvPicPr>
          <p:cNvPr id="141" name="Google Shape;1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8231" y="1123459"/>
            <a:ext cx="6158428" cy="4510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47" name="Google Shape;147;p10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Dynamics: </a:t>
            </a:r>
            <a:r>
              <a:rPr lang="ko-KR" sz="2200">
                <a:solidFill>
                  <a:srgbClr val="BFBFBF"/>
                </a:solidFill>
              </a:rPr>
              <a:t>Granger Causality, Impulse Response, Variance decomposition</a:t>
            </a:r>
            <a:endParaRPr sz="2200">
              <a:solidFill>
                <a:srgbClr val="BFBFBF"/>
              </a:solidFill>
            </a:endParaRPr>
          </a:p>
        </p:txBody>
      </p:sp>
      <p:sp>
        <p:nvSpPr>
          <p:cNvPr id="148" name="Google Shape;148;p10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descr="텍스트이(가) 표시된 사진&#10;&#10;자동 생성된 설명" id="149" name="Google Shape;1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8881" y="1329711"/>
            <a:ext cx="9437225" cy="262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55" name="Google Shape;155;p11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Dynamics: </a:t>
            </a:r>
            <a:r>
              <a:rPr lang="ko-KR" sz="2200">
                <a:solidFill>
                  <a:srgbClr val="BFBFBF"/>
                </a:solidFill>
              </a:rPr>
              <a:t>Granger Causality, Impulse Response, Variance decomposition</a:t>
            </a:r>
            <a:endParaRPr sz="2200">
              <a:solidFill>
                <a:srgbClr val="BFBFBF"/>
              </a:solidFill>
            </a:endParaRPr>
          </a:p>
        </p:txBody>
      </p:sp>
      <p:sp>
        <p:nvSpPr>
          <p:cNvPr id="156" name="Google Shape;156;p11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id="157" name="Google Shape;15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3971" y="944671"/>
            <a:ext cx="5704114" cy="5730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63" name="Google Shape;163;p12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Dynamics: </a:t>
            </a:r>
            <a:r>
              <a:rPr lang="ko-KR" sz="2200">
                <a:solidFill>
                  <a:srgbClr val="BFBFBF"/>
                </a:solidFill>
              </a:rPr>
              <a:t>Granger Causality, Impulse Response, Variance decomposition</a:t>
            </a:r>
            <a:endParaRPr sz="2200">
              <a:solidFill>
                <a:srgbClr val="BFBFBF"/>
              </a:solidFill>
            </a:endParaRPr>
          </a:p>
        </p:txBody>
      </p:sp>
      <p:sp>
        <p:nvSpPr>
          <p:cNvPr id="164" name="Google Shape;164;p12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id="165" name="Google Shape;16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2571" y="922900"/>
            <a:ext cx="5214257" cy="52190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이(가) 표시된 사진&#10;&#10;자동 생성된 설명" id="166" name="Google Shape;16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057" y="1356600"/>
            <a:ext cx="5301342" cy="109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72" name="Google Shape;172;p13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Forecast error variance </a:t>
            </a:r>
            <a:endParaRPr/>
          </a:p>
        </p:txBody>
      </p:sp>
      <p:sp>
        <p:nvSpPr>
          <p:cNvPr id="173" name="Google Shape;173;p13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sp>
        <p:nvSpPr>
          <p:cNvPr id="174" name="Google Shape;174;p13"/>
          <p:cNvSpPr txBox="1"/>
          <p:nvPr/>
        </p:nvSpPr>
        <p:spPr>
          <a:xfrm>
            <a:off x="870857" y="1251856"/>
            <a:ext cx="1026522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Forecast errors of component </a:t>
            </a:r>
            <a:r>
              <a:rPr b="0" i="1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on </a:t>
            </a:r>
            <a:r>
              <a:rPr b="0" i="1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z</a:t>
            </a: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in an </a:t>
            </a:r>
            <a:r>
              <a:rPr b="0" i="1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j</a:t>
            </a: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-step ahead forecast can be decomposed using the orthogonalized impulse response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80" name="Google Shape;180;p14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/>
              <a:t>Granger causality</a:t>
            </a:r>
            <a:endParaRPr/>
          </a:p>
        </p:txBody>
      </p:sp>
      <p:sp>
        <p:nvSpPr>
          <p:cNvPr id="181" name="Google Shape;181;p14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graph/network</a:t>
            </a:r>
            <a:endParaRPr/>
          </a:p>
        </p:txBody>
      </p:sp>
      <p:pic>
        <p:nvPicPr>
          <p:cNvPr id="182" name="Google Shape;1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314" y="1201440"/>
            <a:ext cx="9993085" cy="54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이(가) 표시된 사진&#10;&#10;자동 생성된 설명" id="183" name="Google Shape;18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314" y="2164855"/>
            <a:ext cx="9993086" cy="2811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2020-04-04T22:23:02Z</dcterms:created>
  <dc:creator>Chung Chae</dc:creator>
</cp:coreProperties>
</file>