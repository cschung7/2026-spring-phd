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u/RwyBLC1VkIwp9e/JIWBpFns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6516000"/>
            <a:ext cx="5221995" cy="32400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31"/>
          <p:cNvSpPr/>
          <p:nvPr/>
        </p:nvSpPr>
        <p:spPr>
          <a:xfrm>
            <a:off x="5198465" y="6516000"/>
            <a:ext cx="6993535" cy="324000"/>
          </a:xfrm>
          <a:prstGeom prst="rect">
            <a:avLst/>
          </a:prstGeom>
          <a:solidFill>
            <a:srgbClr val="9393FF"/>
          </a:solidFill>
          <a:ln cap="flat" cmpd="sng" w="12700">
            <a:solidFill>
              <a:srgbClr val="939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9;p31"/>
          <p:cNvSpPr/>
          <p:nvPr/>
        </p:nvSpPr>
        <p:spPr>
          <a:xfrm>
            <a:off x="0" y="15763"/>
            <a:ext cx="12192000" cy="772509"/>
          </a:xfrm>
          <a:prstGeom prst="rect">
            <a:avLst/>
          </a:prstGeom>
          <a:solidFill>
            <a:srgbClr val="475EC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0;p31"/>
          <p:cNvSpPr/>
          <p:nvPr/>
        </p:nvSpPr>
        <p:spPr>
          <a:xfrm>
            <a:off x="-4157" y="6516364"/>
            <a:ext cx="5220000" cy="325848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;p31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1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  <a:defRPr b="0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machinelearningmastery.com/what-is-information-entropy/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machinelearningmastery.com/what-is-information-entropy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achinelearningmastery.com/what-is-information-entropy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achinelearningmastery.com/what-is-information-entropy/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machinelearningmastery.com/what-is-information-entropy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achinelearningmastery.com/what-is-information-entropy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machinelearningmastery.com/what-is-information-entropy/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ieeexplore.ieee.org/document/9119388/metrics#metrics" TargetMode="External"/><Relationship Id="rId4" Type="http://schemas.openxmlformats.org/officeDocument/2006/relationships/hyperlink" Target="https://www.nature.com/articles/s41598-021-87316-6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ithub.com/pwollstadt/IDTxl" TargetMode="External"/><Relationship Id="rId4" Type="http://schemas.openxmlformats.org/officeDocument/2006/relationships/hyperlink" Target="https://github.com/pwollstadt/IDTx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5496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/>
        </p:nvSpPr>
        <p:spPr>
          <a:xfrm>
            <a:off x="1668003" y="2081824"/>
            <a:ext cx="836251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Causality with entropy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200" u="none" cap="none" strike="noStrik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660400" y="14114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4047068" y="0"/>
            <a:ext cx="8585200" cy="68580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4758266" y="1473201"/>
            <a:ext cx="6942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Granger Causality shortcomings</a:t>
            </a:r>
            <a:endParaRPr b="0" i="0" sz="2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Entropy</a:t>
            </a:r>
            <a:endParaRPr b="0" i="0" sz="2800" u="none" cap="none" strike="noStrike">
              <a:solidFill>
                <a:srgbClr val="F2F2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Shan</a:t>
            </a:r>
            <a:r>
              <a:rPr lang="en-US" sz="240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no</a:t>
            </a:r>
            <a:r>
              <a:rPr b="0" i="0" lang="en-US" sz="2400" u="none" cap="none" strike="noStrik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n entropy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Conditional entropy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Mutual 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Transfer entropy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2F2F2"/>
                </a:solidFill>
                <a:latin typeface="Malgun Gothic"/>
                <a:ea typeface="Malgun Gothic"/>
                <a:cs typeface="Malgun Gothic"/>
                <a:sym typeface="Malgun Gothic"/>
              </a:rPr>
              <a:t> Nonlinear information flows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812800" y="15638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965200" y="17162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0" name="Google Shape;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16356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 txBox="1"/>
          <p:nvPr/>
        </p:nvSpPr>
        <p:spPr>
          <a:xfrm>
            <a:off x="524933" y="1507067"/>
            <a:ext cx="29464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3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Granger Causality </a:t>
            </a:r>
            <a:endParaRPr/>
          </a:p>
        </p:txBody>
      </p:sp>
      <p:sp>
        <p:nvSpPr>
          <p:cNvPr id="88" name="Google Shape;88;p3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682580" y="1609859"/>
            <a:ext cx="10753859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 (Vector Auto Regression)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X GC Y if any coefficients to lags of X is non-zero (typically with F-test)</a:t>
            </a:r>
            <a:endParaRPr b="0" i="0" sz="2800" u="none" cap="none" strike="noStrike">
              <a:solidFill>
                <a:srgbClr val="C55A1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However,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GC has low detection power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2" marL="1200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When Model complexity given finite sample size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2" marL="1200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 causal links if too many variables are used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2" marL="1200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strong autocorrelation among variables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 Runge et. al. (2019)  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Runge, J., Nowack, P., Kretschmer, M., Flaxman, S. &amp; Sejdinovic, D. Detecting and quantifying causal associations in large nonlinear time series datasets. Sci. Adv. 5, eaau4996 (2019).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33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4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</a:t>
            </a:r>
            <a:endParaRPr/>
          </a:p>
        </p:txBody>
      </p:sp>
      <p:sp>
        <p:nvSpPr>
          <p:cNvPr id="96" name="Google Shape;96;p4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6059276" y="6509132"/>
            <a:ext cx="36539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이(가) 표시된 사진&#10;&#10;자동 생성된 설명" id="98" name="Google Shape;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6617" y="1760727"/>
            <a:ext cx="5928910" cy="109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5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</a:t>
            </a:r>
            <a:endParaRPr/>
          </a:p>
        </p:txBody>
      </p:sp>
      <p:sp>
        <p:nvSpPr>
          <p:cNvPr id="105" name="Google Shape;105;p5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106" name="Google Shape;106;p5"/>
          <p:cNvSpPr txBox="1"/>
          <p:nvPr/>
        </p:nvSpPr>
        <p:spPr>
          <a:xfrm>
            <a:off x="6059276" y="6509132"/>
            <a:ext cx="36539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이(가) 표시된 사진&#10;&#10;자동 생성된 설명" id="107" name="Google Shape;10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9894" y="1264968"/>
            <a:ext cx="5928910" cy="109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3484" y="3170164"/>
            <a:ext cx="8159825" cy="1720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6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</a:t>
            </a:r>
            <a:endParaRPr/>
          </a:p>
        </p:txBody>
      </p:sp>
      <p:sp>
        <p:nvSpPr>
          <p:cNvPr id="115" name="Google Shape;115;p6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6059276" y="6509132"/>
            <a:ext cx="36539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이(가) 표시된 사진&#10;&#10;자동 생성된 설명" id="117" name="Google Shape;1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4979" y="934461"/>
            <a:ext cx="4423272" cy="821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118" name="Google Shape;11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050" y="3604620"/>
            <a:ext cx="10601897" cy="2210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59026" y="1939948"/>
            <a:ext cx="6911248" cy="145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7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</a:t>
            </a:r>
            <a:endParaRPr/>
          </a:p>
        </p:txBody>
      </p:sp>
      <p:sp>
        <p:nvSpPr>
          <p:cNvPr id="126" name="Google Shape;126;p7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6059276" y="6509132"/>
            <a:ext cx="36539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이(가) 표시된 사진&#10;&#10;자동 생성된 설명" id="128" name="Google Shape;1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8882" y="1513518"/>
            <a:ext cx="6902067" cy="2940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8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</a:t>
            </a:r>
            <a:endParaRPr/>
          </a:p>
        </p:txBody>
      </p:sp>
      <p:sp>
        <p:nvSpPr>
          <p:cNvPr id="135" name="Google Shape;135;p8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724199" y="1074776"/>
            <a:ext cx="1075385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Used in numerous fields including information theory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rare events happen, it is more informative to learn than more likely events 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Low Prob = surprising = more uncertain = High information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6059276" y="6509132"/>
            <a:ext cx="36539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9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</a:t>
            </a:r>
            <a:endParaRPr/>
          </a:p>
        </p:txBody>
      </p:sp>
      <p:sp>
        <p:nvSpPr>
          <p:cNvPr id="144" name="Google Shape;144;p9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145" name="Google Shape;145;p9"/>
          <p:cNvSpPr txBox="1"/>
          <p:nvPr/>
        </p:nvSpPr>
        <p:spPr>
          <a:xfrm>
            <a:off x="724199" y="1074776"/>
            <a:ext cx="10753859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Used in numerous fields including information theory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Average amount of information produced by a stationary source of data</a:t>
            </a:r>
            <a:endParaRPr b="0" i="0" sz="2800" u="none" cap="none" strike="noStrike">
              <a:solidFill>
                <a:srgbClr val="C55A1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amount of disorder in a system in physics Or </a:t>
            </a:r>
            <a:endParaRPr b="0" i="0" sz="2800" u="none" cap="none" strike="noStrike">
              <a:solidFill>
                <a:srgbClr val="C55A1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the quantity of energy incapable of physical movements </a:t>
            </a:r>
            <a:endParaRPr b="0" i="0" sz="2800" u="none" cap="none" strike="noStrike">
              <a:solidFill>
                <a:srgbClr val="C55A1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The entropy of a random variable measures uncertainty in probability theory </a:t>
            </a:r>
            <a:endParaRPr b="0" i="0" sz="2800" u="none" cap="none" strike="noStrike">
              <a:solidFill>
                <a:srgbClr val="C55A1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In sociology, entropy is the natural decay of structures</a:t>
            </a:r>
            <a:endParaRPr b="0" i="0" sz="2800" u="none" cap="none" strike="noStrike">
              <a:solidFill>
                <a:srgbClr val="C55A1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07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C55A1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6059276" y="6509132"/>
            <a:ext cx="36539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10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</a:t>
            </a:r>
            <a:endParaRPr/>
          </a:p>
        </p:txBody>
      </p:sp>
      <p:sp>
        <p:nvSpPr>
          <p:cNvPr id="153" name="Google Shape;153;p10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6059276" y="6509132"/>
            <a:ext cx="36539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See  </a:t>
            </a:r>
            <a:r>
              <a:rPr b="0" i="0" lang="en-US" sz="18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 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이(가) 표시된 사진&#10;&#10;자동 생성된 설명" id="155" name="Google Shape;1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7388" y="3426345"/>
            <a:ext cx="7498814" cy="2686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156" name="Google Shape;1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1026" y="907590"/>
            <a:ext cx="5662669" cy="240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11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Entropy: Conditional Entropy</a:t>
            </a:r>
            <a:endParaRPr/>
          </a:p>
        </p:txBody>
      </p:sp>
      <p:sp>
        <p:nvSpPr>
          <p:cNvPr id="163" name="Google Shape;163;p11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164" name="Google Shape;1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8183" y="1587189"/>
            <a:ext cx="9610380" cy="164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12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Entropy: Redundancy</a:t>
            </a:r>
            <a:endParaRPr/>
          </a:p>
        </p:txBody>
      </p:sp>
      <p:sp>
        <p:nvSpPr>
          <p:cNvPr id="171" name="Google Shape;171;p12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172" name="Google Shape;1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171" y="1673167"/>
            <a:ext cx="6993874" cy="1941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13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Entropy: Mutual information </a:t>
            </a:r>
            <a:endParaRPr/>
          </a:p>
        </p:txBody>
      </p:sp>
      <p:sp>
        <p:nvSpPr>
          <p:cNvPr id="179" name="Google Shape;179;p13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180" name="Google Shape;1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870" y="1635700"/>
            <a:ext cx="5616766" cy="2613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14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Entropy: Mutual information</a:t>
            </a:r>
            <a:endParaRPr/>
          </a:p>
        </p:txBody>
      </p:sp>
      <p:sp>
        <p:nvSpPr>
          <p:cNvPr id="187" name="Google Shape;187;p14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188" name="Google Shape;1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473" y="1452085"/>
            <a:ext cx="3945875" cy="1833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/>
          <p:nvPr/>
        </p:nvSpPr>
        <p:spPr>
          <a:xfrm>
            <a:off x="4489373" y="1523999"/>
            <a:ext cx="74823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Malgun Gothic"/>
              <a:buChar char="•"/>
            </a:pPr>
            <a:r>
              <a:rPr b="0" i="0" lang="en-US" sz="2000" u="none" cap="none" strike="noStrik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MI is a measure of two random variables' relation regardless of linearity</a:t>
            </a:r>
            <a:endParaRPr b="0" i="0" sz="2000" u="none" cap="none" strike="noStrike">
              <a:solidFill>
                <a:srgbClr val="0C0C0C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C0C0C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Malgun Gothic"/>
              <a:buChar char="•"/>
            </a:pPr>
            <a:r>
              <a:rPr b="0" i="0" lang="en-US" sz="2000" u="none" cap="none" strike="noStrike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 Covariance is a weighted sum of the product of two random variables</a:t>
            </a:r>
            <a:endParaRPr b="0" i="0" sz="2000" u="none" cap="none" strike="noStrike">
              <a:solidFill>
                <a:srgbClr val="0C0C0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15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Entropy: </a:t>
            </a:r>
            <a:r>
              <a:rPr lang="en-US" sz="2800">
                <a:solidFill>
                  <a:srgbClr val="BFBFBF"/>
                </a:solidFill>
              </a:rPr>
              <a:t>Mutual information: Normal case</a:t>
            </a:r>
            <a:endParaRPr/>
          </a:p>
        </p:txBody>
      </p:sp>
      <p:sp>
        <p:nvSpPr>
          <p:cNvPr id="196" name="Google Shape;196;p15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197" name="Google Shape;1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223266"/>
            <a:ext cx="3945875" cy="1833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이(가) 표시된 사진&#10;&#10;자동 생성된 설명" id="198" name="Google Shape;1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6063" y="1402390"/>
            <a:ext cx="6443031" cy="3107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16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Entropy: </a:t>
            </a:r>
            <a:r>
              <a:rPr lang="en-US" sz="2800">
                <a:solidFill>
                  <a:srgbClr val="BFBFBF"/>
                </a:solidFill>
              </a:rPr>
              <a:t>Conditional MI</a:t>
            </a:r>
            <a:endParaRPr/>
          </a:p>
        </p:txBody>
      </p:sp>
      <p:sp>
        <p:nvSpPr>
          <p:cNvPr id="205" name="Google Shape;205;p16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206" name="Google Shape;2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448" y="1393400"/>
            <a:ext cx="8747392" cy="2262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17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 with diagram</a:t>
            </a:r>
            <a:endParaRPr/>
          </a:p>
        </p:txBody>
      </p:sp>
      <p:sp>
        <p:nvSpPr>
          <p:cNvPr id="213" name="Google Shape;213;p17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214" name="Google Shape;2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2653" y="1664032"/>
            <a:ext cx="7170516" cy="3742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18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Entropy: Information gain</a:t>
            </a:r>
            <a:endParaRPr/>
          </a:p>
        </p:txBody>
      </p:sp>
      <p:sp>
        <p:nvSpPr>
          <p:cNvPr id="221" name="Google Shape;221;p18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4448" y="1391849"/>
            <a:ext cx="7729959" cy="440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p19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Entropy: Active information gain </a:t>
            </a:r>
            <a:endParaRPr/>
          </a:p>
        </p:txBody>
      </p:sp>
      <p:sp>
        <p:nvSpPr>
          <p:cNvPr id="229" name="Google Shape;229;p19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230" name="Google Shape;2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5894" y="2660217"/>
            <a:ext cx="8068019" cy="246481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843549" y="1083957"/>
            <a:ext cx="1075385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Average information from past state used in predicting the next value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Entropy: Transfer Entropy</a:t>
            </a:r>
            <a:endParaRPr/>
          </a:p>
        </p:txBody>
      </p:sp>
      <p:sp>
        <p:nvSpPr>
          <p:cNvPr id="238" name="Google Shape;238;p20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descr="텍스트이(가) 표시된 사진&#10;&#10;자동 생성된 설명" id="239" name="Google Shape;2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7185" y="1866491"/>
            <a:ext cx="7527402" cy="1996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p21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Entropy: information regression model</a:t>
            </a:r>
            <a:endParaRPr/>
          </a:p>
        </p:txBody>
      </p:sp>
      <p:sp>
        <p:nvSpPr>
          <p:cNvPr id="246" name="Google Shape;246;p21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843549" y="1083957"/>
            <a:ext cx="10753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Modeling the information process in a random variable 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Assume two sources: (</a:t>
            </a:r>
            <a:r>
              <a:rPr b="0" i="1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 -&gt;Y, Z-&gt;Y</a:t>
            </a: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이(가) 표시된 사진&#10;&#10;자동 생성된 설명"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7217" y="2765248"/>
            <a:ext cx="4706557" cy="32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Entropy: information regression model</a:t>
            </a:r>
            <a:endParaRPr/>
          </a:p>
        </p:txBody>
      </p:sp>
      <p:sp>
        <p:nvSpPr>
          <p:cNvPr id="255" name="Google Shape;255;p22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843549" y="1083957"/>
            <a:ext cx="1075385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Kim et. al.,</a:t>
            </a: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(2020, IEEE)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Wismuller et. al.</a:t>
            </a: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,(2021, Nature)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23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Empirics: Transfer Entropy</a:t>
            </a:r>
            <a:endParaRPr/>
          </a:p>
        </p:txBody>
      </p:sp>
      <p:sp>
        <p:nvSpPr>
          <p:cNvPr id="263" name="Google Shape;263;p23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733380" y="1368559"/>
            <a:ext cx="1075385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Using </a:t>
            </a:r>
            <a:r>
              <a:rPr b="0" i="0" lang="en-US" sz="32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IDTxL</a:t>
            </a:r>
            <a:endParaRPr b="0" i="0" sz="3200" u="sng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I</a:t>
            </a: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nformation </a:t>
            </a:r>
            <a:r>
              <a:rPr b="1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ynamics </a:t>
            </a:r>
            <a:r>
              <a:rPr b="1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T</a:t>
            </a: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oolkit </a:t>
            </a:r>
            <a:r>
              <a:rPr b="1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xl</a:t>
            </a: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(IDTxl)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24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Empirics: Transfer Entropy </a:t>
            </a:r>
            <a:r>
              <a:rPr lang="en-US" sz="2800">
                <a:solidFill>
                  <a:srgbClr val="D8D8D8"/>
                </a:solidFill>
              </a:rPr>
              <a:t>(</a:t>
            </a:r>
            <a:r>
              <a:rPr lang="en-US" sz="280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반도체</a:t>
            </a:r>
            <a:r>
              <a:rPr lang="en-US" sz="2800">
                <a:solidFill>
                  <a:srgbClr val="D8D8D8"/>
                </a:solidFill>
              </a:rPr>
              <a:t>)</a:t>
            </a:r>
            <a:endParaRPr sz="2800">
              <a:solidFill>
                <a:srgbClr val="D8D8D8"/>
              </a:solidFill>
            </a:endParaRPr>
          </a:p>
        </p:txBody>
      </p:sp>
      <p:sp>
        <p:nvSpPr>
          <p:cNvPr id="271" name="Google Shape;271;p24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id="272" name="Google Shape;27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039" y="1205147"/>
            <a:ext cx="7797478" cy="5292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p25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Empirics: Transfer Entropy </a:t>
            </a:r>
            <a:r>
              <a:rPr lang="en-US" sz="2800">
                <a:solidFill>
                  <a:srgbClr val="D8D8D8"/>
                </a:solidFill>
              </a:rPr>
              <a:t>(</a:t>
            </a:r>
            <a:r>
              <a:rPr lang="en-US" sz="280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의류산업</a:t>
            </a:r>
            <a:r>
              <a:rPr lang="en-US" sz="2800">
                <a:solidFill>
                  <a:srgbClr val="D8D8D8"/>
                </a:solidFill>
              </a:rPr>
              <a:t>)</a:t>
            </a:r>
            <a:endParaRPr/>
          </a:p>
        </p:txBody>
      </p:sp>
      <p:sp>
        <p:nvSpPr>
          <p:cNvPr id="279" name="Google Shape;279;p25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pic>
        <p:nvPicPr>
          <p:cNvPr id="280" name="Google Shape;2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868" y="1067764"/>
            <a:ext cx="7758896" cy="5166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p26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 Graph applications</a:t>
            </a:r>
            <a:endParaRPr/>
          </a:p>
        </p:txBody>
      </p:sp>
      <p:sp>
        <p:nvSpPr>
          <p:cNvPr id="287" name="Google Shape;287;p26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733380" y="1368559"/>
            <a:ext cx="10753859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Financial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Detecting fraud (suspicious transaction)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Connected components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Context based importance person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Interactive communities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Similar transaction habits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E-commerce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Customer segmentation / marketing </a:t>
            </a:r>
            <a:endParaRPr b="0" i="0" sz="2400" u="none" cap="none" strike="noStrike">
              <a:solidFill>
                <a:srgbClr val="C55A1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 feature transferring 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" name="Google Shape;294;p27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 Graph applications</a:t>
            </a:r>
            <a:endParaRPr/>
          </a:p>
        </p:txBody>
      </p:sp>
      <p:sp>
        <p:nvSpPr>
          <p:cNvPr id="295" name="Google Shape;295;p27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733380" y="1368559"/>
            <a:ext cx="10753859" cy="2431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Drug discovery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55A1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interference/interaction/potentiation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SNS 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Cybersecurity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Traffic prediction </a:t>
            </a: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2020-04-04T22:23:02Z</dcterms:created>
  <dc:creator>Chung Chae</dc:creator>
</cp:coreProperties>
</file>